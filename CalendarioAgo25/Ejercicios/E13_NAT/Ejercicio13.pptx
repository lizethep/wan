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sldIdLst>
    <p:sldId id="257" r:id="rId2"/>
    <p:sldId id="329" r:id="rId3"/>
    <p:sldId id="347" r:id="rId4"/>
    <p:sldId id="332" r:id="rId5"/>
    <p:sldId id="342" r:id="rId6"/>
    <p:sldId id="326" r:id="rId7"/>
    <p:sldId id="343" r:id="rId8"/>
    <p:sldId id="345" r:id="rId9"/>
    <p:sldId id="346" r:id="rId10"/>
    <p:sldId id="331" r:id="rId11"/>
    <p:sldId id="344" r:id="rId12"/>
  </p:sldIdLst>
  <p:sldSz cx="9144000" cy="6858000" type="screen4x3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AEAEA"/>
    <a:srgbClr val="3366CC"/>
    <a:srgbClr val="EE2200"/>
    <a:srgbClr val="050AC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17" autoAdjust="0"/>
    <p:restoredTop sz="92873" autoAdjust="0"/>
  </p:normalViewPr>
  <p:slideViewPr>
    <p:cSldViewPr>
      <p:cViewPr>
        <p:scale>
          <a:sx n="58" d="100"/>
          <a:sy n="58" d="100"/>
        </p:scale>
        <p:origin x="1452" y="-52"/>
      </p:cViewPr>
      <p:guideLst>
        <p:guide orient="horz" pos="2160"/>
        <p:guide pos="288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encabezado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3" name="2 Marcador de fecha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445F07-8756-451B-A938-0248325FC7BB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4" name="3 Marcador de imagen de diapositiva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s-MX" dirty="0"/>
          </a:p>
        </p:txBody>
      </p:sp>
      <p:sp>
        <p:nvSpPr>
          <p:cNvPr id="5" name="4 Marcador de notas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93AEC0-242E-4FA7-9D3C-51E1036AC3CB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81706671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imagen de diapositiva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2 Marcador de notas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4854257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993AEC0-242E-4FA7-9D3C-51E1036AC3CB}" type="slidenum">
              <a:rPr lang="es-MX" smtClean="0"/>
              <a:t>11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63506624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Subtítulo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13673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733793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3127862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4727605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4" name="3 Marcador de contenido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5" name="4 Marcador de texto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6" name="5 Marcador de contenido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7" name="6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8" name="7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9" name="8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579156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ó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4" name="3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5" name="4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1797410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3" name="2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4" name="3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9251508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contenido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2447041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posición de imagen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s-MX" dirty="0"/>
          </a:p>
        </p:txBody>
      </p:sp>
      <p:sp>
        <p:nvSpPr>
          <p:cNvPr id="4" name="3 Marcador de texto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el estilo de texto del patrón</a:t>
            </a:r>
          </a:p>
        </p:txBody>
      </p:sp>
      <p:sp>
        <p:nvSpPr>
          <p:cNvPr id="5" name="4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6" name="5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7" name="6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5959272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328958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Título vertical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 vertical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8788415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1 Marcador de título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s-MX"/>
          </a:p>
        </p:txBody>
      </p:sp>
      <p:sp>
        <p:nvSpPr>
          <p:cNvPr id="3" name="2 Marcador de texto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s-MX"/>
          </a:p>
        </p:txBody>
      </p:sp>
      <p:sp>
        <p:nvSpPr>
          <p:cNvPr id="4" name="3 Marcador de fecha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E75A0DC-66C6-4CEC-A5EB-F8C97CEC3796}" type="datetimeFigureOut">
              <a:rPr lang="es-MX" smtClean="0"/>
              <a:t>26/05/2025</a:t>
            </a:fld>
            <a:endParaRPr lang="es-MX" dirty="0"/>
          </a:p>
        </p:txBody>
      </p:sp>
      <p:sp>
        <p:nvSpPr>
          <p:cNvPr id="5" name="4 Marcador de pie de página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MX" dirty="0"/>
          </a:p>
        </p:txBody>
      </p:sp>
      <p:sp>
        <p:nvSpPr>
          <p:cNvPr id="6" name="5 Marcador de número de diapositiva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77EE1E-7A06-4E7F-9AFB-189FC69B7B0C}" type="slidenum">
              <a:rPr lang="es-MX" smtClean="0"/>
              <a:t>‹#›</a:t>
            </a:fld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201769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376463"/>
            <a:ext cx="6400800" cy="1249288"/>
          </a:xfrm>
        </p:spPr>
        <p:txBody>
          <a:bodyPr rtlCol="0">
            <a:normAutofit/>
          </a:bodyPr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s-MX" b="1" dirty="0">
                <a:solidFill>
                  <a:schemeClr val="accent4">
                    <a:lumMod val="50000"/>
                  </a:schemeClr>
                </a:solidFill>
              </a:rPr>
              <a:t>Ejercicio 13. NAT</a:t>
            </a:r>
          </a:p>
          <a:p>
            <a:pPr eaLnBrk="1" fontAlgn="auto" hangingPunct="1">
              <a:spcAft>
                <a:spcPts val="0"/>
              </a:spcAft>
              <a:defRPr/>
            </a:pPr>
            <a:r>
              <a:rPr lang="es-MX" sz="2000" dirty="0">
                <a:solidFill>
                  <a:schemeClr val="accent4">
                    <a:lumMod val="50000"/>
                  </a:schemeClr>
                </a:solidFill>
              </a:rPr>
              <a:t>Tecnológico de Monterrey, Campus Querétaro</a:t>
            </a:r>
          </a:p>
        </p:txBody>
      </p:sp>
      <p:pic>
        <p:nvPicPr>
          <p:cNvPr id="5" name="Imagen 4" descr="Diagrama&#10;&#10;Descripción generada automáticamente">
            <a:extLst>
              <a:ext uri="{FF2B5EF4-FFF2-40B4-BE49-F238E27FC236}">
                <a16:creationId xmlns:a16="http://schemas.microsoft.com/office/drawing/2014/main" id="{853914F6-FE98-4C47-9A17-305EC2A41F3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736639" y="3573016"/>
            <a:ext cx="3670721" cy="2337704"/>
          </a:xfrm>
          <a:prstGeom prst="rect">
            <a:avLst/>
          </a:prstGeom>
        </p:spPr>
      </p:pic>
      <p:sp>
        <p:nvSpPr>
          <p:cNvPr id="7" name="Title 1">
            <a:extLst>
              <a:ext uri="{FF2B5EF4-FFF2-40B4-BE49-F238E27FC236}">
                <a16:creationId xmlns:a16="http://schemas.microsoft.com/office/drawing/2014/main" id="{111ECD4F-D7F5-1728-AABB-2C8E849C999D}"/>
              </a:ext>
            </a:extLst>
          </p:cNvPr>
          <p:cNvSpPr txBox="1">
            <a:spLocks/>
          </p:cNvSpPr>
          <p:nvPr/>
        </p:nvSpPr>
        <p:spPr>
          <a:xfrm>
            <a:off x="802556" y="444008"/>
            <a:ext cx="7657876" cy="1470025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>
              <a:defRPr/>
            </a:pP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TC 3003B </a:t>
            </a:r>
            <a:br>
              <a:rPr lang="es-MX" sz="3200" dirty="0">
                <a:solidFill>
                  <a:schemeClr val="bg2">
                    <a:lumMod val="50000"/>
                  </a:schemeClr>
                </a:solidFill>
              </a:rPr>
            </a:br>
            <a:r>
              <a:rPr lang="es-MX" sz="3200" dirty="0">
                <a:solidFill>
                  <a:schemeClr val="bg2">
                    <a:lumMod val="50000"/>
                  </a:schemeClr>
                </a:solidFill>
              </a:rPr>
              <a:t>Implementación de redes de área amplia</a:t>
            </a:r>
          </a:p>
        </p:txBody>
      </p:sp>
    </p:spTree>
    <p:extLst>
      <p:ext uri="{BB962C8B-B14F-4D97-AF65-F5344CB8AC3E}">
        <p14:creationId xmlns:p14="http://schemas.microsoft.com/office/powerpoint/2010/main" val="25538555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3" y="0"/>
            <a:ext cx="8872310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DHCP, rutas estáticas, NAT y DNS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B042F61A-9B59-44FB-8ECE-B57CC43C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4182" y="1005401"/>
            <a:ext cx="8610305" cy="2819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tiene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diseño de una red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ya establecida.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cuenta con un subneteo con máscaras de longitud variable (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VLSM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).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trabajará con una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red privada 10.x.x.x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el servicio de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 centralizado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una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estática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con el direccionamiento público asignado.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el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 y PAT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con direccionamiento estático 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para accederlo desde el exterior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 instalará un </a:t>
            </a:r>
            <a:r>
              <a:rPr lang="es-MX" sz="15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</a:t>
            </a:r>
            <a:r>
              <a:rPr lang="es-MX" sz="15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9A178320-A4E6-25D7-0DA1-D45651199E7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182" y="3824955"/>
            <a:ext cx="8320233" cy="28131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345260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AD77F12-6C90-EBEE-7DC4-1912094B0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>
            <a:extLst>
              <a:ext uri="{FF2B5EF4-FFF2-40B4-BE49-F238E27FC236}">
                <a16:creationId xmlns:a16="http://schemas.microsoft.com/office/drawing/2014/main" id="{F633327D-ACAE-32E3-ACB9-1F68BECF034D}"/>
              </a:ext>
            </a:extLst>
          </p:cNvPr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IPs de los servidores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7C8D5C83-CC00-5543-FBC5-EEAECF4DD5D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24744"/>
            <a:ext cx="825328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las direcciones IP estáticas (IP, máscara de subred, default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gateway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y </a:t>
            </a:r>
            <a:r>
              <a:rPr lang="es-MX" sz="16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server) de los servidores: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www.tec.com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(dirección privada)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dns.com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29C48AE-EAEE-28C5-2DE2-52F0A65D1C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708556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7939089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</a:t>
            </a:r>
          </a:p>
        </p:txBody>
      </p:sp>
      <p:sp>
        <p:nvSpPr>
          <p:cNvPr id="6" name="7 CuadroTexto">
            <a:extLst>
              <a:ext uri="{FF2B5EF4-FFF2-40B4-BE49-F238E27FC236}">
                <a16:creationId xmlns:a16="http://schemas.microsoft.com/office/drawing/2014/main" id="{B042F61A-9B59-44FB-8ECE-B57CC43CF63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39552" y="1124744"/>
            <a:ext cx="8253282" cy="15240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Instalaremos el servicio de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DHCP centralizado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Un servicio centralizado es aquel que se configura en un solo ruteador.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¿Dónde instalaremos el servicio?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¿Cómo seleccionar la IP de la interfaz que ayudará a resolver el DHCP?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491D34C-D7D2-6BDB-F3D9-FAD1450DC0F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852936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802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51520" y="72008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DHCP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1939908B-A22B-4F30-B672-5DA27864DE7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1560" y="1161470"/>
            <a:ext cx="7545950" cy="1893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algn="just">
              <a:lnSpc>
                <a:spcPct val="150000"/>
              </a:lnSpc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DHCP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va a asignar a los equipos terminales: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Máscara de subred 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Puerta de enlace predeterminada</a:t>
            </a:r>
          </a:p>
          <a:p>
            <a:pPr marL="285750" indent="-28575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BD8DE042-BBD7-2389-A7E9-7E0B6DB073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636" y="3072836"/>
            <a:ext cx="8838728" cy="29884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6835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5" name="7 CuadroTexto"/>
          <p:cNvSpPr txBox="1">
            <a:spLocks noChangeArrowheads="1"/>
          </p:cNvSpPr>
          <p:nvPr/>
        </p:nvSpPr>
        <p:spPr bwMode="auto">
          <a:xfrm>
            <a:off x="625760" y="1196752"/>
            <a:ext cx="8001000" cy="50480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>
              <a:lnSpc>
                <a:spcPct val="150000"/>
              </a:lnSpc>
              <a:spcAft>
                <a:spcPts val="1200"/>
              </a:spcAft>
              <a:buAutoNum type="arabicPeriod"/>
            </a:pPr>
            <a:r>
              <a:rPr lang="es-ES_tradnl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Excluir las direcciones estáticas del pool de DHCP.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dhcp excluded-address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Dir_IP_Inicial Dir_IP_Final</a:t>
            </a:r>
          </a:p>
          <a:p>
            <a:pPr marL="342900" indent="-342900">
              <a:lnSpc>
                <a:spcPct val="150000"/>
              </a:lnSpc>
              <a:spcBef>
                <a:spcPts val="6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Definir un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dinámicas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serán asignadas cuando sean solicitadas.</a:t>
            </a:r>
          </a:p>
          <a:p>
            <a:pPr lvl="1">
              <a:lnSpc>
                <a:spcPct val="150000"/>
              </a:lnSpc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dhcp pool</a:t>
            </a:r>
            <a:r>
              <a:rPr lang="es-MX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NombrePool</a:t>
            </a:r>
          </a:p>
          <a:p>
            <a:pPr lvl="1">
              <a:lnSpc>
                <a:spcPct val="150000"/>
              </a:lnSpc>
            </a:pPr>
            <a:r>
              <a:rPr lang="es-MX" sz="16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network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de red Máscara de subred</a:t>
            </a:r>
          </a:p>
          <a:p>
            <a:pPr marL="342900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2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la  puerta de enlace predeterminada (default Gateway):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default-router</a:t>
            </a:r>
            <a:r>
              <a:rPr lang="es-MX" sz="1600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dirIP</a:t>
            </a:r>
          </a:p>
          <a:p>
            <a:pPr marL="342900" lvl="1" indent="-342900">
              <a:lnSpc>
                <a:spcPct val="150000"/>
              </a:lnSpc>
              <a:spcBef>
                <a:spcPts val="1200"/>
              </a:spcBef>
              <a:spcAft>
                <a:spcPts val="1200"/>
              </a:spcAft>
              <a:buFont typeface="+mj-lt"/>
              <a:buAutoNum type="arabicPeriod" startAt="4"/>
            </a:pP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Establecer el servidor dns:</a:t>
            </a:r>
          </a:p>
          <a:p>
            <a:pPr lvl="1">
              <a:lnSpc>
                <a:spcPct val="150000"/>
              </a:lnSpc>
              <a:spcAft>
                <a:spcPts val="1200"/>
              </a:spcAft>
            </a:pP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dns-server</a:t>
            </a:r>
            <a:r>
              <a:rPr lang="es-MX" sz="16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dirIP-Server</a:t>
            </a:r>
          </a:p>
        </p:txBody>
      </p:sp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44016" y="53752"/>
            <a:ext cx="8820472" cy="1143000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un servicio DHCP</a:t>
            </a:r>
          </a:p>
        </p:txBody>
      </p:sp>
    </p:spTree>
    <p:extLst>
      <p:ext uri="{BB962C8B-B14F-4D97-AF65-F5344CB8AC3E}">
        <p14:creationId xmlns:p14="http://schemas.microsoft.com/office/powerpoint/2010/main" val="28017781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5845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ruteo estático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7" y="908720"/>
            <a:ext cx="8528729" cy="189333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0" lvl="1" indent="0"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En el ruteador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</a:p>
          <a:p>
            <a:pPr marL="342900" lvl="1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Configure una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ruta por default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hacia el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</a:p>
          <a:p>
            <a:pPr algn="just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En el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ISP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Configurar una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ruta estática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del next-hop o recursiva hacia </a:t>
            </a:r>
            <a:r>
              <a:rPr lang="es-MX" sz="1600" b="1" dirty="0"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utilizando el rango de direcciones de red pública asignado </a:t>
            </a:r>
            <a:r>
              <a:rPr lang="es-MX" sz="16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C046A620-6BF1-4EF9-FC0F-FA27EE8AB6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2918268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359679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 estático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3528" y="1186186"/>
            <a:ext cx="8280920" cy="166821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Probar conectividad interna y externa.</a:t>
            </a:r>
          </a:p>
          <a:p>
            <a:pPr marL="342900" indent="-342900" algn="just">
              <a:lnSpc>
                <a:spcPct val="150000"/>
              </a:lnSpc>
              <a:buFont typeface="+mj-lt"/>
              <a:buAutoNum type="arabicPeriod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 estático</a:t>
            </a:r>
            <a:r>
              <a:rPr lang="es-MX" sz="1400" dirty="0">
                <a:latin typeface="Arial" panose="020B0604020202020204" pitchFamily="34" charset="0"/>
                <a:cs typeface="Arial" panose="020B0604020202020204" pitchFamily="34" charset="0"/>
              </a:rPr>
              <a:t> para el servidor del </a:t>
            </a:r>
            <a:r>
              <a:rPr lang="es-MX" sz="1400" dirty="0" err="1"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Establecer la traducción estática de direcciones de uno a uno, es decir, traducir la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privada del servidor del </a:t>
            </a:r>
            <a:r>
              <a:rPr lang="es-MX" sz="1400" b="1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por una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dirección IP pública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Utiliza la primera dirección pública disponible del </a:t>
            </a:r>
            <a:r>
              <a:rPr lang="es-ES" sz="1400" dirty="0">
                <a:solidFill>
                  <a:srgbClr val="EEECE1">
                    <a:lumMod val="25000"/>
                  </a:srgb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POOL de direcciones IP públicas asignado: </a:t>
            </a:r>
            <a:r>
              <a:rPr lang="es-MX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  <a:endParaRPr lang="es-MX" sz="14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5A16B31-FB4B-F3C9-A275-456ED7993C3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756" y="3068960"/>
            <a:ext cx="8964488" cy="30310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363494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41013"/>
            <a:ext cx="8640960" cy="23145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buFont typeface="+mj-lt"/>
              <a:buAutoNum type="arabicPeriod" startAt="3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4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servicio de NAT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¿Cómo conectar direcciones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privadas 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 direcciones </a:t>
            </a:r>
            <a:r>
              <a:rPr lang="es-MX" sz="14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 públicas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?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Configuraremos el servicio de NAT con una </a:t>
            </a:r>
            <a:r>
              <a:rPr lang="es-ES" sz="14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lista de control de acceso </a:t>
            </a: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que permita que todos los usuarios de la red local puedan salir al exterior.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Instalaremos el servicio de NAT utilizando el POOL de las siguientes direcciones IP públicas: </a:t>
            </a:r>
            <a:r>
              <a:rPr lang="es-MX" sz="1400" b="1" dirty="0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170.15.9.32 /27</a:t>
            </a:r>
          </a:p>
          <a:p>
            <a:pPr lvl="1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Descarte la primera IP disponible del POOL, ya que fue asignada al direccionamiento estático del servidor del </a:t>
            </a:r>
            <a:r>
              <a:rPr lang="es-MX" sz="14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</a:t>
            </a:r>
            <a:r>
              <a:rPr lang="es-MX" sz="14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000CABD-1879-6B76-9FB2-78ACB6816D1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5760" y="2996952"/>
            <a:ext cx="8892480" cy="30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300986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179512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 NAT</a:t>
            </a:r>
          </a:p>
        </p:txBody>
      </p:sp>
      <p:sp>
        <p:nvSpPr>
          <p:cNvPr id="5" name="7 CuadroTexto">
            <a:extLst>
              <a:ext uri="{FF2B5EF4-FFF2-40B4-BE49-F238E27FC236}">
                <a16:creationId xmlns:a16="http://schemas.microsoft.com/office/drawing/2014/main" id="{53A6B150-9682-60C5-EAF4-78F92F3DC7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51520" y="941013"/>
            <a:ext cx="8640960" cy="27146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1pPr>
            <a:lvl2pPr marL="742950" indent="-28575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2pPr>
            <a:lvl3pPr marL="11430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3pPr>
            <a:lvl4pPr marL="16002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4pPr>
            <a:lvl5pPr marL="2057400" indent="-228600" eaLnBrk="0" hangingPunct="0">
              <a:defRPr sz="2400">
                <a:solidFill>
                  <a:schemeClr val="tx1"/>
                </a:solidFill>
                <a:latin typeface="Times New Roman" pitchFamily="18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pitchFamily="18" charset="0"/>
              </a:defRPr>
            </a:lvl9pPr>
          </a:lstStyle>
          <a:p>
            <a:pPr marL="342900" indent="-342900" algn="just">
              <a:lnSpc>
                <a:spcPct val="150000"/>
              </a:lnSpc>
              <a:spcBef>
                <a:spcPts val="1200"/>
              </a:spcBef>
              <a:buFont typeface="+mj-lt"/>
              <a:buAutoNum type="arabicPeriod" startAt="4"/>
            </a:pP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Especificar las </a:t>
            </a:r>
            <a:r>
              <a:rPr lang="es-MX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interfaces interiores y exteriores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, es decir, vamos a especificar si haremos </a:t>
            </a:r>
            <a:r>
              <a:rPr lang="es-MX" sz="1200" dirty="0" err="1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nateo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interno o externo en </a:t>
            </a:r>
            <a:r>
              <a:rPr lang="es-MX" sz="12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RB</a:t>
            </a:r>
            <a:r>
              <a:rPr lang="es-MX" sz="1200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lvl="1">
              <a:lnSpc>
                <a:spcPct val="150000"/>
              </a:lnSpc>
            </a:pP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MX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Tipo-Número</a:t>
            </a:r>
          </a:p>
          <a:p>
            <a:pPr lvl="1">
              <a:lnSpc>
                <a:spcPct val="150000"/>
              </a:lnSpc>
            </a:pP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inside</a:t>
            </a:r>
            <a:endParaRPr lang="es-MX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lvl="1">
              <a:lnSpc>
                <a:spcPct val="150000"/>
              </a:lnSpc>
            </a:pPr>
            <a:r>
              <a:rPr lang="es-MX" sz="1200" u="sng" dirty="0">
                <a:latin typeface="Arial" panose="020B0604020202020204" pitchFamily="34" charset="0"/>
                <a:cs typeface="Arial" panose="020B0604020202020204" pitchFamily="34" charset="0"/>
              </a:rPr>
              <a:t>Todas las interfaces que tengamos configuradas en nuestra red local.</a:t>
            </a:r>
          </a:p>
          <a:p>
            <a:pPr lvl="1">
              <a:lnSpc>
                <a:spcPct val="150000"/>
              </a:lnSpc>
              <a:spcBef>
                <a:spcPts val="600"/>
              </a:spcBef>
            </a:pP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interface </a:t>
            </a:r>
            <a:r>
              <a:rPr lang="es-MX" sz="1200" b="1" dirty="0">
                <a:solidFill>
                  <a:schemeClr val="accent5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Tipo-Número</a:t>
            </a:r>
          </a:p>
          <a:p>
            <a:pPr lvl="1">
              <a:lnSpc>
                <a:spcPct val="150000"/>
              </a:lnSpc>
            </a:pP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ip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nat</a:t>
            </a:r>
            <a:r>
              <a:rPr lang="es-MX" sz="12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s-MX" sz="1200" b="1" dirty="0" err="1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outside</a:t>
            </a:r>
            <a:endParaRPr lang="es-MX" sz="1200" b="1" dirty="0">
              <a:solidFill>
                <a:schemeClr val="accent6">
                  <a:lumMod val="7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452438" lvl="1" indent="0">
              <a:lnSpc>
                <a:spcPct val="150000"/>
              </a:lnSpc>
            </a:pPr>
            <a:r>
              <a:rPr lang="es-MX" sz="1200" u="sng" dirty="0">
                <a:latin typeface="Arial" panose="020B0604020202020204" pitchFamily="34" charset="0"/>
                <a:cs typeface="Arial" panose="020B0604020202020204" pitchFamily="34" charset="0"/>
              </a:rPr>
              <a:t>Todas las interfaces que tengamos configuradas con un proveedor de servicios (ISP</a:t>
            </a:r>
            <a:r>
              <a:rPr lang="es-MX" sz="1200" dirty="0">
                <a:latin typeface="Arial" panose="020B0604020202020204" pitchFamily="34" charset="0"/>
                <a:cs typeface="Arial" panose="020B0604020202020204" pitchFamily="34" charset="0"/>
              </a:rPr>
              <a:t>), ya que por ahí va a salir la traducción del direccionamiento privado a público.</a:t>
            </a:r>
            <a:endParaRPr lang="es-MX" sz="1200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2C28DEE-7FCF-B190-94EB-1833FC129D3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7504" y="3717032"/>
            <a:ext cx="8892480" cy="30066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5184714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2"/>
          <p:cNvSpPr txBox="1">
            <a:spLocks noChangeArrowheads="1"/>
          </p:cNvSpPr>
          <p:nvPr/>
        </p:nvSpPr>
        <p:spPr>
          <a:xfrm>
            <a:off x="266847" y="0"/>
            <a:ext cx="8784976" cy="1124744"/>
          </a:xfrm>
          <a:prstGeom prst="rect">
            <a:avLst/>
          </a:prstGeom>
        </p:spPr>
        <p:txBody>
          <a:bodyPr vert="horz" lIns="92075" tIns="46038" rIns="92075" bIns="46038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r>
              <a:rPr lang="es-ES_tradnl" sz="3200" dirty="0">
                <a:solidFill>
                  <a:srgbClr val="3333CC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 </a:t>
            </a:r>
            <a:r>
              <a:rPr lang="es-ES_tradnl" sz="3200" b="1" dirty="0">
                <a:solidFill>
                  <a:schemeClr val="accent4">
                    <a:lumMod val="50000"/>
                  </a:schemeClr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Dom Casual" charset="0"/>
              </a:rPr>
              <a:t>Configuración del servidor DNS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DC2FBB8-293D-1C2B-26AE-75F1BE4A93AA}"/>
              </a:ext>
            </a:extLst>
          </p:cNvPr>
          <p:cNvSpPr txBox="1"/>
          <p:nvPr/>
        </p:nvSpPr>
        <p:spPr>
          <a:xfrm>
            <a:off x="539552" y="1227671"/>
            <a:ext cx="8064896" cy="15240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eaLnBrk="0" hangingPunct="0">
              <a:lnSpc>
                <a:spcPct val="150000"/>
              </a:lnSpc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Configurar el </a:t>
            </a:r>
            <a:r>
              <a:rPr lang="es-MX" sz="1600" b="1" dirty="0">
                <a:solidFill>
                  <a:schemeClr val="accent6">
                    <a:lumMod val="7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servidor DNS 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con registros para los servidores del tec, </a:t>
            </a:r>
            <a:r>
              <a:rPr lang="es-MX" sz="1600" dirty="0" err="1">
                <a:latin typeface="Arial" panose="020B0604020202020204" pitchFamily="34" charset="0"/>
                <a:cs typeface="Arial" panose="020B0604020202020204" pitchFamily="34" charset="0"/>
              </a:rPr>
              <a:t>minecraft</a:t>
            </a: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 y DNS: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www.tec.com (dirección pública)	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minecraft.com</a:t>
            </a:r>
          </a:p>
          <a:p>
            <a:pPr marL="800100" lvl="1" indent="-342900" algn="just" eaLnBrk="0" hangingPunct="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MX" sz="1600" dirty="0">
                <a:latin typeface="Arial" panose="020B0604020202020204" pitchFamily="34" charset="0"/>
                <a:cs typeface="Arial" panose="020B0604020202020204" pitchFamily="34" charset="0"/>
              </a:rPr>
              <a:t>DNS.com	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FD3A655-FB1F-FEFA-2C5A-6C352FDFAD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780" y="2663858"/>
            <a:ext cx="8532440" cy="28849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1885768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9960</TotalTime>
  <Words>613</Words>
  <Application>Microsoft Office PowerPoint</Application>
  <PresentationFormat>On-screen Show (4:3)</PresentationFormat>
  <Paragraphs>64</Paragraphs>
  <Slides>11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Dom Casual</vt:lpstr>
      <vt:lpstr>Tema de Office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TC1017  Solución de problemas con programación</dc:title>
  <dc:creator>profesor</dc:creator>
  <cp:lastModifiedBy>Lizethe Pérez Fuertes</cp:lastModifiedBy>
  <cp:revision>266</cp:revision>
  <dcterms:created xsi:type="dcterms:W3CDTF">2013-06-11T22:32:36Z</dcterms:created>
  <dcterms:modified xsi:type="dcterms:W3CDTF">2025-05-27T01:34:05Z</dcterms:modified>
</cp:coreProperties>
</file>