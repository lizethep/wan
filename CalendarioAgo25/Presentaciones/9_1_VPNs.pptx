
<file path=[Content_Types].xml><?xml version="1.0" encoding="utf-8"?>
<Types xmlns="http://schemas.openxmlformats.org/package/2006/content-types">
  <Default Extension="gif" ContentType="image/gif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379" r:id="rId2"/>
    <p:sldId id="493" r:id="rId3"/>
    <p:sldId id="498" r:id="rId4"/>
    <p:sldId id="935" r:id="rId5"/>
    <p:sldId id="936" r:id="rId6"/>
    <p:sldId id="376" r:id="rId7"/>
    <p:sldId id="925" r:id="rId8"/>
    <p:sldId id="291" r:id="rId9"/>
    <p:sldId id="428" r:id="rId10"/>
    <p:sldId id="502" r:id="rId11"/>
    <p:sldId id="931" r:id="rId12"/>
    <p:sldId id="440" r:id="rId13"/>
    <p:sldId id="441" r:id="rId14"/>
    <p:sldId id="933" r:id="rId15"/>
    <p:sldId id="934" r:id="rId16"/>
    <p:sldId id="501" r:id="rId17"/>
    <p:sldId id="927" r:id="rId18"/>
    <p:sldId id="427" r:id="rId19"/>
    <p:sldId id="429" r:id="rId20"/>
    <p:sldId id="430" r:id="rId21"/>
    <p:sldId id="432" r:id="rId22"/>
    <p:sldId id="433" r:id="rId23"/>
    <p:sldId id="434" r:id="rId24"/>
    <p:sldId id="435" r:id="rId25"/>
    <p:sldId id="437" r:id="rId26"/>
    <p:sldId id="438" r:id="rId27"/>
    <p:sldId id="439" r:id="rId28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01" autoAdjust="0"/>
    <p:restoredTop sz="93250" autoAdjust="0"/>
  </p:normalViewPr>
  <p:slideViewPr>
    <p:cSldViewPr>
      <p:cViewPr varScale="1">
        <p:scale>
          <a:sx n="107" d="100"/>
          <a:sy n="107" d="100"/>
        </p:scale>
        <p:origin x="900" y="10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445F07-8756-451B-A938-0248325FC7BB}" type="datetimeFigureOut">
              <a:rPr lang="es-MX" smtClean="0"/>
              <a:t>15/05/2025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93AEC0-242E-4FA7-9D3C-51E1036AC3CB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17066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114487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2C37E12-7BA8-4D7D-97C4-7447F658F427}" type="slidenum">
              <a:rPr lang="es-ES" altLang="es-MX"/>
              <a:pPr/>
              <a:t>4</a:t>
            </a:fld>
            <a:endParaRPr lang="es-ES" altLang="es-MX" dirty="0"/>
          </a:p>
        </p:txBody>
      </p:sp>
      <p:sp>
        <p:nvSpPr>
          <p:cNvPr id="59597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38238" y="695325"/>
            <a:ext cx="4583112" cy="3436938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959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70388"/>
            <a:ext cx="5029200" cy="41386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341" tIns="46953" rIns="92341" bIns="46953"/>
          <a:lstStyle/>
          <a:p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8177276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7</a:t>
            </a:fld>
            <a:endParaRPr lang="es-E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s-ES" sz="1200" kern="1200" dirty="0">
                <a:solidFill>
                  <a:schemeClr val="tx1"/>
                </a:solidFill>
                <a:latin typeface="Arial" charset="0"/>
              </a:rPr>
              <a:t>3.3 – VPN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3.3.1 – Aspectos básicos de las VPN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3.3.1.1 – Introducción a las VPN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0313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11</a:t>
            </a:fld>
            <a:endParaRPr lang="es-E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s-ES" sz="1200" kern="1200" dirty="0">
                <a:solidFill>
                  <a:schemeClr val="tx1"/>
                </a:solidFill>
                <a:latin typeface="Arial" charset="0"/>
              </a:rPr>
              <a:t>3.4 – GRE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3.4.1 – Descripción general de la GRE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3.4.1.1 – Introducción a la GRE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8819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14</a:t>
            </a:fld>
            <a:endParaRPr lang="es-E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s-ES" sz="1200" kern="1200" dirty="0">
                <a:solidFill>
                  <a:schemeClr val="tx1"/>
                </a:solidFill>
                <a:latin typeface="Arial" charset="0"/>
              </a:rPr>
              <a:t>3.4 – GRE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3.4.2 – Implementación de la GRE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3.4.2.1 – Configuración de la GRE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71398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15</a:t>
            </a:fld>
            <a:endParaRPr lang="es-E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s-ES" sz="1200" kern="1200" dirty="0">
                <a:solidFill>
                  <a:schemeClr val="tx1"/>
                </a:solidFill>
                <a:latin typeface="Arial" charset="0"/>
              </a:rPr>
              <a:t>3.4 – GRE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3.4.2 – Implementación de la GRE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3.4.2.2 – Verificación de la GRE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846229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17</a:t>
            </a:fld>
            <a:endParaRPr lang="es-E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s-ES" sz="1200" kern="1200" dirty="0">
                <a:solidFill>
                  <a:schemeClr val="tx1"/>
                </a:solidFill>
                <a:latin typeface="Arial" charset="0"/>
              </a:rPr>
              <a:t>3.3 – VPN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3.3.2 – Tipos de VPN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3.3.2.1 – VPN de sitio a sitio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80514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15/05/2025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31367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15/05/2025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3379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15/05/2025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12786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15/05/2025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760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15/05/2025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7915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15/05/2025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79741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15/05/2025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2515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15/05/2025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44704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15/05/2025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95927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15/05/2025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32895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15/05/2025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78841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ítulo, text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0013" y="301625"/>
            <a:ext cx="7313612" cy="1143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5102225" y="1827213"/>
            <a:ext cx="3581400" cy="41148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s-ES" altLang="es-MX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s-ES" altLang="es-MX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427D650C-AB00-4F7E-80EF-2666D7C77918}" type="slidenum">
              <a:rPr lang="es-ES" altLang="es-MX"/>
              <a:pPr/>
              <a:t>‹#›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218098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6605684"/>
            <a:ext cx="676910" cy="2523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1065260"/>
            <a:ext cx="8853286" cy="554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 dirty="0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 dirty="0">
                <a:sym typeface="Arial" pitchFamily="34" charset="0"/>
              </a:rPr>
              <a:t>Second level</a:t>
            </a:r>
          </a:p>
          <a:p>
            <a:pPr lvl="2"/>
            <a:r>
              <a:rPr lang="en-US" dirty="0">
                <a:sym typeface="Arial" pitchFamily="34" charset="0"/>
              </a:rPr>
              <a:t>Third level</a:t>
            </a:r>
          </a:p>
          <a:p>
            <a:pPr lvl="3"/>
            <a:r>
              <a:rPr lang="en-US" dirty="0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55191"/>
            <a:ext cx="9144000" cy="1010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 dirty="0">
                <a:sym typeface="Arial" pitchFamily="34" charset="0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7593259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5A0DC-66C6-4CEC-A5EB-F8C97CEC3796}" type="datetimeFigureOut">
              <a:rPr lang="es-MX" smtClean="0"/>
              <a:t>15/05/2025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176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5840" y="620688"/>
            <a:ext cx="7342584" cy="1470025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TC 3003B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Implementación de redes de área amplia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212112"/>
            <a:ext cx="6400800" cy="124928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Redes privadas virtuales (VPNs)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ITESM Campus Querétaro</a:t>
            </a:r>
          </a:p>
        </p:txBody>
      </p:sp>
      <p:pic>
        <p:nvPicPr>
          <p:cNvPr id="12" name="Imagen 11" descr="Interfaz de usuario gráfica, Diagrama&#10;&#10;Descripción generada automáticamente con confianza media">
            <a:extLst>
              <a:ext uri="{FF2B5EF4-FFF2-40B4-BE49-F238E27FC236}">
                <a16:creationId xmlns:a16="http://schemas.microsoft.com/office/drawing/2014/main" id="{F577C0C5-A309-BB6A-061C-20FFA356D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1820" y="3140968"/>
            <a:ext cx="3240360" cy="3342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532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Una pantalla de una computadora&#10;&#10;Descripción generada automáticamente con confianza media">
            <a:extLst>
              <a:ext uri="{FF2B5EF4-FFF2-40B4-BE49-F238E27FC236}">
                <a16:creationId xmlns:a16="http://schemas.microsoft.com/office/drawing/2014/main" id="{069253FC-52A6-4B7E-B893-87B9E83FEF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4" y="3212976"/>
            <a:ext cx="4104456" cy="2815657"/>
          </a:xfrm>
          <a:prstGeom prst="rect">
            <a:avLst/>
          </a:prstGeom>
        </p:spPr>
      </p:pic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1331640" y="1937366"/>
            <a:ext cx="3816424" cy="115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Introducción a las VPNs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GRE sobre Ipsec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VPN de sitio a sitio usando IPsec</a:t>
            </a:r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792025" y="692696"/>
            <a:ext cx="75390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Agenda de esta sesión</a:t>
            </a:r>
          </a:p>
        </p:txBody>
      </p:sp>
    </p:spTree>
    <p:extLst>
      <p:ext uri="{BB962C8B-B14F-4D97-AF65-F5344CB8AC3E}">
        <p14:creationId xmlns:p14="http://schemas.microsoft.com/office/powerpoint/2010/main" val="10096646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96" name="Rectangle 3095">
            <a:extLst>
              <a:ext uri="{FF2B5EF4-FFF2-40B4-BE49-F238E27FC236}">
                <a16:creationId xmlns:a16="http://schemas.microsoft.com/office/drawing/2014/main" id="{1DF91F20-B96F-4F77-AC3E-2CDD3BAA10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98" name="Rectangle 3097">
            <a:extLst>
              <a:ext uri="{FF2B5EF4-FFF2-40B4-BE49-F238E27FC236}">
                <a16:creationId xmlns:a16="http://schemas.microsoft.com/office/drawing/2014/main" id="{C3D487F7-9050-4871-B351-34A72ADB2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63" y="-1"/>
            <a:ext cx="6083472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00" name="Rectangle 3099">
            <a:extLst>
              <a:ext uri="{FF2B5EF4-FFF2-40B4-BE49-F238E27FC236}">
                <a16:creationId xmlns:a16="http://schemas.microsoft.com/office/drawing/2014/main" id="{F43C27DD-EF6A-4C48-9669-C2970E71A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213540" y="556079"/>
            <a:ext cx="6858004" cy="5745847"/>
          </a:xfrm>
          <a:prstGeom prst="rect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71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02" name="Rectangle 3101">
            <a:extLst>
              <a:ext uri="{FF2B5EF4-FFF2-40B4-BE49-F238E27FC236}">
                <a16:creationId xmlns:a16="http://schemas.microsoft.com/office/drawing/2014/main" id="{C84384FE-1C88-4CAA-8FB8-2313A3AE7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5639" y="-1"/>
            <a:ext cx="6088748" cy="6858000"/>
          </a:xfrm>
          <a:prstGeom prst="rect">
            <a:avLst/>
          </a:prstGeom>
          <a:gradFill>
            <a:gsLst>
              <a:gs pos="14000">
                <a:schemeClr val="accent1">
                  <a:alpha val="0"/>
                </a:schemeClr>
              </a:gs>
              <a:gs pos="100000">
                <a:srgbClr val="000000">
                  <a:alpha val="82000"/>
                </a:srgb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04" name="Oval 3103">
            <a:extLst>
              <a:ext uri="{FF2B5EF4-FFF2-40B4-BE49-F238E27FC236}">
                <a16:creationId xmlns:a16="http://schemas.microsoft.com/office/drawing/2014/main" id="{87B6A113-58CD-406C-BCE4-6E1F1F2BE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449520">
            <a:off x="1301556" y="1609025"/>
            <a:ext cx="5005754" cy="3754316"/>
          </a:xfrm>
          <a:prstGeom prst="ellipse">
            <a:avLst/>
          </a:prstGeom>
          <a:gradFill>
            <a:gsLst>
              <a:gs pos="17000">
                <a:schemeClr val="accent1">
                  <a:lumMod val="75000"/>
                  <a:alpha val="0"/>
                </a:schemeClr>
              </a:gs>
              <a:gs pos="82000">
                <a:srgbClr val="000000">
                  <a:alpha val="24000"/>
                </a:srgb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758961" y="857251"/>
            <a:ext cx="4664686" cy="31601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>
            <a:norm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b="1" kern="1200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Introducción a las VPNs</a:t>
            </a:r>
          </a:p>
        </p:txBody>
      </p:sp>
      <p:sp>
        <p:nvSpPr>
          <p:cNvPr id="3106" name="Rectangle 3105">
            <a:extLst>
              <a:ext uri="{FF2B5EF4-FFF2-40B4-BE49-F238E27FC236}">
                <a16:creationId xmlns:a16="http://schemas.microsoft.com/office/drawing/2014/main" id="{05A1AA86-B7E6-4C02-AA34-F1A25CD4C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5638" y="4354178"/>
            <a:ext cx="6088747" cy="250381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33000"/>
                </a:schemeClr>
              </a:gs>
              <a:gs pos="83000">
                <a:srgbClr val="000000">
                  <a:alpha val="2100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Imagen 2" descr="Interfaz de usuario gráfica, Diagrama&#10;&#10;Descripción generada automáticamente con confianza media">
            <a:extLst>
              <a:ext uri="{FF2B5EF4-FFF2-40B4-BE49-F238E27FC236}">
                <a16:creationId xmlns:a16="http://schemas.microsoft.com/office/drawing/2014/main" id="{C589AA3B-D155-9016-470C-0AB583C744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0735" y="2201119"/>
            <a:ext cx="2380365" cy="2455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23012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947" name="Rectangle 3"/>
          <p:cNvSpPr>
            <a:spLocks noChangeArrowheads="1"/>
          </p:cNvSpPr>
          <p:nvPr/>
        </p:nvSpPr>
        <p:spPr bwMode="auto">
          <a:xfrm>
            <a:off x="609600" y="1600200"/>
            <a:ext cx="7994848" cy="27649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s-ES" altLang="es-MX" dirty="0">
              <a:latin typeface="ZapfHumnst BT" charset="0"/>
            </a:endParaRPr>
          </a:p>
        </p:txBody>
      </p:sp>
      <p:sp>
        <p:nvSpPr>
          <p:cNvPr id="594948" name="Rectangle 4"/>
          <p:cNvSpPr>
            <a:spLocks noChangeArrowheads="1"/>
          </p:cNvSpPr>
          <p:nvPr/>
        </p:nvSpPr>
        <p:spPr bwMode="auto">
          <a:xfrm>
            <a:off x="595358" y="1812768"/>
            <a:ext cx="7786642" cy="53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lang="es-ES" altLang="es-MX" sz="2000" dirty="0">
                <a:solidFill>
                  <a:schemeClr val="bg2">
                    <a:lumMod val="25000"/>
                  </a:schemeClr>
                </a:solidFill>
                <a:latin typeface="+mn-lt"/>
              </a:rPr>
              <a:t>Desarrollar WANs privadas es caro. </a:t>
            </a:r>
            <a:endParaRPr lang="es-ES" altLang="es-MX" sz="24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594949" name="Rectangle 5"/>
          <p:cNvSpPr>
            <a:spLocks noGrp="1" noChangeArrowheads="1"/>
          </p:cNvSpPr>
          <p:nvPr>
            <p:ph type="title"/>
          </p:nvPr>
        </p:nvSpPr>
        <p:spPr>
          <a:xfrm>
            <a:off x="1187624" y="341784"/>
            <a:ext cx="7086600" cy="1143000"/>
          </a:xfrm>
          <a:noFill/>
          <a:ln/>
        </p:spPr>
        <p:txBody>
          <a:bodyPr>
            <a:normAutofit/>
          </a:bodyPr>
          <a:lstStyle/>
          <a:p>
            <a:pPr>
              <a:lnSpc>
                <a:spcPts val="3800"/>
              </a:lnSpc>
              <a:spcBef>
                <a:spcPts val="0"/>
              </a:spcBef>
            </a:pP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Redes Privadas Virtuales</a:t>
            </a:r>
            <a:b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</a:br>
            <a:r>
              <a:rPr lang="es-ES_tradnl" altLang="es-MX" sz="2200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(VPN = Virtual Private Network)</a:t>
            </a:r>
            <a:endParaRPr lang="es-ES_tradnl" altLang="es-MX" sz="2200" b="1" dirty="0">
              <a:solidFill>
                <a:schemeClr val="accent3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5852" y="4293096"/>
            <a:ext cx="3348372" cy="2160240"/>
          </a:xfrm>
          <a:prstGeom prst="rect">
            <a:avLst/>
          </a:prstGeom>
        </p:spPr>
      </p:pic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577102" y="2262120"/>
            <a:ext cx="8027346" cy="2463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lang="es-ES" altLang="es-MX" sz="2000" dirty="0">
                <a:solidFill>
                  <a:schemeClr val="bg2">
                    <a:lumMod val="25000"/>
                  </a:schemeClr>
                </a:solidFill>
                <a:latin typeface="+mn-lt"/>
              </a:rPr>
              <a:t>Internet provee una estructura más flexible y económica de interconectar oficinas remotas. Sin embargo, </a:t>
            </a:r>
            <a:r>
              <a:rPr lang="es-ES" altLang="es-MX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las redes públicas no garantizan la seguridad de las comunicaciones</a:t>
            </a:r>
            <a:r>
              <a:rPr lang="es-ES" altLang="es-MX" sz="2000" dirty="0">
                <a:solidFill>
                  <a:schemeClr val="bg2">
                    <a:lumMod val="25000"/>
                  </a:schemeClr>
                </a:solidFill>
                <a:latin typeface="+mn-lt"/>
              </a:rPr>
              <a:t>, por lo que las </a:t>
            </a:r>
            <a:r>
              <a:rPr lang="es-ES" altLang="es-MX" sz="2000" b="1" dirty="0">
                <a:solidFill>
                  <a:srgbClr val="0070C0"/>
                </a:solidFill>
                <a:latin typeface="+mn-lt"/>
              </a:rPr>
              <a:t>redes privadas virtuales</a:t>
            </a:r>
            <a:r>
              <a:rPr lang="es-ES" altLang="es-MX" sz="2000" dirty="0">
                <a:solidFill>
                  <a:schemeClr val="bg2">
                    <a:lumMod val="25000"/>
                  </a:schemeClr>
                </a:solidFill>
                <a:latin typeface="+mn-lt"/>
              </a:rPr>
              <a:t> surgieron de la necesidad de </a:t>
            </a:r>
            <a:r>
              <a:rPr lang="es-ES" altLang="es-MX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garantizar la seguridad de las comunicaciones en las redes públicas. 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endParaRPr lang="es-ES" altLang="es-MX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4177677"/>
      </p:ext>
    </p:extLst>
  </p:cSld>
  <p:clrMapOvr>
    <a:masterClrMapping/>
  </p:clrMapOvr>
  <p:transition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948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759" name="Rectangle 7"/>
          <p:cNvSpPr>
            <a:spLocks noChangeArrowheads="1"/>
          </p:cNvSpPr>
          <p:nvPr/>
        </p:nvSpPr>
        <p:spPr bwMode="auto">
          <a:xfrm>
            <a:off x="381000" y="5943600"/>
            <a:ext cx="2438400" cy="685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sp>
        <p:nvSpPr>
          <p:cNvPr id="5867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95536" y="1628800"/>
            <a:ext cx="8496944" cy="230425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s-ES_tradnl" altLang="es-MX" sz="1800" dirty="0">
                <a:solidFill>
                  <a:schemeClr val="bg2">
                    <a:lumMod val="25000"/>
                  </a:schemeClr>
                </a:solidFill>
              </a:rPr>
              <a:t>Para tener conexiones seguras se requiere de una </a:t>
            </a:r>
            <a:r>
              <a:rPr lang="es-ES_tradnl" altLang="es-MX" sz="1800" b="1" i="1" dirty="0">
                <a:solidFill>
                  <a:srgbClr val="3333FF"/>
                </a:solidFill>
              </a:rPr>
              <a:t>VPN</a:t>
            </a:r>
            <a:r>
              <a:rPr lang="es-ES_tradnl" altLang="es-MX" sz="1800" dirty="0">
                <a:solidFill>
                  <a:schemeClr val="bg2">
                    <a:lumMod val="25000"/>
                  </a:schemeClr>
                </a:solidFill>
              </a:rPr>
              <a:t>, que </a:t>
            </a:r>
            <a:r>
              <a:rPr lang="es-ES_tradnl" altLang="es-MX" sz="1800" b="1" dirty="0">
                <a:solidFill>
                  <a:schemeClr val="accent6">
                    <a:lumMod val="75000"/>
                  </a:schemeClr>
                </a:solidFill>
              </a:rPr>
              <a:t>es una conexión segura entre dos puntos de Internet </a:t>
            </a:r>
            <a:r>
              <a:rPr lang="es-ES_tradnl" altLang="es-MX" sz="1800" dirty="0">
                <a:solidFill>
                  <a:schemeClr val="bg2">
                    <a:lumMod val="25000"/>
                  </a:schemeClr>
                </a:solidFill>
              </a:rPr>
              <a:t>(red pública), mediante el uso de</a:t>
            </a:r>
            <a:r>
              <a:rPr lang="es-ES_tradnl" altLang="es-MX" sz="1800" dirty="0"/>
              <a:t> </a:t>
            </a:r>
            <a:r>
              <a:rPr lang="es-ES_tradnl" altLang="es-MX" sz="1800" b="1" dirty="0">
                <a:solidFill>
                  <a:srgbClr val="3333FF"/>
                </a:solidFill>
              </a:rPr>
              <a:t>firewalls</a:t>
            </a:r>
            <a:r>
              <a:rPr lang="es-ES_tradnl" altLang="es-MX" sz="1800" dirty="0">
                <a:solidFill>
                  <a:schemeClr val="bg2">
                    <a:lumMod val="25000"/>
                  </a:schemeClr>
                </a:solidFill>
              </a:rPr>
              <a:t>, que previenen el acceso no autorizado a la red y la práctica conocida como </a:t>
            </a:r>
            <a:r>
              <a:rPr lang="es-ES_tradnl" altLang="es-MX" sz="1800" b="1" dirty="0">
                <a:solidFill>
                  <a:schemeClr val="accent6">
                    <a:lumMod val="75000"/>
                  </a:schemeClr>
                </a:solidFill>
              </a:rPr>
              <a:t>“envíos por túneles - Tunneling”</a:t>
            </a:r>
            <a:r>
              <a:rPr lang="es-ES_tradnl" altLang="es-MX" sz="1800" dirty="0">
                <a:solidFill>
                  <a:schemeClr val="bg2">
                    <a:lumMod val="25000"/>
                  </a:schemeClr>
                </a:solidFill>
              </a:rPr>
              <a:t>, donde los paquetes de datos se </a:t>
            </a:r>
            <a:r>
              <a:rPr lang="es-ES_tradnl" altLang="es-MX" sz="1800" b="1" dirty="0">
                <a:solidFill>
                  <a:schemeClr val="bg2">
                    <a:lumMod val="25000"/>
                  </a:schemeClr>
                </a:solidFill>
              </a:rPr>
              <a:t>cifran (encriptan) </a:t>
            </a:r>
            <a:r>
              <a:rPr lang="es-ES_tradnl" altLang="es-MX" sz="1800" dirty="0">
                <a:solidFill>
                  <a:schemeClr val="bg2">
                    <a:lumMod val="25000"/>
                  </a:schemeClr>
                </a:solidFill>
              </a:rPr>
              <a:t>y </a:t>
            </a:r>
            <a:r>
              <a:rPr lang="es-ES_tradnl" altLang="es-MX" sz="1800" b="1" dirty="0">
                <a:solidFill>
                  <a:schemeClr val="bg2">
                    <a:lumMod val="25000"/>
                  </a:schemeClr>
                </a:solidFill>
              </a:rPr>
              <a:t>encapsulan</a:t>
            </a:r>
            <a:r>
              <a:rPr lang="es-ES_tradnl" altLang="es-MX" sz="1800" dirty="0">
                <a:solidFill>
                  <a:schemeClr val="bg2">
                    <a:lumMod val="25000"/>
                  </a:schemeClr>
                </a:solidFill>
              </a:rPr>
              <a:t> en paquetes IP para poder viajar a través de Internet y ocultar su contenido. </a:t>
            </a:r>
          </a:p>
          <a:p>
            <a:pPr>
              <a:spcBef>
                <a:spcPct val="0"/>
              </a:spcBef>
            </a:pPr>
            <a:endParaRPr lang="es-ES_tradnl" altLang="es-MX" sz="1800" dirty="0">
              <a:latin typeface="Arial" panose="020B060402020202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3949788"/>
            <a:ext cx="7135156" cy="2654641"/>
          </a:xfrm>
          <a:prstGeom prst="rect">
            <a:avLst/>
          </a:prstGeom>
        </p:spPr>
      </p:pic>
      <p:sp>
        <p:nvSpPr>
          <p:cNvPr id="8" name="Rectangle 5"/>
          <p:cNvSpPr>
            <a:spLocks noGrp="1" noChangeArrowheads="1"/>
          </p:cNvSpPr>
          <p:nvPr>
            <p:ph type="title"/>
          </p:nvPr>
        </p:nvSpPr>
        <p:spPr>
          <a:xfrm>
            <a:off x="1187624" y="341784"/>
            <a:ext cx="7086600" cy="1143000"/>
          </a:xfrm>
          <a:noFill/>
          <a:ln/>
        </p:spPr>
        <p:txBody>
          <a:bodyPr>
            <a:normAutofit/>
          </a:bodyPr>
          <a:lstStyle/>
          <a:p>
            <a:pPr>
              <a:lnSpc>
                <a:spcPts val="3800"/>
              </a:lnSpc>
              <a:spcBef>
                <a:spcPts val="0"/>
              </a:spcBef>
            </a:pP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Redes Privadas Virtuales</a:t>
            </a:r>
            <a:b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</a:br>
            <a:r>
              <a:rPr lang="es-ES_tradnl" altLang="es-MX" sz="2200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(VPN = Virtual Private Network)</a:t>
            </a:r>
            <a:endParaRPr lang="es-ES_tradnl" altLang="es-MX" sz="2200" b="1" dirty="0">
              <a:solidFill>
                <a:schemeClr val="accent3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4034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675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759" name="Rectangle 7"/>
          <p:cNvSpPr>
            <a:spLocks noChangeArrowheads="1"/>
          </p:cNvSpPr>
          <p:nvPr/>
        </p:nvSpPr>
        <p:spPr bwMode="auto">
          <a:xfrm>
            <a:off x="381000" y="5943600"/>
            <a:ext cx="2438400" cy="685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sp>
        <p:nvSpPr>
          <p:cNvPr id="5867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4596" y="1778496"/>
            <a:ext cx="7617844" cy="1578496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spcBef>
                <a:spcPct val="0"/>
              </a:spcBef>
              <a:buNone/>
            </a:pPr>
            <a:r>
              <a:rPr lang="es-ES_tradnl" altLang="es-MX" sz="1800" dirty="0">
                <a:solidFill>
                  <a:schemeClr val="bg2">
                    <a:lumMod val="25000"/>
                  </a:schemeClr>
                </a:solidFill>
              </a:rPr>
              <a:t>Un </a:t>
            </a:r>
            <a:r>
              <a:rPr lang="es-ES_tradnl" altLang="es-MX" sz="1800" b="1" dirty="0">
                <a:solidFill>
                  <a:schemeClr val="accent6">
                    <a:lumMod val="75000"/>
                  </a:schemeClr>
                </a:solidFill>
              </a:rPr>
              <a:t>firewall o servidor</a:t>
            </a:r>
            <a:r>
              <a:rPr lang="es-ES_tradnl" altLang="es-MX" sz="18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s-ES_tradnl" altLang="es-MX" sz="1800" b="1" dirty="0">
                <a:solidFill>
                  <a:schemeClr val="accent6">
                    <a:lumMod val="75000"/>
                  </a:schemeClr>
                </a:solidFill>
              </a:rPr>
              <a:t>de seguridad </a:t>
            </a:r>
            <a:r>
              <a:rPr lang="es-ES_tradnl" altLang="es-MX" sz="1800" dirty="0">
                <a:solidFill>
                  <a:schemeClr val="bg2">
                    <a:lumMod val="25000"/>
                  </a:schemeClr>
                </a:solidFill>
              </a:rPr>
              <a:t>consta de hardware y software ubicados entre la red interna de una organización y una red externa para evitar que personas ajenas invadan las redes privadas.</a:t>
            </a:r>
          </a:p>
          <a:p>
            <a:pPr>
              <a:spcBef>
                <a:spcPct val="0"/>
              </a:spcBef>
            </a:pPr>
            <a:endParaRPr lang="es-ES_tradnl" altLang="es-MX" sz="1800" dirty="0">
              <a:latin typeface="Arial" panose="020B060402020202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244" y="3360486"/>
            <a:ext cx="7135156" cy="2654641"/>
          </a:xfrm>
          <a:prstGeom prst="rect">
            <a:avLst/>
          </a:prstGeom>
        </p:spPr>
      </p:pic>
      <p:sp>
        <p:nvSpPr>
          <p:cNvPr id="8" name="Rectangle 5"/>
          <p:cNvSpPr>
            <a:spLocks noGrp="1" noChangeArrowheads="1"/>
          </p:cNvSpPr>
          <p:nvPr>
            <p:ph type="title"/>
          </p:nvPr>
        </p:nvSpPr>
        <p:spPr>
          <a:xfrm>
            <a:off x="1187624" y="341784"/>
            <a:ext cx="7086600" cy="1143000"/>
          </a:xfrm>
          <a:noFill/>
          <a:ln/>
        </p:spPr>
        <p:txBody>
          <a:bodyPr>
            <a:normAutofit/>
          </a:bodyPr>
          <a:lstStyle/>
          <a:p>
            <a:pPr>
              <a:lnSpc>
                <a:spcPts val="3800"/>
              </a:lnSpc>
              <a:spcBef>
                <a:spcPts val="0"/>
              </a:spcBef>
            </a:pP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Redes Privadas Virtuales</a:t>
            </a:r>
            <a:b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</a:br>
            <a:r>
              <a:rPr lang="es-ES_tradnl" altLang="es-MX" sz="2200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(VPN = Virtual Private Network)</a:t>
            </a:r>
            <a:endParaRPr lang="es-ES_tradnl" altLang="es-MX" sz="2200" b="1" dirty="0">
              <a:solidFill>
                <a:schemeClr val="accent3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3074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675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395536" y="1844824"/>
            <a:ext cx="3888453" cy="3301361"/>
          </a:xfrm>
        </p:spPr>
        <p:txBody>
          <a:bodyPr>
            <a:normAutofit/>
          </a:bodyPr>
          <a:lstStyle/>
          <a:p>
            <a:pPr>
              <a:lnSpc>
                <a:spcPts val="2500"/>
              </a:lnSpc>
            </a:pPr>
            <a:r>
              <a:rPr lang="es-ES" altLang="ja-JP" sz="1800" dirty="0">
                <a:latin typeface="Arial" panose="020B0604020202020204" pitchFamily="34" charset="0"/>
                <a:cs typeface="Arial" panose="020B0604020202020204" pitchFamily="34" charset="0"/>
              </a:rPr>
              <a:t>Una VPN es una red privada creada mediante </a:t>
            </a:r>
            <a:r>
              <a:rPr lang="es-ES" altLang="ja-JP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“tunneling – envíos por túneles”</a:t>
            </a:r>
            <a:r>
              <a:rPr lang="es-ES" altLang="ja-JP" sz="1800" dirty="0">
                <a:latin typeface="Arial" panose="020B0604020202020204" pitchFamily="34" charset="0"/>
                <a:cs typeface="Arial" panose="020B0604020202020204" pitchFamily="34" charset="0"/>
              </a:rPr>
              <a:t> a través de una </a:t>
            </a:r>
            <a:r>
              <a:rPr lang="es-ES" altLang="ja-JP" sz="1800" b="1" dirty="0">
                <a:latin typeface="Arial" panose="020B0604020202020204" pitchFamily="34" charset="0"/>
                <a:cs typeface="Arial" panose="020B0604020202020204" pitchFamily="34" charset="0"/>
              </a:rPr>
              <a:t>red pública</a:t>
            </a:r>
            <a:r>
              <a:rPr lang="es-ES" altLang="ja-JP" sz="1800" dirty="0">
                <a:latin typeface="Arial" panose="020B0604020202020204" pitchFamily="34" charset="0"/>
                <a:cs typeface="Arial" panose="020B0604020202020204" pitchFamily="34" charset="0"/>
              </a:rPr>
              <a:t>, como Internet.</a:t>
            </a:r>
          </a:p>
          <a:p>
            <a:pPr>
              <a:lnSpc>
                <a:spcPts val="2500"/>
              </a:lnSpc>
            </a:pPr>
            <a:r>
              <a:rPr lang="es-ES" altLang="ja-JP" sz="1800" dirty="0">
                <a:latin typeface="Arial" panose="020B0604020202020204" pitchFamily="34" charset="0"/>
                <a:cs typeface="Arial" panose="020B0604020202020204" pitchFamily="34" charset="0"/>
              </a:rPr>
              <a:t>Las redes privadas virtuales generalmente se refieren a la implementación segura de </a:t>
            </a:r>
            <a:r>
              <a:rPr lang="es-ES" altLang="ja-JP" sz="1800" b="1" dirty="0">
                <a:latin typeface="Arial" panose="020B0604020202020204" pitchFamily="34" charset="0"/>
                <a:cs typeface="Arial" panose="020B0604020202020204" pitchFamily="34" charset="0"/>
              </a:rPr>
              <a:t>VPN con cifrado</a:t>
            </a:r>
            <a:r>
              <a:rPr lang="es-ES" altLang="ja-JP" sz="1800" dirty="0">
                <a:latin typeface="Arial" panose="020B0604020202020204" pitchFamily="34" charset="0"/>
                <a:cs typeface="Arial" panose="020B0604020202020204" pitchFamily="34" charset="0"/>
              </a:rPr>
              <a:t>, como las </a:t>
            </a:r>
            <a:r>
              <a:rPr lang="es-ES" altLang="ja-JP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VPN con IPsec</a:t>
            </a:r>
            <a:r>
              <a:rPr lang="es-ES" altLang="ja-JP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ES" altLang="ja-JP" sz="1600" dirty="0"/>
          </a:p>
        </p:txBody>
      </p:sp>
      <p:pic>
        <p:nvPicPr>
          <p:cNvPr id="4" name="Picture 3" descr="Connecting Networks - Mozilla Firefox">
            <a:extLst>
              <a:ext uri="{FF2B5EF4-FFF2-40B4-BE49-F238E27FC236}">
                <a16:creationId xmlns:a16="http://schemas.microsoft.com/office/drawing/2014/main" id="{0CBB35E9-BD7D-453D-9EC2-343ECEBE4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2892" y="1945985"/>
            <a:ext cx="4407131" cy="3200200"/>
          </a:xfrm>
          <a:prstGeom prst="rect">
            <a:avLst/>
          </a:prstGeom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F86180C9-FEC2-12DF-2DCB-79DB66489202}"/>
              </a:ext>
            </a:extLst>
          </p:cNvPr>
          <p:cNvSpPr txBox="1">
            <a:spLocks noChangeArrowheads="1"/>
          </p:cNvSpPr>
          <p:nvPr/>
        </p:nvSpPr>
        <p:spPr>
          <a:xfrm>
            <a:off x="899592" y="332656"/>
            <a:ext cx="7086600" cy="1143000"/>
          </a:xfrm>
          <a:prstGeom prst="rect">
            <a:avLst/>
          </a:prstGeom>
          <a:noFill/>
          <a:ln/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800"/>
              </a:lnSpc>
              <a:spcBef>
                <a:spcPts val="0"/>
              </a:spcBef>
            </a:pP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Redes Privadas Virtuales</a:t>
            </a:r>
            <a:b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</a:br>
            <a:r>
              <a:rPr lang="es-ES_tradnl" altLang="es-MX" sz="2200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(VPN = Virtual Private Network)</a:t>
            </a:r>
            <a:endParaRPr lang="es-ES_tradnl" altLang="es-MX" sz="2200" b="1" dirty="0">
              <a:solidFill>
                <a:schemeClr val="accent3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1137661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55AD9B34-0666-7623-96A2-6F5CC033C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52" y="3187903"/>
            <a:ext cx="4392488" cy="2888753"/>
          </a:xfrm>
          <a:prstGeom prst="rect">
            <a:avLst/>
          </a:prstGeom>
        </p:spPr>
      </p:pic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328598" y="1337933"/>
            <a:ext cx="8352929" cy="2195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Los servicios de WAN privada, como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líneas arrendadas </a:t>
            </a:r>
            <a:r>
              <a:rPr lang="es-ES" sz="1800" dirty="0">
                <a:latin typeface="Arial" pitchFamily="34" charset="0"/>
                <a:cs typeface="Arial" pitchFamily="34" charset="0"/>
              </a:rPr>
              <a:t>y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MPLS</a:t>
            </a:r>
            <a:r>
              <a:rPr lang="es-ES" sz="1800" dirty="0">
                <a:latin typeface="Arial" pitchFamily="34" charset="0"/>
                <a:cs typeface="Arial" pitchFamily="34" charset="0"/>
              </a:rPr>
              <a:t>, brindan seguridad porque el tráfico de cada cliente se separa mediante el uso de </a:t>
            </a:r>
            <a:r>
              <a:rPr lang="es-ES" sz="1800" b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conexiones físicas dedicadas (líneas arrendadas) </a:t>
            </a:r>
            <a:r>
              <a:rPr lang="es-ES" sz="1800" dirty="0">
                <a:latin typeface="Arial" pitchFamily="34" charset="0"/>
                <a:cs typeface="Arial" pitchFamily="34" charset="0"/>
              </a:rPr>
              <a:t>o </a:t>
            </a:r>
            <a:r>
              <a:rPr lang="es-ES" sz="1800" b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etiquetas MPLS.</a:t>
            </a: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Cuando se usa Internet como una WAN para conectar sitios, no hay seguridad incorporada por default.</a:t>
            </a:r>
            <a:endParaRPr lang="es-ES" sz="1800" dirty="0">
              <a:solidFill>
                <a:schemeClr val="accent6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F5F924D5-551E-B18D-A709-1203808E010A}"/>
              </a:ext>
            </a:extLst>
          </p:cNvPr>
          <p:cNvSpPr txBox="1">
            <a:spLocks noChangeArrowheads="1"/>
          </p:cNvSpPr>
          <p:nvPr/>
        </p:nvSpPr>
        <p:spPr>
          <a:xfrm>
            <a:off x="899592" y="180207"/>
            <a:ext cx="7086600" cy="1143000"/>
          </a:xfrm>
          <a:prstGeom prst="rect">
            <a:avLst/>
          </a:prstGeom>
          <a:noFill/>
          <a:ln/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800"/>
              </a:lnSpc>
              <a:spcBef>
                <a:spcPts val="0"/>
              </a:spcBef>
            </a:pP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Redes Privadas Virtuales</a:t>
            </a:r>
            <a:b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</a:br>
            <a:r>
              <a:rPr lang="es-ES_tradnl" altLang="es-MX" sz="2200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(VPN = Virtual Private Network)</a:t>
            </a:r>
            <a:endParaRPr lang="es-ES_tradnl" altLang="es-MX" sz="2200" b="1" dirty="0">
              <a:solidFill>
                <a:schemeClr val="accent3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3" name="Text Box 5">
            <a:extLst>
              <a:ext uri="{FF2B5EF4-FFF2-40B4-BE49-F238E27FC236}">
                <a16:creationId xmlns:a16="http://schemas.microsoft.com/office/drawing/2014/main" id="{03C5CDFF-81B4-6B36-C1B4-3B186A114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598" y="3573016"/>
            <a:ext cx="3379306" cy="2118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800" dirty="0">
                <a:latin typeface="Arial" pitchFamily="34" charset="0"/>
                <a:cs typeface="Arial" pitchFamily="34" charset="0"/>
              </a:rPr>
              <a:t>Para proporcionar comunicaciones seguras a través de Internet, se utilizan </a:t>
            </a:r>
            <a:r>
              <a:rPr lang="es-MX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VPN (redes privadas virtuales)</a:t>
            </a:r>
            <a:r>
              <a:rPr lang="es-MX" sz="1800" dirty="0">
                <a:latin typeface="Arial" pitchFamily="34" charset="0"/>
                <a:cs typeface="Arial" pitchFamily="34" charset="0"/>
              </a:rPr>
              <a:t>.</a:t>
            </a:r>
            <a:endParaRPr lang="es-ES" sz="1800" dirty="0">
              <a:solidFill>
                <a:schemeClr val="accent6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39370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687258" y="1460135"/>
            <a:ext cx="8208912" cy="22724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Revisaremos </a:t>
            </a:r>
            <a:r>
              <a:rPr lang="es-ES" sz="1800" b="1" dirty="0">
                <a:latin typeface="Arial" pitchFamily="34" charset="0"/>
                <a:cs typeface="Arial" pitchFamily="34" charset="0"/>
              </a:rPr>
              <a:t>dos tipos de </a:t>
            </a:r>
            <a:r>
              <a:rPr lang="es-ES" sz="1800" b="1" dirty="0" err="1">
                <a:latin typeface="Arial" pitchFamily="34" charset="0"/>
                <a:cs typeface="Arial" pitchFamily="34" charset="0"/>
              </a:rPr>
              <a:t>VPNs</a:t>
            </a:r>
            <a:r>
              <a:rPr lang="es-ES" sz="1800" dirty="0">
                <a:latin typeface="Arial" pitchFamily="34" charset="0"/>
                <a:cs typeface="Arial" pitchFamily="34" charset="0"/>
              </a:rPr>
              <a:t>, que </a:t>
            </a:r>
            <a:r>
              <a:rPr lang="es-ES" sz="1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proporcionan conectividad segura a través de Internet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. Internet es una red pública compartida y no es segura por default.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800" b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GRE </a:t>
            </a:r>
            <a:r>
              <a:rPr lang="en-US" sz="1800" b="1" dirty="0" err="1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sobre</a:t>
            </a:r>
            <a:r>
              <a:rPr lang="en-US" sz="1800" b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IPsec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ES" sz="1800" b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VPN de sitio a sitio (site-to-site VPNs) usando *IPsec</a:t>
            </a:r>
            <a:endParaRPr lang="es-ES" sz="1800" dirty="0">
              <a:solidFill>
                <a:schemeClr val="accent5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053C5F0-3E2F-53BB-2031-6CE9D7129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096" y="3861048"/>
            <a:ext cx="3020646" cy="2606171"/>
          </a:xfrm>
          <a:prstGeom prst="rect">
            <a:avLst/>
          </a:prstGeom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BDEBB010-383E-C52C-FE33-59A2563F5CD4}"/>
              </a:ext>
            </a:extLst>
          </p:cNvPr>
          <p:cNvSpPr txBox="1">
            <a:spLocks noChangeArrowheads="1"/>
          </p:cNvSpPr>
          <p:nvPr/>
        </p:nvSpPr>
        <p:spPr>
          <a:xfrm>
            <a:off x="1187624" y="188640"/>
            <a:ext cx="7086600" cy="1143000"/>
          </a:xfrm>
          <a:prstGeom prst="rect">
            <a:avLst/>
          </a:prstGeom>
          <a:noFill/>
          <a:ln/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800"/>
              </a:lnSpc>
              <a:spcBef>
                <a:spcPts val="0"/>
              </a:spcBef>
            </a:pP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Redes Privadas Virtuales</a:t>
            </a:r>
            <a:b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</a:br>
            <a:r>
              <a:rPr lang="es-ES_tradnl" altLang="es-MX" sz="2200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(VPN = Virtual Private Network)</a:t>
            </a:r>
            <a:endParaRPr lang="es-ES_tradnl" altLang="es-MX" sz="2200" b="1" dirty="0">
              <a:solidFill>
                <a:schemeClr val="accent3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DDE0D7-EA99-BFF7-105C-0DD29D5F5F34}"/>
              </a:ext>
            </a:extLst>
          </p:cNvPr>
          <p:cNvSpPr txBox="1"/>
          <p:nvPr/>
        </p:nvSpPr>
        <p:spPr>
          <a:xfrm>
            <a:off x="687258" y="4077072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i="0" dirty="0">
                <a:solidFill>
                  <a:srgbClr val="222222"/>
                </a:solidFill>
                <a:effectLst/>
                <a:latin typeface="-apple-system"/>
              </a:rPr>
              <a:t>*IPsec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b="1" i="0" dirty="0">
                <a:solidFill>
                  <a:srgbClr val="222222"/>
                </a:solidFill>
                <a:effectLst/>
                <a:latin typeface="-apple-system"/>
              </a:rPr>
              <a:t>IP</a:t>
            </a:r>
            <a:r>
              <a:rPr lang="es-MX" b="0" i="0" dirty="0">
                <a:solidFill>
                  <a:srgbClr val="222222"/>
                </a:solidFill>
                <a:effectLst/>
                <a:latin typeface="-apple-system"/>
              </a:rPr>
              <a:t> significa "Protocolo de Internet“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b="1" i="0" dirty="0" err="1">
                <a:solidFill>
                  <a:srgbClr val="222222"/>
                </a:solidFill>
                <a:effectLst/>
                <a:latin typeface="-apple-system"/>
              </a:rPr>
              <a:t>sec</a:t>
            </a:r>
            <a:r>
              <a:rPr lang="es-MX" b="0" i="0" dirty="0">
                <a:solidFill>
                  <a:srgbClr val="222222"/>
                </a:solidFill>
                <a:effectLst/>
                <a:latin typeface="-apple-system"/>
              </a:rPr>
              <a:t> significa "seguro"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57785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3" name="Rectangle 3082">
            <a:extLst>
              <a:ext uri="{FF2B5EF4-FFF2-40B4-BE49-F238E27FC236}">
                <a16:creationId xmlns:a16="http://schemas.microsoft.com/office/drawing/2014/main" id="{49B447FE-DDA9-4B30-828A-59FC56912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9144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C3D487F7-9050-4871-B351-34A72ADB2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63" y="-1"/>
            <a:ext cx="457200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7" name="Rectangle 3086">
            <a:extLst>
              <a:ext uri="{FF2B5EF4-FFF2-40B4-BE49-F238E27FC236}">
                <a16:creationId xmlns:a16="http://schemas.microsoft.com/office/drawing/2014/main" id="{F43C27DD-EF6A-4C48-9669-C2970E71A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971913" y="1314451"/>
            <a:ext cx="6858003" cy="4229101"/>
          </a:xfrm>
          <a:prstGeom prst="rect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71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9" name="Rectangle 3088">
            <a:extLst>
              <a:ext uri="{FF2B5EF4-FFF2-40B4-BE49-F238E27FC236}">
                <a16:creationId xmlns:a16="http://schemas.microsoft.com/office/drawing/2014/main" id="{05A1AA86-B7E6-4C02-AA34-F1A25CD4C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5638" y="2217950"/>
            <a:ext cx="4577638" cy="464004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91" name="Oval 3090">
            <a:extLst>
              <a:ext uri="{FF2B5EF4-FFF2-40B4-BE49-F238E27FC236}">
                <a16:creationId xmlns:a16="http://schemas.microsoft.com/office/drawing/2014/main" id="{86C3B9CB-4E48-4726-B7B9-9E02F71B1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137312">
            <a:off x="-156132" y="1791483"/>
            <a:ext cx="4640488" cy="3480366"/>
          </a:xfrm>
          <a:prstGeom prst="ellipse">
            <a:avLst/>
          </a:prstGeom>
          <a:gradFill>
            <a:gsLst>
              <a:gs pos="53000">
                <a:schemeClr val="accent1">
                  <a:alpha val="0"/>
                </a:schemeClr>
              </a:gs>
              <a:gs pos="100000">
                <a:schemeClr val="accent1">
                  <a:lumMod val="40000"/>
                  <a:lumOff val="60000"/>
                  <a:alpha val="1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93" name="Rectangle 3092">
            <a:extLst>
              <a:ext uri="{FF2B5EF4-FFF2-40B4-BE49-F238E27FC236}">
                <a16:creationId xmlns:a16="http://schemas.microsoft.com/office/drawing/2014/main" id="{C84384FE-1C88-4CAA-8FB8-2313A3AE7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5639" y="0"/>
            <a:ext cx="4577639" cy="6870700"/>
          </a:xfrm>
          <a:prstGeom prst="rect">
            <a:avLst/>
          </a:prstGeom>
          <a:gradFill>
            <a:gsLst>
              <a:gs pos="24000">
                <a:schemeClr val="accent1">
                  <a:alpha val="0"/>
                </a:schemeClr>
              </a:gs>
              <a:gs pos="100000">
                <a:srgbClr val="000000">
                  <a:alpha val="71000"/>
                </a:srgb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802341" y="2654490"/>
            <a:ext cx="3425764" cy="322038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t">
            <a:norm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1. GRE </a:t>
            </a:r>
            <a:r>
              <a:rPr lang="en-US" sz="42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sobre</a:t>
            </a:r>
            <a:r>
              <a:rPr lang="en-US" sz="42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 IPsec</a:t>
            </a: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3" name="Imagen 2" descr="Interfaz de usuario gráfica, Diagrama&#10;&#10;Descripción generada automáticamente con confianza media">
            <a:extLst>
              <a:ext uri="{FF2B5EF4-FFF2-40B4-BE49-F238E27FC236}">
                <a16:creationId xmlns:a16="http://schemas.microsoft.com/office/drawing/2014/main" id="{C589AA3B-D155-9016-470C-0AB583C744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03" r="16540" b="-2"/>
          <a:stretch>
            <a:fillRect/>
          </a:stretch>
        </p:blipFill>
        <p:spPr>
          <a:xfrm>
            <a:off x="4914899" y="457200"/>
            <a:ext cx="3886201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8868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323528" y="1844824"/>
            <a:ext cx="3215258" cy="304967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encapsulación de </a:t>
            </a:r>
            <a:r>
              <a:rPr lang="es-ES" sz="18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routing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genérico (GRE) </a:t>
            </a: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es un protocolo de tunneling de VPN de sitio a sitio básico y no seguro.</a:t>
            </a:r>
          </a:p>
          <a:p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Desarrollado por Cisco.</a:t>
            </a:r>
            <a:endParaRPr lang="es-ES" altLang="ja-JP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Connecting Networks - Mozilla Firefox">
            <a:extLst>
              <a:ext uri="{FF2B5EF4-FFF2-40B4-BE49-F238E27FC236}">
                <a16:creationId xmlns:a16="http://schemas.microsoft.com/office/drawing/2014/main" id="{4151C2C9-C933-422E-A6E9-81CA951ED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936" y="1844824"/>
            <a:ext cx="4416446" cy="2844801"/>
          </a:xfrm>
          <a:prstGeom prst="rect">
            <a:avLst/>
          </a:prstGeom>
        </p:spPr>
      </p:pic>
      <p:sp>
        <p:nvSpPr>
          <p:cNvPr id="4" name="Text Box 6">
            <a:extLst>
              <a:ext uri="{FF2B5EF4-FFF2-40B4-BE49-F238E27FC236}">
                <a16:creationId xmlns:a16="http://schemas.microsoft.com/office/drawing/2014/main" id="{5DBCF215-AC62-F755-141D-0C76C1B948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548680"/>
            <a:ext cx="7539037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GRE</a:t>
            </a:r>
          </a:p>
          <a:p>
            <a:pPr algn="ctr"/>
            <a:r>
              <a:rPr 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  <a:ea typeface="+mj-ea"/>
                <a:cs typeface="+mj-cs"/>
              </a:rPr>
              <a:t>Generic Routing Encapsulation</a:t>
            </a:r>
            <a:endParaRPr lang="es-MX" sz="2800" b="1" dirty="0">
              <a:solidFill>
                <a:schemeClr val="accent3">
                  <a:lumMod val="75000"/>
                </a:schemeClr>
              </a:solidFill>
              <a:latin typeface="Dom Casual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03719967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271913" y="1268090"/>
            <a:ext cx="8600173" cy="294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GRE (Generic Routing Encapsulation / Encapsulación de enrutamiento genérico)</a:t>
            </a:r>
            <a:r>
              <a:rPr lang="es-ES" sz="1800" dirty="0">
                <a:latin typeface="Arial" pitchFamily="34" charset="0"/>
                <a:cs typeface="Arial" pitchFamily="34" charset="0"/>
              </a:rPr>
              <a:t> crea túneles, sin embargo, </a:t>
            </a:r>
            <a:r>
              <a:rPr lang="es-ES" sz="1800" b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no cifra el paquete original</a:t>
            </a:r>
            <a:r>
              <a:rPr lang="es-ES" sz="1800" dirty="0">
                <a:latin typeface="Arial" pitchFamily="34" charset="0"/>
                <a:cs typeface="Arial" pitchFamily="34" charset="0"/>
              </a:rPr>
              <a:t>, por lo que no es seguro.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Sin embargo, tiene la ventaja de poder encapsular una amplia variedad de protocolos de capa 3.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Para obtener la flexibilidad de </a:t>
            </a:r>
            <a:r>
              <a:rPr lang="es-ES" sz="1800" b="1" dirty="0">
                <a:latin typeface="Arial" pitchFamily="34" charset="0"/>
                <a:cs typeface="Arial" pitchFamily="34" charset="0"/>
              </a:rPr>
              <a:t>GRE </a:t>
            </a:r>
            <a:r>
              <a:rPr lang="es-ES" sz="1800" dirty="0">
                <a:latin typeface="Arial" pitchFamily="34" charset="0"/>
                <a:cs typeface="Arial" pitchFamily="34" charset="0"/>
              </a:rPr>
              <a:t>con la seguridad de </a:t>
            </a:r>
            <a:r>
              <a:rPr lang="es-ES" sz="1800" b="1" dirty="0">
                <a:latin typeface="Arial" pitchFamily="34" charset="0"/>
                <a:cs typeface="Arial" pitchFamily="34" charset="0"/>
              </a:rPr>
              <a:t>IPsec</a:t>
            </a:r>
            <a:r>
              <a:rPr lang="es-ES" sz="1800" dirty="0">
                <a:latin typeface="Arial" pitchFamily="34" charset="0"/>
                <a:cs typeface="Arial" pitchFamily="34" charset="0"/>
              </a:rPr>
              <a:t>, se puede utilizar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GRE sobre IPsec</a:t>
            </a:r>
            <a:r>
              <a:rPr lang="es-ES" sz="1800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68559A9-BB1B-B3EF-D704-551639BFE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4323625"/>
            <a:ext cx="4667250" cy="866775"/>
          </a:xfrm>
          <a:prstGeom prst="rect">
            <a:avLst/>
          </a:prstGeom>
        </p:spPr>
      </p:pic>
      <p:sp>
        <p:nvSpPr>
          <p:cNvPr id="3" name="Flecha: hacia abajo 2">
            <a:extLst>
              <a:ext uri="{FF2B5EF4-FFF2-40B4-BE49-F238E27FC236}">
                <a16:creationId xmlns:a16="http://schemas.microsoft.com/office/drawing/2014/main" id="{A7AD6E72-8DDB-7628-5E4C-4F1DE086F7CF}"/>
              </a:ext>
            </a:extLst>
          </p:cNvPr>
          <p:cNvSpPr/>
          <p:nvPr/>
        </p:nvSpPr>
        <p:spPr>
          <a:xfrm>
            <a:off x="4565195" y="5265881"/>
            <a:ext cx="288032" cy="3015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3137241-C5BC-0B31-DE34-35FACB8BC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56" y="5673441"/>
            <a:ext cx="6696743" cy="848255"/>
          </a:xfrm>
          <a:prstGeom prst="rect">
            <a:avLst/>
          </a:prstGeom>
        </p:spPr>
      </p:pic>
      <p:sp>
        <p:nvSpPr>
          <p:cNvPr id="6" name="Text Box 6">
            <a:extLst>
              <a:ext uri="{FF2B5EF4-FFF2-40B4-BE49-F238E27FC236}">
                <a16:creationId xmlns:a16="http://schemas.microsoft.com/office/drawing/2014/main" id="{390FE4D6-2FBF-75EC-2D18-FB461A0A5C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149531"/>
            <a:ext cx="7539037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GRE</a:t>
            </a:r>
          </a:p>
          <a:p>
            <a:pPr algn="ctr"/>
            <a:r>
              <a:rPr 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  <a:ea typeface="+mj-ea"/>
                <a:cs typeface="+mj-cs"/>
              </a:rPr>
              <a:t>Generic Routing Encapsulation</a:t>
            </a:r>
            <a:endParaRPr lang="es-MX" sz="2800" b="1" dirty="0">
              <a:solidFill>
                <a:schemeClr val="accent3">
                  <a:lumMod val="75000"/>
                </a:schemeClr>
              </a:solidFill>
              <a:latin typeface="Dom Casual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154594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369023" y="1268760"/>
            <a:ext cx="8379441" cy="3365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El paquete original será encapsulado por un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encabezado GRE </a:t>
            </a:r>
            <a:r>
              <a:rPr lang="es-ES" sz="1800" dirty="0">
                <a:latin typeface="Arial" pitchFamily="34" charset="0"/>
                <a:cs typeface="Arial" pitchFamily="34" charset="0"/>
              </a:rPr>
              <a:t>y un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nuevo encabezado IP</a:t>
            </a:r>
            <a:r>
              <a:rPr lang="es-ES" sz="1800" dirty="0">
                <a:latin typeface="Arial" pitchFamily="34" charset="0"/>
                <a:cs typeface="Arial" pitchFamily="34" charset="0"/>
              </a:rPr>
              <a:t>, y luego el paquete GRE será encriptado y encapsulado dentro de un encabezado IPsec VPN y un nuevo encabezado IP. 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Aquí está el paquete IP original.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Se le agrega un encabezado GRE y un nuevo encabezado IP.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Luego, este nuevo paquete se cifra y se agregan un encabezado IPsec y un nuevo encabezado IP.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Hemos combinado GRE con IPsec</a:t>
            </a:r>
            <a:r>
              <a:rPr lang="es-ES" sz="1800" dirty="0">
                <a:latin typeface="Arial" pitchFamily="34" charset="0"/>
                <a:cs typeface="Arial" pitchFamily="34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sz="1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8E503390-FB73-328A-BD58-65726BCEB2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186467"/>
            <a:ext cx="7539037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GRE sobre IPsec</a:t>
            </a:r>
          </a:p>
          <a:p>
            <a:pPr algn="ctr"/>
            <a:r>
              <a:rPr 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  <a:ea typeface="+mj-ea"/>
                <a:cs typeface="+mj-cs"/>
              </a:rPr>
              <a:t>Redes Privadas Virtuales (VPNs)</a:t>
            </a:r>
            <a:endParaRPr lang="es-MX" sz="2800" b="1" dirty="0">
              <a:solidFill>
                <a:schemeClr val="accent3">
                  <a:lumMod val="75000"/>
                </a:schemeClr>
              </a:solidFill>
              <a:latin typeface="Dom Casual" charset="0"/>
              <a:ea typeface="+mj-ea"/>
              <a:cs typeface="+mj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4385306-7B4E-8FCD-A339-91F49974E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4412448"/>
            <a:ext cx="4667250" cy="866775"/>
          </a:xfrm>
          <a:prstGeom prst="rect">
            <a:avLst/>
          </a:prstGeom>
        </p:spPr>
      </p:pic>
      <p:sp>
        <p:nvSpPr>
          <p:cNvPr id="7" name="Flecha: hacia abajo 6">
            <a:extLst>
              <a:ext uri="{FF2B5EF4-FFF2-40B4-BE49-F238E27FC236}">
                <a16:creationId xmlns:a16="http://schemas.microsoft.com/office/drawing/2014/main" id="{C8AF6A8D-CF8B-7A83-13C0-CFF6287C7DAE}"/>
              </a:ext>
            </a:extLst>
          </p:cNvPr>
          <p:cNvSpPr/>
          <p:nvPr/>
        </p:nvSpPr>
        <p:spPr>
          <a:xfrm>
            <a:off x="3902627" y="5385233"/>
            <a:ext cx="288032" cy="3015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EBCDF3A-55CB-1100-E7D9-19CB51773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088" y="5792793"/>
            <a:ext cx="6696743" cy="848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5220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33426" y="1205421"/>
            <a:ext cx="3500311" cy="4004184"/>
          </a:xfrm>
        </p:spPr>
        <p:txBody>
          <a:bodyPr>
            <a:noAutofit/>
          </a:bodyPr>
          <a:lstStyle/>
          <a:p>
            <a:pPr marL="0" indent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Se deben seguir cinco pasos para configurar un túnel GRE:</a:t>
            </a:r>
          </a:p>
          <a:p>
            <a:pPr marL="0" indent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Paso 1: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Cree una interfaz de túnel con el comando </a:t>
            </a:r>
            <a:r>
              <a:rPr lang="es-ES" sz="1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interface tunnel</a:t>
            </a:r>
            <a:r>
              <a:rPr lang="es-ES" sz="12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i="1" dirty="0"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Paso 2. 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Configure una </a:t>
            </a:r>
            <a:r>
              <a:rPr lang="es-ES" sz="1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dirección IP para la interfaz del túnel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. (Generalmente una dirección privada).</a:t>
            </a:r>
          </a:p>
          <a:p>
            <a:pPr marL="0" inden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Paso 3.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Especifique la </a:t>
            </a:r>
            <a:r>
              <a:rPr lang="es-ES" sz="1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dirección IP de origen del túnel.</a:t>
            </a:r>
          </a:p>
          <a:p>
            <a:pPr marL="0" inden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Paso 4. 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Especifique la </a:t>
            </a:r>
            <a:r>
              <a:rPr lang="es-ES" sz="1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dirección IP de destino del túnel.</a:t>
            </a:r>
          </a:p>
          <a:p>
            <a:pPr marL="0" inden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Paso 5: (Optativo) Especifique el </a:t>
            </a:r>
            <a:r>
              <a:rPr lang="es-ES" sz="1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modo de túnel GRE 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como modo de interfaz de túnel.</a:t>
            </a:r>
          </a:p>
          <a:p>
            <a:pPr marL="0" inden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1200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Connecting Networks - Mozilla Firefox">
            <a:extLst>
              <a:ext uri="{FF2B5EF4-FFF2-40B4-BE49-F238E27FC236}">
                <a16:creationId xmlns:a16="http://schemas.microsoft.com/office/drawing/2014/main" id="{C069FA5A-0ECC-47A6-962F-D9F313AB0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0377" y="1236543"/>
            <a:ext cx="5297089" cy="3168352"/>
          </a:xfrm>
          <a:prstGeom prst="rect">
            <a:avLst/>
          </a:prstGeom>
        </p:spPr>
      </p:pic>
      <p:pic>
        <p:nvPicPr>
          <p:cNvPr id="5" name="Picture 4" descr="Connecting Networks - Mozilla Firefox">
            <a:extLst>
              <a:ext uri="{FF2B5EF4-FFF2-40B4-BE49-F238E27FC236}">
                <a16:creationId xmlns:a16="http://schemas.microsoft.com/office/drawing/2014/main" id="{F6DFDE14-4392-487D-B497-C14FDD6639D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60377" y="4466295"/>
            <a:ext cx="5195193" cy="1155162"/>
          </a:xfrm>
          <a:prstGeom prst="rect">
            <a:avLst/>
          </a:prstGeom>
        </p:spPr>
      </p:pic>
      <p:sp>
        <p:nvSpPr>
          <p:cNvPr id="4" name="Text Box 6">
            <a:extLst>
              <a:ext uri="{FF2B5EF4-FFF2-40B4-BE49-F238E27FC236}">
                <a16:creationId xmlns:a16="http://schemas.microsoft.com/office/drawing/2014/main" id="{7D4F5930-0F71-212A-D6E7-E6AAEB136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186467"/>
            <a:ext cx="7539037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Configuración de GRE</a:t>
            </a:r>
          </a:p>
          <a:p>
            <a:pPr algn="ctr"/>
            <a:r>
              <a:rPr 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  <a:ea typeface="+mj-ea"/>
                <a:cs typeface="+mj-cs"/>
              </a:rPr>
              <a:t>Implementación de GRE</a:t>
            </a:r>
            <a:endParaRPr lang="es-MX" sz="2800" b="1" dirty="0">
              <a:solidFill>
                <a:schemeClr val="accent3">
                  <a:lumMod val="75000"/>
                </a:schemeClr>
              </a:solidFill>
              <a:latin typeface="Dom Casual" charset="0"/>
              <a:ea typeface="+mj-ea"/>
              <a:cs typeface="+mj-cs"/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87C86BCC-2C3A-B98A-5E1F-B7BE39FE63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585" y="5776999"/>
            <a:ext cx="8612880" cy="530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169863" indent="-1698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•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Nota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: Los comandos</a:t>
            </a: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altLang="ja-JP" sz="1200" b="1" dirty="0">
                <a:latin typeface="Arial" panose="020B0604020202020204" pitchFamily="34" charset="0"/>
                <a:cs typeface="Arial" panose="020B0604020202020204" pitchFamily="34" charset="0"/>
              </a:rPr>
              <a:t>tunnel source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" altLang="ja-JP" sz="1200" b="1" dirty="0">
                <a:latin typeface="Arial" panose="020B0604020202020204" pitchFamily="34" charset="0"/>
                <a:cs typeface="Arial" panose="020B0604020202020204" pitchFamily="34" charset="0"/>
              </a:rPr>
              <a:t>tunnel destination</a:t>
            </a: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hacen referencia a las direcciones IP de las interfaces físicas configuradas previamente.</a:t>
            </a:r>
          </a:p>
        </p:txBody>
      </p:sp>
    </p:spTree>
    <p:extLst>
      <p:ext uri="{BB962C8B-B14F-4D97-AF65-F5344CB8AC3E}">
        <p14:creationId xmlns:p14="http://schemas.microsoft.com/office/powerpoint/2010/main" val="2929252372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50471" y="1717572"/>
            <a:ext cx="4398833" cy="3939110"/>
          </a:xfrm>
        </p:spPr>
        <p:txBody>
          <a:bodyPr>
            <a:normAutofit/>
          </a:bodyPr>
          <a:lstStyle/>
          <a:p>
            <a:pPr marL="263525" indent="-263525">
              <a:lnSpc>
                <a:spcPts val="2500"/>
              </a:lnSpc>
            </a:pP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Utilice el comando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show ip interface brief</a:t>
            </a: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 para verificar que la interfaz de túnel esté activa.</a:t>
            </a:r>
          </a:p>
          <a:p>
            <a:pPr marL="263525" indent="-263525">
              <a:lnSpc>
                <a:spcPts val="2500"/>
              </a:lnSpc>
            </a:pP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Utilice el comando </a:t>
            </a:r>
            <a:r>
              <a:rPr lang="es-ES" altLang="ja-JP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show Interface tunnel </a:t>
            </a: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para verificar el estado del túnel.</a:t>
            </a:r>
          </a:p>
          <a:p>
            <a:pPr marL="263525" indent="-263525">
              <a:lnSpc>
                <a:spcPts val="2500"/>
              </a:lnSpc>
            </a:pP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Utilice el comando </a:t>
            </a:r>
            <a:r>
              <a:rPr lang="es-ES" altLang="ja-JP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show ip ospf neighbor</a:t>
            </a:r>
            <a:r>
              <a:rPr lang="es-ES" sz="18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para verificar que se haya establecido una adyacencia de OSPF a través de la interfaz de túnel.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9909" y="1844824"/>
            <a:ext cx="4599295" cy="228767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9909" y="4162961"/>
            <a:ext cx="4612428" cy="917687"/>
          </a:xfrm>
          <a:prstGeom prst="rect">
            <a:avLst/>
          </a:prstGeom>
        </p:spPr>
      </p:pic>
      <p:sp>
        <p:nvSpPr>
          <p:cNvPr id="4" name="Text Box 6">
            <a:extLst>
              <a:ext uri="{FF2B5EF4-FFF2-40B4-BE49-F238E27FC236}">
                <a16:creationId xmlns:a16="http://schemas.microsoft.com/office/drawing/2014/main" id="{D7232BDD-C914-0F37-41CD-C84B7AB925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317280"/>
            <a:ext cx="7539037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Verificación de GRE</a:t>
            </a:r>
          </a:p>
          <a:p>
            <a:pPr algn="ctr"/>
            <a:r>
              <a:rPr 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  <a:ea typeface="+mj-ea"/>
                <a:cs typeface="+mj-cs"/>
              </a:rPr>
              <a:t>Implementación de GRE</a:t>
            </a:r>
            <a:endParaRPr lang="es-MX" sz="2800" b="1" dirty="0">
              <a:solidFill>
                <a:schemeClr val="accent3">
                  <a:lumMod val="75000"/>
                </a:schemeClr>
              </a:solidFill>
              <a:latin typeface="Dom Casual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76364051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3" name="Rectangle 3082">
            <a:extLst>
              <a:ext uri="{FF2B5EF4-FFF2-40B4-BE49-F238E27FC236}">
                <a16:creationId xmlns:a16="http://schemas.microsoft.com/office/drawing/2014/main" id="{49B447FE-DDA9-4B30-828A-59FC56912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9144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C3D487F7-9050-4871-B351-34A72ADB2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63" y="-1"/>
            <a:ext cx="457200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7" name="Rectangle 3086">
            <a:extLst>
              <a:ext uri="{FF2B5EF4-FFF2-40B4-BE49-F238E27FC236}">
                <a16:creationId xmlns:a16="http://schemas.microsoft.com/office/drawing/2014/main" id="{F43C27DD-EF6A-4C48-9669-C2970E71A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971913" y="1314451"/>
            <a:ext cx="6858003" cy="4229101"/>
          </a:xfrm>
          <a:prstGeom prst="rect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71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9" name="Rectangle 3088">
            <a:extLst>
              <a:ext uri="{FF2B5EF4-FFF2-40B4-BE49-F238E27FC236}">
                <a16:creationId xmlns:a16="http://schemas.microsoft.com/office/drawing/2014/main" id="{05A1AA86-B7E6-4C02-AA34-F1A25CD4C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5638" y="2217950"/>
            <a:ext cx="4577638" cy="464004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91" name="Oval 3090">
            <a:extLst>
              <a:ext uri="{FF2B5EF4-FFF2-40B4-BE49-F238E27FC236}">
                <a16:creationId xmlns:a16="http://schemas.microsoft.com/office/drawing/2014/main" id="{86C3B9CB-4E48-4726-B7B9-9E02F71B1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137312">
            <a:off x="-156132" y="1791483"/>
            <a:ext cx="4640488" cy="3480366"/>
          </a:xfrm>
          <a:prstGeom prst="ellipse">
            <a:avLst/>
          </a:prstGeom>
          <a:gradFill>
            <a:gsLst>
              <a:gs pos="53000">
                <a:schemeClr val="accent1">
                  <a:alpha val="0"/>
                </a:schemeClr>
              </a:gs>
              <a:gs pos="100000">
                <a:schemeClr val="accent1">
                  <a:lumMod val="40000"/>
                  <a:lumOff val="60000"/>
                  <a:alpha val="1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93" name="Rectangle 3092">
            <a:extLst>
              <a:ext uri="{FF2B5EF4-FFF2-40B4-BE49-F238E27FC236}">
                <a16:creationId xmlns:a16="http://schemas.microsoft.com/office/drawing/2014/main" id="{C84384FE-1C88-4CAA-8FB8-2313A3AE7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5639" y="0"/>
            <a:ext cx="4577639" cy="6870700"/>
          </a:xfrm>
          <a:prstGeom prst="rect">
            <a:avLst/>
          </a:prstGeom>
          <a:gradFill>
            <a:gsLst>
              <a:gs pos="24000">
                <a:schemeClr val="accent1">
                  <a:alpha val="0"/>
                </a:schemeClr>
              </a:gs>
              <a:gs pos="100000">
                <a:srgbClr val="000000">
                  <a:alpha val="71000"/>
                </a:srgb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802341" y="2654490"/>
            <a:ext cx="3425764" cy="322038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t">
            <a:norm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2. VPN de sitio a sitio usando IPsec</a:t>
            </a: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3" name="Imagen 2" descr="Interfaz de usuario gráfica, Diagrama&#10;&#10;Descripción generada automáticamente con confianza media">
            <a:extLst>
              <a:ext uri="{FF2B5EF4-FFF2-40B4-BE49-F238E27FC236}">
                <a16:creationId xmlns:a16="http://schemas.microsoft.com/office/drawing/2014/main" id="{C589AA3B-D155-9016-470C-0AB583C744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66" r="13977" b="-2"/>
          <a:stretch/>
        </p:blipFill>
        <p:spPr>
          <a:xfrm>
            <a:off x="4914899" y="457200"/>
            <a:ext cx="3886201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454453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849387" y="1412776"/>
            <a:ext cx="7539037" cy="2808312"/>
          </a:xfrm>
        </p:spPr>
        <p:txBody>
          <a:bodyPr>
            <a:normAutofit/>
          </a:bodyPr>
          <a:lstStyle/>
          <a:p>
            <a:pPr algn="just">
              <a:lnSpc>
                <a:spcPts val="2500"/>
              </a:lnSpc>
            </a:pP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Las VPN de sitio a sitio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conectan redes enteras</a:t>
            </a: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 entre sí, por ejemplo, pueden conectar la red de una </a:t>
            </a:r>
            <a:r>
              <a:rPr lang="es-ES" sz="1800" b="1" dirty="0">
                <a:latin typeface="Arial" panose="020B0604020202020204" pitchFamily="34" charset="0"/>
                <a:cs typeface="Arial" panose="020B0604020202020204" pitchFamily="34" charset="0"/>
              </a:rPr>
              <a:t>sucursal</a:t>
            </a: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 a la red de la </a:t>
            </a:r>
            <a:r>
              <a:rPr lang="es-ES" sz="1800" b="1" dirty="0">
                <a:latin typeface="Arial" panose="020B0604020202020204" pitchFamily="34" charset="0"/>
                <a:cs typeface="Arial" panose="020B0604020202020204" pitchFamily="34" charset="0"/>
              </a:rPr>
              <a:t>oficina central </a:t>
            </a: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de una empresa.</a:t>
            </a:r>
          </a:p>
          <a:p>
            <a:pPr algn="just">
              <a:lnSpc>
                <a:spcPts val="2500"/>
              </a:lnSpc>
            </a:pP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En una VPN de sitio a sitio, los hosts terminales envían y reciben tráfico a través de un “gateway” VPN. </a:t>
            </a:r>
          </a:p>
          <a:p>
            <a:pPr algn="just">
              <a:lnSpc>
                <a:spcPts val="2500"/>
              </a:lnSpc>
            </a:pP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El gateway VPN es responsable de encapsular y cifrar el tráfico saliente.</a:t>
            </a:r>
          </a:p>
        </p:txBody>
      </p:sp>
      <p:pic>
        <p:nvPicPr>
          <p:cNvPr id="4" name="Picture 3" descr="Connecting Networks - Mozilla Firefox">
            <a:extLst>
              <a:ext uri="{FF2B5EF4-FFF2-40B4-BE49-F238E27FC236}">
                <a16:creationId xmlns:a16="http://schemas.microsoft.com/office/drawing/2014/main" id="{C8E6E414-42C7-4C3D-926E-47756E01D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728" y="4133798"/>
            <a:ext cx="5519346" cy="2330188"/>
          </a:xfrm>
          <a:prstGeom prst="rect">
            <a:avLst/>
          </a:prstGeom>
        </p:spPr>
      </p:pic>
      <p:sp>
        <p:nvSpPr>
          <p:cNvPr id="3" name="Text Box 6">
            <a:extLst>
              <a:ext uri="{FF2B5EF4-FFF2-40B4-BE49-F238E27FC236}">
                <a16:creationId xmlns:a16="http://schemas.microsoft.com/office/drawing/2014/main" id="{80CE1BF1-76C2-9AE4-4AB7-8C3C2090C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388" y="332656"/>
            <a:ext cx="7539037" cy="129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VPN de sitio a sitio usando IPsec</a:t>
            </a:r>
          </a:p>
          <a:p>
            <a:pPr algn="ctr"/>
            <a:r>
              <a:rPr 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  <a:ea typeface="+mj-ea"/>
                <a:cs typeface="+mj-cs"/>
              </a:rPr>
              <a:t>Redes Privadas Virtuales (</a:t>
            </a:r>
            <a:r>
              <a:rPr lang="es-MX" sz="1800" b="1" dirty="0" err="1">
                <a:solidFill>
                  <a:schemeClr val="accent3">
                    <a:lumMod val="75000"/>
                  </a:schemeClr>
                </a:solidFill>
                <a:latin typeface="Dom Casual" charset="0"/>
                <a:ea typeface="+mj-ea"/>
                <a:cs typeface="+mj-cs"/>
              </a:rPr>
              <a:t>VPNs</a:t>
            </a:r>
            <a:r>
              <a:rPr 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  <a:ea typeface="+mj-ea"/>
                <a:cs typeface="+mj-cs"/>
              </a:rPr>
              <a:t>)</a:t>
            </a:r>
          </a:p>
          <a:p>
            <a:pPr algn="ctr"/>
            <a:endParaRPr lang="es-MX" sz="2800" b="1" dirty="0">
              <a:solidFill>
                <a:schemeClr val="accent3">
                  <a:lumMod val="75000"/>
                </a:schemeClr>
              </a:solidFill>
              <a:latin typeface="Dom Casual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5538461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418427" y="1628800"/>
            <a:ext cx="8053995" cy="2118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Una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VPN de sitio a sitio</a:t>
            </a:r>
            <a:r>
              <a:rPr lang="es-ES" sz="1800" dirty="0">
                <a:latin typeface="Arial" pitchFamily="34" charset="0"/>
                <a:cs typeface="Arial" pitchFamily="34" charset="0"/>
              </a:rPr>
              <a:t> es una VPN entre dos dispositivos y se utiliza para conectar dos sitios a través de Internet. En el siguiente diagrama, la oficina A y la oficina B están conectadas a Internet y utilizan una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VPN de sitio a sitio </a:t>
            </a:r>
            <a:r>
              <a:rPr lang="es-ES" sz="1800" dirty="0">
                <a:latin typeface="Arial" pitchFamily="34" charset="0"/>
                <a:cs typeface="Arial" pitchFamily="34" charset="0"/>
              </a:rPr>
              <a:t>entre ellas para que los dispositivos de cada oficina puedan comunicarse de forma segura entre sí. </a:t>
            </a: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8E503390-FB73-328A-BD58-65726BCEB2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497" y="394014"/>
            <a:ext cx="7539037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VPN de sitio a sitio usando IPsec</a:t>
            </a:r>
          </a:p>
          <a:p>
            <a:pPr algn="ctr"/>
            <a:r>
              <a:rPr 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  <a:ea typeface="+mj-ea"/>
                <a:cs typeface="+mj-cs"/>
              </a:rPr>
              <a:t>Redes Privadas Virtuales (VPNs)</a:t>
            </a:r>
            <a:endParaRPr lang="es-MX" sz="2800" b="1" dirty="0">
              <a:solidFill>
                <a:schemeClr val="accent3">
                  <a:lumMod val="75000"/>
                </a:schemeClr>
              </a:solidFill>
              <a:latin typeface="Dom Casual" charset="0"/>
              <a:ea typeface="+mj-ea"/>
              <a:cs typeface="+mj-cs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2987B93-891D-299B-489E-698841A1D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70949"/>
            <a:ext cx="9144000" cy="1787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57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418427" y="1628800"/>
            <a:ext cx="8053995" cy="25340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En una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VPN de sitio a sitio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, se crea un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túnel VPN 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entre los dos dispositivos encapsulando el paquete IP original con un encabezado VPN y un nuevo encabezado IP.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Cuando se utiliza IPsec,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el paquete original se cifra antes de encapsularse 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con el nuevo encabezado. Esto es lo que hace segura IPsec.</a:t>
            </a: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8E503390-FB73-328A-BD58-65726BCEB2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497" y="394014"/>
            <a:ext cx="7539037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VPN de sitio a sitio usando IPsec</a:t>
            </a:r>
          </a:p>
          <a:p>
            <a:pPr algn="ctr"/>
            <a:r>
              <a:rPr 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  <a:ea typeface="+mj-ea"/>
                <a:cs typeface="+mj-cs"/>
              </a:rPr>
              <a:t>Redes Privadas Virtuales (VPNs)</a:t>
            </a:r>
            <a:endParaRPr lang="es-MX" sz="2800" b="1" dirty="0">
              <a:solidFill>
                <a:schemeClr val="accent3">
                  <a:lumMod val="75000"/>
                </a:schemeClr>
              </a:solidFill>
              <a:latin typeface="Dom Casual" charset="0"/>
              <a:ea typeface="+mj-ea"/>
              <a:cs typeface="+mj-cs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2987B93-891D-299B-489E-698841A1D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70949"/>
            <a:ext cx="9144000" cy="1787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37641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418427" y="1628800"/>
            <a:ext cx="8053995" cy="1287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El ruteador tomará el paquete original, lo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encriptará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para que no se pueda leer, agregará un encabezado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IPsec VPN 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y un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nuevo encabezado IP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, y luego lo reenviará a través de Internet.</a:t>
            </a: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8E503390-FB73-328A-BD58-65726BCEB2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497" y="394014"/>
            <a:ext cx="7539037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VPN de sitio a sitio usando IPsec</a:t>
            </a:r>
          </a:p>
          <a:p>
            <a:pPr algn="ctr"/>
            <a:r>
              <a:rPr 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  <a:ea typeface="+mj-ea"/>
                <a:cs typeface="+mj-cs"/>
              </a:rPr>
              <a:t>Redes Privadas Virtuales (VPNs)</a:t>
            </a:r>
            <a:endParaRPr lang="es-MX" sz="2800" b="1" dirty="0">
              <a:solidFill>
                <a:schemeClr val="accent3">
                  <a:lumMod val="75000"/>
                </a:schemeClr>
              </a:solidFill>
              <a:latin typeface="Dom Casual" charset="0"/>
              <a:ea typeface="+mj-ea"/>
              <a:cs typeface="+mj-cs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2987B93-891D-299B-489E-698841A1D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70949"/>
            <a:ext cx="9144000" cy="178705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1610E7F-51DA-85B2-CFCF-E8D83D221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26" y="3359195"/>
            <a:ext cx="2705100" cy="885825"/>
          </a:xfrm>
          <a:prstGeom prst="rect">
            <a:avLst/>
          </a:prstGeom>
        </p:spPr>
      </p:pic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3D6B94BD-E720-8AE9-5856-E1C384623C83}"/>
              </a:ext>
            </a:extLst>
          </p:cNvPr>
          <p:cNvSpPr/>
          <p:nvPr/>
        </p:nvSpPr>
        <p:spPr>
          <a:xfrm>
            <a:off x="2927670" y="3586083"/>
            <a:ext cx="360040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DC1F8143-0FF7-2D08-3225-EC76E3774D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872" y="3349034"/>
            <a:ext cx="4852358" cy="911055"/>
          </a:xfrm>
          <a:prstGeom prst="rect">
            <a:avLst/>
          </a:prstGeom>
        </p:spPr>
      </p:pic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E1839872-99E1-E5D8-F8B3-E0ABD24C2B90}"/>
              </a:ext>
            </a:extLst>
          </p:cNvPr>
          <p:cNvCxnSpPr>
            <a:stCxn id="13" idx="3"/>
          </p:cNvCxnSpPr>
          <p:nvPr/>
        </p:nvCxnSpPr>
        <p:spPr>
          <a:xfrm flipV="1">
            <a:off x="8272230" y="3789040"/>
            <a:ext cx="692258" cy="15522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28517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220299" y="1429877"/>
            <a:ext cx="8600173" cy="2118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Vamos a demostrar ese proceso en el diagrama.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Hemos configurado un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túnel IPsec 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entre estos dos ruteadores.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La PC de la oficina A desea enviar tráfico a la PC de la oficina B, por lo que primero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envía los datos sin cifrar 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a su puerta de enlace predeterminada, el ruteador. </a:t>
            </a: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8E503390-FB73-328A-BD58-65726BCEB2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337630"/>
            <a:ext cx="7539037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VPN de sitio a sitio usando IPsec</a:t>
            </a:r>
          </a:p>
          <a:p>
            <a:pPr algn="ctr"/>
            <a:r>
              <a:rPr 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  <a:ea typeface="+mj-ea"/>
                <a:cs typeface="+mj-cs"/>
              </a:rPr>
              <a:t>Redes Privadas Virtuales (VPNs)</a:t>
            </a:r>
            <a:endParaRPr lang="es-MX" sz="2800" b="1" dirty="0">
              <a:solidFill>
                <a:schemeClr val="accent3">
                  <a:lumMod val="75000"/>
                </a:schemeClr>
              </a:solidFill>
              <a:latin typeface="Dom Casual" charset="0"/>
              <a:ea typeface="+mj-ea"/>
              <a:cs typeface="+mj-cs"/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9945B7A2-EB09-B397-20AD-16BBB67991FC}"/>
              </a:ext>
            </a:extLst>
          </p:cNvPr>
          <p:cNvGrpSpPr/>
          <p:nvPr/>
        </p:nvGrpSpPr>
        <p:grpSpPr>
          <a:xfrm>
            <a:off x="135326" y="3645024"/>
            <a:ext cx="8829162" cy="911055"/>
            <a:chOff x="135326" y="3349034"/>
            <a:chExt cx="8829162" cy="911055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91610E7F-51DA-85B2-CFCF-E8D83D221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5326" y="3359195"/>
              <a:ext cx="2705100" cy="885825"/>
            </a:xfrm>
            <a:prstGeom prst="rect">
              <a:avLst/>
            </a:prstGeom>
          </p:spPr>
        </p:pic>
        <p:sp>
          <p:nvSpPr>
            <p:cNvPr id="6" name="Flecha: a la derecha 5">
              <a:extLst>
                <a:ext uri="{FF2B5EF4-FFF2-40B4-BE49-F238E27FC236}">
                  <a16:creationId xmlns:a16="http://schemas.microsoft.com/office/drawing/2014/main" id="{3D6B94BD-E720-8AE9-5856-E1C384623C83}"/>
                </a:ext>
              </a:extLst>
            </p:cNvPr>
            <p:cNvSpPr/>
            <p:nvPr/>
          </p:nvSpPr>
          <p:spPr>
            <a:xfrm>
              <a:off x="2927670" y="3586083"/>
              <a:ext cx="360040" cy="43204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DC1F8143-0FF7-2D08-3225-EC76E3774D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19872" y="3349034"/>
              <a:ext cx="4852358" cy="911055"/>
            </a:xfrm>
            <a:prstGeom prst="rect">
              <a:avLst/>
            </a:prstGeom>
          </p:spPr>
        </p:pic>
        <p:cxnSp>
          <p:nvCxnSpPr>
            <p:cNvPr id="17" name="Conector recto de flecha 16">
              <a:extLst>
                <a:ext uri="{FF2B5EF4-FFF2-40B4-BE49-F238E27FC236}">
                  <a16:creationId xmlns:a16="http://schemas.microsoft.com/office/drawing/2014/main" id="{E1839872-99E1-E5D8-F8B3-E0ABD24C2B90}"/>
                </a:ext>
              </a:extLst>
            </p:cNvPr>
            <p:cNvCxnSpPr>
              <a:stCxn id="13" idx="3"/>
            </p:cNvCxnSpPr>
            <p:nvPr/>
          </p:nvCxnSpPr>
          <p:spPr>
            <a:xfrm flipV="1">
              <a:off x="8272230" y="3789040"/>
              <a:ext cx="692258" cy="1552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Imagen 6">
            <a:extLst>
              <a:ext uri="{FF2B5EF4-FFF2-40B4-BE49-F238E27FC236}">
                <a16:creationId xmlns:a16="http://schemas.microsoft.com/office/drawing/2014/main" id="{D5B47F2C-0627-52CE-365B-811077E630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59765"/>
            <a:ext cx="9144000" cy="179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91573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105804" y="1665325"/>
            <a:ext cx="8600173" cy="872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El router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cifra los datos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, agrega un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encabezado VPN 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y un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nuevo encabezado IP</a:t>
            </a:r>
            <a:r>
              <a:rPr lang="es-ES" sz="1800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8E503390-FB73-328A-BD58-65726BCEB2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337630"/>
            <a:ext cx="7539037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VPN de sitio a sitio usando IPsec</a:t>
            </a:r>
          </a:p>
          <a:p>
            <a:pPr algn="ctr"/>
            <a:r>
              <a:rPr 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  <a:ea typeface="+mj-ea"/>
                <a:cs typeface="+mj-cs"/>
              </a:rPr>
              <a:t>Redes Privadas Virtuales (VPNs)</a:t>
            </a:r>
            <a:endParaRPr lang="es-MX" sz="2800" b="1" dirty="0">
              <a:solidFill>
                <a:schemeClr val="accent3">
                  <a:lumMod val="75000"/>
                </a:schemeClr>
              </a:solidFill>
              <a:latin typeface="Dom Casual" charset="0"/>
              <a:ea typeface="+mj-ea"/>
              <a:cs typeface="+mj-cs"/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9945B7A2-EB09-B397-20AD-16BBB67991FC}"/>
              </a:ext>
            </a:extLst>
          </p:cNvPr>
          <p:cNvGrpSpPr/>
          <p:nvPr/>
        </p:nvGrpSpPr>
        <p:grpSpPr>
          <a:xfrm>
            <a:off x="105804" y="2973472"/>
            <a:ext cx="8829162" cy="911055"/>
            <a:chOff x="135326" y="3349034"/>
            <a:chExt cx="8829162" cy="911055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91610E7F-51DA-85B2-CFCF-E8D83D221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5326" y="3359195"/>
              <a:ext cx="2705100" cy="885825"/>
            </a:xfrm>
            <a:prstGeom prst="rect">
              <a:avLst/>
            </a:prstGeom>
          </p:spPr>
        </p:pic>
        <p:sp>
          <p:nvSpPr>
            <p:cNvPr id="6" name="Flecha: a la derecha 5">
              <a:extLst>
                <a:ext uri="{FF2B5EF4-FFF2-40B4-BE49-F238E27FC236}">
                  <a16:creationId xmlns:a16="http://schemas.microsoft.com/office/drawing/2014/main" id="{3D6B94BD-E720-8AE9-5856-E1C384623C83}"/>
                </a:ext>
              </a:extLst>
            </p:cNvPr>
            <p:cNvSpPr/>
            <p:nvPr/>
          </p:nvSpPr>
          <p:spPr>
            <a:xfrm>
              <a:off x="2927670" y="3586083"/>
              <a:ext cx="360040" cy="43204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DC1F8143-0FF7-2D08-3225-EC76E3774D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19872" y="3349034"/>
              <a:ext cx="4852358" cy="911055"/>
            </a:xfrm>
            <a:prstGeom prst="rect">
              <a:avLst/>
            </a:prstGeom>
          </p:spPr>
        </p:pic>
        <p:cxnSp>
          <p:nvCxnSpPr>
            <p:cNvPr id="17" name="Conector recto de flecha 16">
              <a:extLst>
                <a:ext uri="{FF2B5EF4-FFF2-40B4-BE49-F238E27FC236}">
                  <a16:creationId xmlns:a16="http://schemas.microsoft.com/office/drawing/2014/main" id="{E1839872-99E1-E5D8-F8B3-E0ABD24C2B90}"/>
                </a:ext>
              </a:extLst>
            </p:cNvPr>
            <p:cNvCxnSpPr>
              <a:stCxn id="13" idx="3"/>
            </p:cNvCxnSpPr>
            <p:nvPr/>
          </p:nvCxnSpPr>
          <p:spPr>
            <a:xfrm flipV="1">
              <a:off x="8272230" y="3789040"/>
              <a:ext cx="692258" cy="1552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C9F88002-A063-331A-BA69-579C958BED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664026"/>
            <a:ext cx="9144000" cy="218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7318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107500" y="1556792"/>
            <a:ext cx="8600173" cy="872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Luego, los datos cifrados en el nuevo paquete se envían a través de Internet al otro extremo del túnel. </a:t>
            </a:r>
            <a:endParaRPr lang="es-ES" sz="1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8E503390-FB73-328A-BD58-65726BCEB2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337630"/>
            <a:ext cx="7539037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VPN de sitio a sitio usando IPsec</a:t>
            </a:r>
          </a:p>
          <a:p>
            <a:pPr algn="ctr"/>
            <a:r>
              <a:rPr 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  <a:ea typeface="+mj-ea"/>
                <a:cs typeface="+mj-cs"/>
              </a:rPr>
              <a:t>Redes Privadas Virtuales (VPNs)</a:t>
            </a:r>
            <a:endParaRPr lang="es-MX" sz="2800" b="1" dirty="0">
              <a:solidFill>
                <a:schemeClr val="accent3">
                  <a:lumMod val="75000"/>
                </a:schemeClr>
              </a:solidFill>
              <a:latin typeface="Dom Casual" charset="0"/>
              <a:ea typeface="+mj-ea"/>
              <a:cs typeface="+mj-cs"/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9945B7A2-EB09-B397-20AD-16BBB67991FC}"/>
              </a:ext>
            </a:extLst>
          </p:cNvPr>
          <p:cNvGrpSpPr/>
          <p:nvPr/>
        </p:nvGrpSpPr>
        <p:grpSpPr>
          <a:xfrm>
            <a:off x="157419" y="2858114"/>
            <a:ext cx="8829162" cy="911055"/>
            <a:chOff x="135326" y="3349034"/>
            <a:chExt cx="8829162" cy="911055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91610E7F-51DA-85B2-CFCF-E8D83D221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5326" y="3359195"/>
              <a:ext cx="2705100" cy="885825"/>
            </a:xfrm>
            <a:prstGeom prst="rect">
              <a:avLst/>
            </a:prstGeom>
          </p:spPr>
        </p:pic>
        <p:sp>
          <p:nvSpPr>
            <p:cNvPr id="6" name="Flecha: a la derecha 5">
              <a:extLst>
                <a:ext uri="{FF2B5EF4-FFF2-40B4-BE49-F238E27FC236}">
                  <a16:creationId xmlns:a16="http://schemas.microsoft.com/office/drawing/2014/main" id="{3D6B94BD-E720-8AE9-5856-E1C384623C83}"/>
                </a:ext>
              </a:extLst>
            </p:cNvPr>
            <p:cNvSpPr/>
            <p:nvPr/>
          </p:nvSpPr>
          <p:spPr>
            <a:xfrm>
              <a:off x="2927670" y="3586083"/>
              <a:ext cx="360040" cy="43204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DC1F8143-0FF7-2D08-3225-EC76E3774D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19872" y="3349034"/>
              <a:ext cx="4852358" cy="911055"/>
            </a:xfrm>
            <a:prstGeom prst="rect">
              <a:avLst/>
            </a:prstGeom>
          </p:spPr>
        </p:pic>
        <p:cxnSp>
          <p:nvCxnSpPr>
            <p:cNvPr id="17" name="Conector recto de flecha 16">
              <a:extLst>
                <a:ext uri="{FF2B5EF4-FFF2-40B4-BE49-F238E27FC236}">
                  <a16:creationId xmlns:a16="http://schemas.microsoft.com/office/drawing/2014/main" id="{E1839872-99E1-E5D8-F8B3-E0ABD24C2B90}"/>
                </a:ext>
              </a:extLst>
            </p:cNvPr>
            <p:cNvCxnSpPr>
              <a:stCxn id="13" idx="3"/>
            </p:cNvCxnSpPr>
            <p:nvPr/>
          </p:nvCxnSpPr>
          <p:spPr>
            <a:xfrm flipV="1">
              <a:off x="8272230" y="3789040"/>
              <a:ext cx="692258" cy="1552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4CB4082-45D0-41AA-1654-1FC8508F9439}"/>
              </a:ext>
            </a:extLst>
          </p:cNvPr>
          <p:cNvGrpSpPr/>
          <p:nvPr/>
        </p:nvGrpSpPr>
        <p:grpSpPr>
          <a:xfrm>
            <a:off x="11521" y="3967217"/>
            <a:ext cx="9144000" cy="2345936"/>
            <a:chOff x="6694" y="4681341"/>
            <a:chExt cx="9144000" cy="2345936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F933DBBE-DBC5-20AB-2409-8D7938D463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94" y="4681341"/>
              <a:ext cx="9144000" cy="2176659"/>
            </a:xfrm>
            <a:prstGeom prst="rect">
              <a:avLst/>
            </a:prstGeom>
          </p:spPr>
        </p:pic>
        <p:sp>
          <p:nvSpPr>
            <p:cNvPr id="2" name="CuadroTexto 1">
              <a:extLst>
                <a:ext uri="{FF2B5EF4-FFF2-40B4-BE49-F238E27FC236}">
                  <a16:creationId xmlns:a16="http://schemas.microsoft.com/office/drawing/2014/main" id="{BFDE8AB1-0CAD-4EAA-C9CD-3ED7F482FFE3}"/>
                </a:ext>
              </a:extLst>
            </p:cNvPr>
            <p:cNvSpPr txBox="1"/>
            <p:nvPr/>
          </p:nvSpPr>
          <p:spPr>
            <a:xfrm>
              <a:off x="3703077" y="6688723"/>
              <a:ext cx="1656184" cy="3385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600" b="1" dirty="0"/>
                <a:t>Encrypted 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41853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107500" y="1731580"/>
            <a:ext cx="8600173" cy="456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El router receptor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descifra los datos 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y los envía a la PC de destino. </a:t>
            </a:r>
            <a:endParaRPr lang="es-ES" sz="1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8E503390-FB73-328A-BD58-65726BCEB2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337630"/>
            <a:ext cx="7539037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VPN de sitio a sitio usando IPsec</a:t>
            </a:r>
          </a:p>
          <a:p>
            <a:pPr algn="ctr"/>
            <a:r>
              <a:rPr 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  <a:ea typeface="+mj-ea"/>
                <a:cs typeface="+mj-cs"/>
              </a:rPr>
              <a:t>Redes Privadas Virtuales (VPNs)</a:t>
            </a:r>
            <a:endParaRPr lang="es-MX" sz="2800" b="1" dirty="0">
              <a:solidFill>
                <a:schemeClr val="accent3">
                  <a:lumMod val="75000"/>
                </a:schemeClr>
              </a:solidFill>
              <a:latin typeface="Dom Casual" charset="0"/>
              <a:ea typeface="+mj-ea"/>
              <a:cs typeface="+mj-cs"/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9945B7A2-EB09-B397-20AD-16BBB67991FC}"/>
              </a:ext>
            </a:extLst>
          </p:cNvPr>
          <p:cNvGrpSpPr/>
          <p:nvPr/>
        </p:nvGrpSpPr>
        <p:grpSpPr>
          <a:xfrm>
            <a:off x="180462" y="2601792"/>
            <a:ext cx="8829162" cy="911055"/>
            <a:chOff x="135326" y="3349034"/>
            <a:chExt cx="8829162" cy="911055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91610E7F-51DA-85B2-CFCF-E8D83D221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5326" y="3359195"/>
              <a:ext cx="2705100" cy="885825"/>
            </a:xfrm>
            <a:prstGeom prst="rect">
              <a:avLst/>
            </a:prstGeom>
          </p:spPr>
        </p:pic>
        <p:sp>
          <p:nvSpPr>
            <p:cNvPr id="6" name="Flecha: a la derecha 5">
              <a:extLst>
                <a:ext uri="{FF2B5EF4-FFF2-40B4-BE49-F238E27FC236}">
                  <a16:creationId xmlns:a16="http://schemas.microsoft.com/office/drawing/2014/main" id="{3D6B94BD-E720-8AE9-5856-E1C384623C83}"/>
                </a:ext>
              </a:extLst>
            </p:cNvPr>
            <p:cNvSpPr/>
            <p:nvPr/>
          </p:nvSpPr>
          <p:spPr>
            <a:xfrm>
              <a:off x="2927670" y="3586083"/>
              <a:ext cx="360040" cy="43204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DC1F8143-0FF7-2D08-3225-EC76E3774D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19872" y="3349034"/>
              <a:ext cx="4852358" cy="911055"/>
            </a:xfrm>
            <a:prstGeom prst="rect">
              <a:avLst/>
            </a:prstGeom>
          </p:spPr>
        </p:pic>
        <p:cxnSp>
          <p:nvCxnSpPr>
            <p:cNvPr id="17" name="Conector recto de flecha 16">
              <a:extLst>
                <a:ext uri="{FF2B5EF4-FFF2-40B4-BE49-F238E27FC236}">
                  <a16:creationId xmlns:a16="http://schemas.microsoft.com/office/drawing/2014/main" id="{E1839872-99E1-E5D8-F8B3-E0ABD24C2B90}"/>
                </a:ext>
              </a:extLst>
            </p:cNvPr>
            <p:cNvCxnSpPr>
              <a:stCxn id="13" idx="3"/>
            </p:cNvCxnSpPr>
            <p:nvPr/>
          </p:nvCxnSpPr>
          <p:spPr>
            <a:xfrm flipV="1">
              <a:off x="8272230" y="3789040"/>
              <a:ext cx="692258" cy="1552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08D6FA6-4EFE-B502-E319-5D4248F42A5E}"/>
              </a:ext>
            </a:extLst>
          </p:cNvPr>
          <p:cNvGrpSpPr/>
          <p:nvPr/>
        </p:nvGrpSpPr>
        <p:grpSpPr>
          <a:xfrm>
            <a:off x="7140" y="3911003"/>
            <a:ext cx="9144000" cy="2335764"/>
            <a:chOff x="23043" y="4046031"/>
            <a:chExt cx="9144000" cy="2335764"/>
          </a:xfrm>
        </p:grpSpPr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329F5A9C-904D-AC28-AEA2-EC23E62E44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043" y="4046031"/>
              <a:ext cx="9144000" cy="2166487"/>
            </a:xfrm>
            <a:prstGeom prst="rect">
              <a:avLst/>
            </a:prstGeom>
          </p:spPr>
        </p:pic>
        <p:sp>
          <p:nvSpPr>
            <p:cNvPr id="2" name="CuadroTexto 1">
              <a:extLst>
                <a:ext uri="{FF2B5EF4-FFF2-40B4-BE49-F238E27FC236}">
                  <a16:creationId xmlns:a16="http://schemas.microsoft.com/office/drawing/2014/main" id="{BFDE8AB1-0CAD-4EAA-C9CD-3ED7F482FFE3}"/>
                </a:ext>
              </a:extLst>
            </p:cNvPr>
            <p:cNvSpPr txBox="1"/>
            <p:nvPr/>
          </p:nvSpPr>
          <p:spPr>
            <a:xfrm>
              <a:off x="3635896" y="6043241"/>
              <a:ext cx="1656184" cy="3385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600" b="1" dirty="0"/>
                <a:t>Encrypted 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38523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271913" y="1248649"/>
            <a:ext cx="8600173" cy="1703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Resumamos este proceso: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ES" sz="1800" dirty="0">
                <a:solidFill>
                  <a:schemeClr val="bg2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Cuando el ruteador recibe un paquete que debe enviarse a través de la VPN,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combina el paquete original y una clave de sesión (clave de cifrado) </a:t>
            </a:r>
            <a:r>
              <a:rPr lang="es-ES" sz="1800" dirty="0">
                <a:solidFill>
                  <a:schemeClr val="bg2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y los ejecuta a través de una fórmula de cifrado.</a:t>
            </a: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8E503390-FB73-328A-BD58-65726BCEB2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186467"/>
            <a:ext cx="7539037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VPN de sitio a sitio usando IPsec</a:t>
            </a:r>
          </a:p>
          <a:p>
            <a:pPr algn="ctr"/>
            <a:r>
              <a:rPr 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  <a:ea typeface="+mj-ea"/>
                <a:cs typeface="+mj-cs"/>
              </a:rPr>
              <a:t>Redes Privadas Virtuales (VPNs)</a:t>
            </a:r>
            <a:endParaRPr lang="es-MX" sz="2800" b="1" dirty="0">
              <a:solidFill>
                <a:schemeClr val="accent3">
                  <a:lumMod val="75000"/>
                </a:schemeClr>
              </a:solidFill>
              <a:latin typeface="Dom Casual" charset="0"/>
              <a:ea typeface="+mj-ea"/>
              <a:cs typeface="+mj-cs"/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9945B7A2-EB09-B397-20AD-16BBB67991FC}"/>
              </a:ext>
            </a:extLst>
          </p:cNvPr>
          <p:cNvGrpSpPr/>
          <p:nvPr/>
        </p:nvGrpSpPr>
        <p:grpSpPr>
          <a:xfrm>
            <a:off x="259855" y="3089301"/>
            <a:ext cx="8829162" cy="911055"/>
            <a:chOff x="135326" y="3349034"/>
            <a:chExt cx="8829162" cy="911055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91610E7F-51DA-85B2-CFCF-E8D83D221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5326" y="3359195"/>
              <a:ext cx="2705100" cy="885825"/>
            </a:xfrm>
            <a:prstGeom prst="rect">
              <a:avLst/>
            </a:prstGeom>
          </p:spPr>
        </p:pic>
        <p:sp>
          <p:nvSpPr>
            <p:cNvPr id="6" name="Flecha: a la derecha 5">
              <a:extLst>
                <a:ext uri="{FF2B5EF4-FFF2-40B4-BE49-F238E27FC236}">
                  <a16:creationId xmlns:a16="http://schemas.microsoft.com/office/drawing/2014/main" id="{3D6B94BD-E720-8AE9-5856-E1C384623C83}"/>
                </a:ext>
              </a:extLst>
            </p:cNvPr>
            <p:cNvSpPr/>
            <p:nvPr/>
          </p:nvSpPr>
          <p:spPr>
            <a:xfrm>
              <a:off x="2927670" y="3586083"/>
              <a:ext cx="360040" cy="43204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DC1F8143-0FF7-2D08-3225-EC76E3774D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19872" y="3349034"/>
              <a:ext cx="4852358" cy="911055"/>
            </a:xfrm>
            <a:prstGeom prst="rect">
              <a:avLst/>
            </a:prstGeom>
          </p:spPr>
        </p:pic>
        <p:cxnSp>
          <p:nvCxnSpPr>
            <p:cNvPr id="17" name="Conector recto de flecha 16">
              <a:extLst>
                <a:ext uri="{FF2B5EF4-FFF2-40B4-BE49-F238E27FC236}">
                  <a16:creationId xmlns:a16="http://schemas.microsoft.com/office/drawing/2014/main" id="{E1839872-99E1-E5D8-F8B3-E0ABD24C2B90}"/>
                </a:ext>
              </a:extLst>
            </p:cNvPr>
            <p:cNvCxnSpPr>
              <a:stCxn id="13" idx="3"/>
            </p:cNvCxnSpPr>
            <p:nvPr/>
          </p:nvCxnSpPr>
          <p:spPr>
            <a:xfrm flipV="1">
              <a:off x="8272230" y="3789040"/>
              <a:ext cx="692258" cy="1552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07CD5E0-9AFA-2EE2-7763-298A8703EAD0}"/>
              </a:ext>
            </a:extLst>
          </p:cNvPr>
          <p:cNvGrpSpPr/>
          <p:nvPr/>
        </p:nvGrpSpPr>
        <p:grpSpPr>
          <a:xfrm>
            <a:off x="0" y="4437112"/>
            <a:ext cx="9144000" cy="2335764"/>
            <a:chOff x="0" y="4437112"/>
            <a:chExt cx="9144000" cy="2335764"/>
          </a:xfrm>
        </p:grpSpPr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329F5A9C-904D-AC28-AEA2-EC23E62E44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4437112"/>
              <a:ext cx="9144000" cy="2166487"/>
            </a:xfrm>
            <a:prstGeom prst="rect">
              <a:avLst/>
            </a:prstGeom>
          </p:spPr>
        </p:pic>
        <p:sp>
          <p:nvSpPr>
            <p:cNvPr id="2" name="CuadroTexto 1">
              <a:extLst>
                <a:ext uri="{FF2B5EF4-FFF2-40B4-BE49-F238E27FC236}">
                  <a16:creationId xmlns:a16="http://schemas.microsoft.com/office/drawing/2014/main" id="{BFDE8AB1-0CAD-4EAA-C9CD-3ED7F482FFE3}"/>
                </a:ext>
              </a:extLst>
            </p:cNvPr>
            <p:cNvSpPr txBox="1"/>
            <p:nvPr/>
          </p:nvSpPr>
          <p:spPr>
            <a:xfrm>
              <a:off x="3635896" y="6434322"/>
              <a:ext cx="1656184" cy="3385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600" b="1" dirty="0"/>
                <a:t>Encrypted 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975947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271913" y="1310316"/>
            <a:ext cx="8600173" cy="872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algn="just">
              <a:lnSpc>
                <a:spcPct val="150000"/>
              </a:lnSpc>
              <a:buFont typeface="+mj-lt"/>
              <a:buAutoNum type="arabicPeriod" startAt="2"/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El dispositivo de envío (el ruteador)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encapsula el paquete cifrado con un encabezado de VPN y un nuevo encabezado de IP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  <a:endParaRPr lang="es-ES" sz="1800" dirty="0">
              <a:solidFill>
                <a:schemeClr val="accent6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8E503390-FB73-328A-BD58-65726BCEB2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186467"/>
            <a:ext cx="7539037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VPN de sitio a sitio usando IPsec</a:t>
            </a:r>
          </a:p>
          <a:p>
            <a:pPr algn="ctr"/>
            <a:r>
              <a:rPr 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  <a:ea typeface="+mj-ea"/>
                <a:cs typeface="+mj-cs"/>
              </a:rPr>
              <a:t>Redes Privadas Virtuales (VPNs)</a:t>
            </a:r>
            <a:endParaRPr lang="es-MX" sz="2800" b="1" dirty="0">
              <a:solidFill>
                <a:schemeClr val="accent3">
                  <a:lumMod val="75000"/>
                </a:schemeClr>
              </a:solidFill>
              <a:latin typeface="Dom Casual" charset="0"/>
              <a:ea typeface="+mj-ea"/>
              <a:cs typeface="+mj-cs"/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9945B7A2-EB09-B397-20AD-16BBB67991FC}"/>
              </a:ext>
            </a:extLst>
          </p:cNvPr>
          <p:cNvGrpSpPr/>
          <p:nvPr/>
        </p:nvGrpSpPr>
        <p:grpSpPr>
          <a:xfrm>
            <a:off x="271432" y="2505486"/>
            <a:ext cx="8829162" cy="911055"/>
            <a:chOff x="135326" y="3349034"/>
            <a:chExt cx="8829162" cy="911055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91610E7F-51DA-85B2-CFCF-E8D83D221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5326" y="3359195"/>
              <a:ext cx="2705100" cy="885825"/>
            </a:xfrm>
            <a:prstGeom prst="rect">
              <a:avLst/>
            </a:prstGeom>
          </p:spPr>
        </p:pic>
        <p:sp>
          <p:nvSpPr>
            <p:cNvPr id="6" name="Flecha: a la derecha 5">
              <a:extLst>
                <a:ext uri="{FF2B5EF4-FFF2-40B4-BE49-F238E27FC236}">
                  <a16:creationId xmlns:a16="http://schemas.microsoft.com/office/drawing/2014/main" id="{3D6B94BD-E720-8AE9-5856-E1C384623C83}"/>
                </a:ext>
              </a:extLst>
            </p:cNvPr>
            <p:cNvSpPr/>
            <p:nvPr/>
          </p:nvSpPr>
          <p:spPr>
            <a:xfrm>
              <a:off x="2927670" y="3586083"/>
              <a:ext cx="360040" cy="43204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DC1F8143-0FF7-2D08-3225-EC76E3774D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19872" y="3349034"/>
              <a:ext cx="4852358" cy="911055"/>
            </a:xfrm>
            <a:prstGeom prst="rect">
              <a:avLst/>
            </a:prstGeom>
          </p:spPr>
        </p:pic>
        <p:cxnSp>
          <p:nvCxnSpPr>
            <p:cNvPr id="17" name="Conector recto de flecha 16">
              <a:extLst>
                <a:ext uri="{FF2B5EF4-FFF2-40B4-BE49-F238E27FC236}">
                  <a16:creationId xmlns:a16="http://schemas.microsoft.com/office/drawing/2014/main" id="{E1839872-99E1-E5D8-F8B3-E0ABD24C2B90}"/>
                </a:ext>
              </a:extLst>
            </p:cNvPr>
            <p:cNvCxnSpPr>
              <a:stCxn id="13" idx="3"/>
            </p:cNvCxnSpPr>
            <p:nvPr/>
          </p:nvCxnSpPr>
          <p:spPr>
            <a:xfrm flipV="1">
              <a:off x="8272230" y="3789040"/>
              <a:ext cx="692258" cy="1552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A5E0D0B-F1A0-940E-4947-D39E093B0CF7}"/>
              </a:ext>
            </a:extLst>
          </p:cNvPr>
          <p:cNvGrpSpPr/>
          <p:nvPr/>
        </p:nvGrpSpPr>
        <p:grpSpPr>
          <a:xfrm>
            <a:off x="0" y="4015329"/>
            <a:ext cx="9144000" cy="2335764"/>
            <a:chOff x="0" y="4015329"/>
            <a:chExt cx="9144000" cy="2335764"/>
          </a:xfrm>
        </p:grpSpPr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329F5A9C-904D-AC28-AEA2-EC23E62E44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4015329"/>
              <a:ext cx="9144000" cy="2166487"/>
            </a:xfrm>
            <a:prstGeom prst="rect">
              <a:avLst/>
            </a:prstGeom>
          </p:spPr>
        </p:pic>
        <p:sp>
          <p:nvSpPr>
            <p:cNvPr id="2" name="CuadroTexto 1">
              <a:extLst>
                <a:ext uri="{FF2B5EF4-FFF2-40B4-BE49-F238E27FC236}">
                  <a16:creationId xmlns:a16="http://schemas.microsoft.com/office/drawing/2014/main" id="{BFDE8AB1-0CAD-4EAA-C9CD-3ED7F482FFE3}"/>
                </a:ext>
              </a:extLst>
            </p:cNvPr>
            <p:cNvSpPr txBox="1"/>
            <p:nvPr/>
          </p:nvSpPr>
          <p:spPr>
            <a:xfrm>
              <a:off x="3635896" y="6012539"/>
              <a:ext cx="1656184" cy="3385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600" b="1" dirty="0"/>
                <a:t>Encrypted 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13909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271913" y="1412776"/>
            <a:ext cx="8600173" cy="294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algn="just">
              <a:lnSpc>
                <a:spcPct val="150000"/>
              </a:lnSpc>
              <a:buFont typeface="+mj-lt"/>
              <a:buAutoNum type="arabicPeriod" startAt="3"/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El dispositivo emisor (el ruteador) envía el nuevo paquete al dispositivo del otro lado del túnel, el ruteador receptor.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 startAt="3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El ruteador receptor descifra los datos para obtener el paquete original y luego reenvía el paquete original a su destino. </a:t>
            </a:r>
          </a:p>
          <a:p>
            <a:pPr algn="just">
              <a:lnSpc>
                <a:spcPct val="150000"/>
              </a:lnSpc>
            </a:pPr>
            <a:r>
              <a:rPr lang="es-ES" sz="1800" b="1" dirty="0">
                <a:latin typeface="Arial" pitchFamily="34" charset="0"/>
                <a:cs typeface="Arial" pitchFamily="34" charset="0"/>
              </a:rPr>
              <a:t>Nota: VPN de sitio a sitio, se forma un túnel solo entre dos puntos finales del túnel, por ejemplo, los dos ruteadores conectados a Internet.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 startAt="3"/>
            </a:pPr>
            <a:endParaRPr lang="es-ES" sz="1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8E503390-FB73-328A-BD58-65726BCEB2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186467"/>
            <a:ext cx="7539037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VPN de sitio a sitio usando IPsec</a:t>
            </a:r>
          </a:p>
          <a:p>
            <a:pPr algn="ctr"/>
            <a:r>
              <a:rPr 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  <a:ea typeface="+mj-ea"/>
                <a:cs typeface="+mj-cs"/>
              </a:rPr>
              <a:t>Redes Privadas Virtuales (VPNs)</a:t>
            </a:r>
            <a:endParaRPr lang="es-MX" sz="2800" b="1" dirty="0">
              <a:solidFill>
                <a:schemeClr val="accent3">
                  <a:lumMod val="75000"/>
                </a:schemeClr>
              </a:solidFill>
              <a:latin typeface="Dom Casual" charset="0"/>
              <a:ea typeface="+mj-ea"/>
              <a:cs typeface="+mj-cs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29F5A9C-904D-AC28-AEA2-EC23E62E4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14846"/>
            <a:ext cx="9144000" cy="2166487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BFDE8AB1-0CAD-4EAA-C9CD-3ED7F482FFE3}"/>
              </a:ext>
            </a:extLst>
          </p:cNvPr>
          <p:cNvSpPr txBox="1"/>
          <p:nvPr/>
        </p:nvSpPr>
        <p:spPr>
          <a:xfrm>
            <a:off x="3635896" y="6181816"/>
            <a:ext cx="1656184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/>
              <a:t>Encrypted data</a:t>
            </a:r>
          </a:p>
        </p:txBody>
      </p:sp>
    </p:spTree>
    <p:extLst>
      <p:ext uri="{BB962C8B-B14F-4D97-AF65-F5344CB8AC3E}">
        <p14:creationId xmlns:p14="http://schemas.microsoft.com/office/powerpoint/2010/main" val="35071873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2980</TotalTime>
  <Words>1547</Words>
  <Application>Microsoft Office PowerPoint</Application>
  <PresentationFormat>On-screen Show (4:3)</PresentationFormat>
  <Paragraphs>129</Paragraphs>
  <Slides>27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-apple-system</vt:lpstr>
      <vt:lpstr>Arial</vt:lpstr>
      <vt:lpstr>Calibri</vt:lpstr>
      <vt:lpstr>Dom Casual</vt:lpstr>
      <vt:lpstr>Wingdings</vt:lpstr>
      <vt:lpstr>ZapfHumnst BT</vt:lpstr>
      <vt:lpstr>Tema de Office</vt:lpstr>
      <vt:lpstr>TC 3003B Implementación de redes de área amplia</vt:lpstr>
      <vt:lpstr>PowerPoint Presentation</vt:lpstr>
      <vt:lpstr>PowerPoint Presentation</vt:lpstr>
      <vt:lpstr>Redes Privadas Virtuales (VPN = Virtual Private Network)</vt:lpstr>
      <vt:lpstr>Redes Privadas Virtuales (VPN = Virtual Private Network)</vt:lpstr>
      <vt:lpstr>Redes Privadas Virtuales (VPN = Virtual Private Network)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 2022 Interconexión de redes</dc:title>
  <dc:creator>Lizethe Pérez Fuertes</dc:creator>
  <cp:lastModifiedBy>Lizethe Pérez Fuertes</cp:lastModifiedBy>
  <cp:revision>26</cp:revision>
  <dcterms:created xsi:type="dcterms:W3CDTF">2021-02-08T03:07:42Z</dcterms:created>
  <dcterms:modified xsi:type="dcterms:W3CDTF">2025-05-15T21:50:45Z</dcterms:modified>
</cp:coreProperties>
</file>