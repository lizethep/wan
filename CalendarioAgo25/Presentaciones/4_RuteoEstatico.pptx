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17"/>
  </p:notesMasterIdLst>
  <p:handoutMasterIdLst>
    <p:handoutMasterId r:id="rId18"/>
  </p:handoutMasterIdLst>
  <p:sldIdLst>
    <p:sldId id="500" r:id="rId3"/>
    <p:sldId id="912" r:id="rId4"/>
    <p:sldId id="913" r:id="rId5"/>
    <p:sldId id="998" r:id="rId6"/>
    <p:sldId id="999" r:id="rId7"/>
    <p:sldId id="1001" r:id="rId8"/>
    <p:sldId id="1002" r:id="rId9"/>
    <p:sldId id="1003" r:id="rId10"/>
    <p:sldId id="1004" r:id="rId11"/>
    <p:sldId id="995" r:id="rId12"/>
    <p:sldId id="1005" r:id="rId13"/>
    <p:sldId id="1006" r:id="rId14"/>
    <p:sldId id="1007" r:id="rId15"/>
    <p:sldId id="1008" r:id="rId16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ne Gibbons" initials="JG" lastIdx="12" clrIdx="0"/>
  <p:cmAuthor id="1" name="Rodrigo Floriano" initials="RF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C0C0C4"/>
    <a:srgbClr val="678DC5"/>
    <a:srgbClr val="3E67A4"/>
    <a:srgbClr val="3E8DC5"/>
    <a:srgbClr val="5F5F65"/>
    <a:srgbClr val="7E7E86"/>
    <a:srgbClr val="FFFFFF"/>
    <a:srgbClr val="8E8E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9525" autoAdjust="0"/>
  </p:normalViewPr>
  <p:slideViewPr>
    <p:cSldViewPr snapToGrid="0">
      <p:cViewPr varScale="1">
        <p:scale>
          <a:sx n="60" d="100"/>
          <a:sy n="60" d="100"/>
        </p:scale>
        <p:origin x="1324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-840" y="-78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0.xml"/><Relationship Id="rId3" Type="http://schemas.openxmlformats.org/officeDocument/2006/relationships/slide" Target="slides/slide5.xml"/><Relationship Id="rId7" Type="http://schemas.openxmlformats.org/officeDocument/2006/relationships/slide" Target="slides/slide9.xml"/><Relationship Id="rId12" Type="http://schemas.openxmlformats.org/officeDocument/2006/relationships/slide" Target="slides/slide14.xml"/><Relationship Id="rId2" Type="http://schemas.openxmlformats.org/officeDocument/2006/relationships/slide" Target="slides/slide4.xml"/><Relationship Id="rId1" Type="http://schemas.openxmlformats.org/officeDocument/2006/relationships/slide" Target="slides/slide2.xml"/><Relationship Id="rId6" Type="http://schemas.openxmlformats.org/officeDocument/2006/relationships/slide" Target="slides/slide8.xml"/><Relationship Id="rId11" Type="http://schemas.openxmlformats.org/officeDocument/2006/relationships/slide" Target="slides/slide13.xml"/><Relationship Id="rId5" Type="http://schemas.openxmlformats.org/officeDocument/2006/relationships/slide" Target="slides/slide7.xml"/><Relationship Id="rId10" Type="http://schemas.openxmlformats.org/officeDocument/2006/relationships/slide" Target="slides/slide12.xml"/><Relationship Id="rId4" Type="http://schemas.openxmlformats.org/officeDocument/2006/relationships/slide" Target="slides/slide6.xml"/><Relationship Id="rId9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s-ES" sz="800" dirty="0"/>
              <a:t>© 2006 Cisco Systems, Inc. Todos los derechos reservados.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s-ES" sz="800" dirty="0" err="1"/>
              <a:t>Presentation_ID.scr</a:t>
            </a:r>
            <a:endParaRPr lang="es-ES" sz="800" dirty="0"/>
          </a:p>
        </p:txBody>
      </p:sp>
      <p:sp>
        <p:nvSpPr>
          <p:cNvPr id="512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</a:pPr>
            <a:fld id="{22244E67-557B-7741-B9F5-F61AA18495DF}" type="slidenum">
              <a:rPr lang="en-US" sz="800"/>
              <a:pPr algn="r" defTabSz="903288">
                <a:lnSpc>
                  <a:spcPct val="100000"/>
                </a:lnSpc>
              </a:pPr>
              <a:t>‹#›</a:t>
            </a:fld>
            <a:endParaRPr lang="es-ES" sz="800"/>
          </a:p>
        </p:txBody>
      </p:sp>
    </p:spTree>
    <p:extLst>
      <p:ext uri="{BB962C8B-B14F-4D97-AF65-F5344CB8AC3E}">
        <p14:creationId xmlns:p14="http://schemas.microsoft.com/office/powerpoint/2010/main" val="21810151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Rectangle 9"/>
          <p:cNvSpPr>
            <a:spLocks noChangeArrowheads="1"/>
          </p:cNvSpPr>
          <p:nvPr/>
        </p:nvSpPr>
        <p:spPr bwMode="auto">
          <a:xfrm>
            <a:off x="57150" y="8785225"/>
            <a:ext cx="3421856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s-ES" sz="800" dirty="0"/>
              <a:t>© 2006 Cisco Systems, Inc. Todos los derechos reservados.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s-ES" sz="800" dirty="0" err="1"/>
              <a:t>Presentation_ID.scr</a:t>
            </a:r>
            <a:endParaRPr lang="es-ES" sz="800" dirty="0"/>
          </a:p>
        </p:txBody>
      </p:sp>
      <p:sp>
        <p:nvSpPr>
          <p:cNvPr id="6148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 smtClean="0">
                <a:cs typeface="+mn-cs"/>
              </a:defRPr>
            </a:lvl1pPr>
          </a:lstStyle>
          <a:p>
            <a:pPr>
              <a:defRPr/>
            </a:pPr>
            <a:fld id="{F4CE0E46-7F05-B940-8356-5580BE265E49}" type="slidenum">
              <a:rPr lang="en-US"/>
              <a:pPr>
                <a:defRPr/>
              </a:pPr>
              <a:t>‹#›</a:t>
            </a:fld>
            <a:endParaRPr lang="es-ES"/>
          </a:p>
        </p:txBody>
      </p:sp>
      <p:sp>
        <p:nvSpPr>
          <p:cNvPr id="6150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6460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D9030C1-C977-B14B-8EB7-BA2B30FCDB63}" type="slidenum">
              <a:rPr lang="en-US" sz="800"/>
              <a:pPr/>
              <a:t>1</a:t>
            </a:fld>
            <a:endParaRPr lang="es-ES" sz="8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s-ES" b="0" dirty="0"/>
              <a:t>Cisco Networking Academy Program</a:t>
            </a:r>
          </a:p>
          <a:p>
            <a:pPr>
              <a:buFontTx/>
              <a:buNone/>
            </a:pPr>
            <a:r>
              <a:rPr lang="es-ES" b="0" dirty="0"/>
              <a:t>Routing and Switching Essentials v6.0</a:t>
            </a:r>
          </a:p>
          <a:p>
            <a:pPr>
              <a:buFontTx/>
              <a:buNone/>
            </a:pPr>
            <a:r>
              <a:rPr lang="es-ES" sz="1200" dirty="0">
                <a:latin typeface="Arial" charset="0"/>
              </a:rPr>
              <a:t>Capítulo 2: Routing estático</a:t>
            </a: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476943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s-ES" sz="1200" kern="1200" dirty="0">
                <a:solidFill>
                  <a:schemeClr val="tx1"/>
                </a:solidFill>
                <a:latin typeface="Arial" charset="0"/>
              </a:rPr>
              <a:t>2.1 – </a:t>
            </a:r>
            <a:r>
              <a:rPr lang="es-ES" sz="1200" dirty="0">
                <a:latin typeface="Arial" charset="0"/>
              </a:rPr>
              <a:t>Routing estático</a:t>
            </a:r>
            <a:endParaRPr lang="es-E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s-ES" dirty="0">
                <a:latin typeface="Arial" charset="0"/>
              </a:rPr>
              <a:t>2.1.1.1 – Llegar a redes remotas</a:t>
            </a:r>
            <a:endParaRPr lang="es-ES" dirty="0"/>
          </a:p>
          <a:p>
            <a:pPr>
              <a:lnSpc>
                <a:spcPct val="80000"/>
              </a:lnSpc>
              <a:buFontTx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3</a:t>
            </a:fld>
            <a:endParaRPr lang="es-E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s-ES" b="0" dirty="0"/>
              <a:t>Cisco Networking Academy Program</a:t>
            </a:r>
          </a:p>
          <a:p>
            <a:pPr>
              <a:buFontTx/>
              <a:buNone/>
            </a:pPr>
            <a:r>
              <a:rPr lang="es-ES" b="0" dirty="0"/>
              <a:t>Routing and Switching Essentials v6.0</a:t>
            </a:r>
          </a:p>
          <a:p>
            <a:pPr>
              <a:buFontTx/>
              <a:buNone/>
            </a:pPr>
            <a:r>
              <a:rPr lang="es-ES" sz="1200" b="0" dirty="0"/>
              <a:t>Capítulo 2: Routing estático</a:t>
            </a: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219627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4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buNone/>
            </a:pPr>
            <a:r>
              <a:rPr lang="es-ES" b="0" dirty="0">
                <a:latin typeface="Arial" charset="0"/>
              </a:rPr>
              <a:t>2.2 Configurar rutas estáticas y predeterminadas</a:t>
            </a:r>
          </a:p>
          <a:p>
            <a:pPr marL="0" indent="0">
              <a:buNone/>
            </a:pPr>
            <a:r>
              <a:rPr lang="es-ES" b="0" baseline="0" dirty="0">
                <a:latin typeface="Arial" charset="0"/>
              </a:rPr>
              <a:t>2.2.1.1 Comando ip route</a:t>
            </a:r>
            <a:endParaRPr lang="es-ES" b="0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4426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5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/>
              <a:t>2.2.1.2 Opciones de siguiente salto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196214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6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/>
              <a:t>2.2.1.3 Configurar una ruta estática de siguiente salto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29458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7</a:t>
            </a:fld>
            <a:endParaRPr lang="es-E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s-ES" sz="1200" b="0" i="0" kern="1200" dirty="0">
                <a:solidFill>
                  <a:schemeClr val="tx1"/>
                </a:solidFill>
                <a:effectLst/>
                <a:latin typeface="Arial" charset="0"/>
              </a:rPr>
              <a:t>2.2.1.4 Configurar una ruta estática conectada directamente</a:t>
            </a:r>
          </a:p>
        </p:txBody>
      </p:sp>
    </p:spTree>
    <p:extLst>
      <p:ext uri="{BB962C8B-B14F-4D97-AF65-F5344CB8AC3E}">
        <p14:creationId xmlns:p14="http://schemas.microsoft.com/office/powerpoint/2010/main" val="14153116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8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/>
              <a:t>2.2.1.5 Configurar una ruta estática totalmente especificada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317154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9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/>
              <a:t>2.2.1.6 Verificar una ruta estática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57183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10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/>
              <a:t>2.1.2.3 Ruta estática predeterminada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86885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11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/>
              <a:t>2.2.2.1 Ruta estática predeterminada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7297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12</a:t>
            </a:fld>
            <a:endParaRPr lang="es-E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/>
              <a:t>2.2.2.2 Configurar una ruta estática predeterminada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059590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13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 dirty="0"/>
              <a:t>2.2.2.2 Configurar una ruta estática predeterminada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276351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14</a:t>
            </a:fld>
            <a:endParaRPr lang="es-E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 dirty="0"/>
              <a:t>2.2.2.2 Configurar una ruta estática predeterminada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77518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© 2007 – 2010, Cisco Systems, Inc. Todos los derechos reservados.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0529"/>
            <a:ext cx="1316808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Información pública de Cisco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Capítulo 6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C7FBAF0-BCF5-8741-945F-3C6763791038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s-ES" sz="100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5402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02293"/>
            <a:ext cx="8145462" cy="838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638" y="1687390"/>
            <a:ext cx="7940675" cy="4720787"/>
          </a:xfrm>
        </p:spPr>
        <p:txBody>
          <a:bodyPr/>
          <a:lstStyle>
            <a:lvl2pPr marL="457200" indent="-22860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097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150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894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0279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836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85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4995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1901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752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766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9748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© 2008 Cisco Systems, Inc. Todos los derechos reservados.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96100" y="6670529"/>
            <a:ext cx="1505962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Información confidencial de Cisco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7F1BC4EF-034A-F647-AA58-B71D58802FDB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s-ES" sz="100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84885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457200" indent="-22860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104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28517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9231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4373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08482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85695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42533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7491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8629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160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Capítulo 6</a:t>
            </a: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28856D66-2D7E-BA44-8BF8-F720D8CAD36C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s-ES" sz="1000" dirty="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6398" y="2078328"/>
            <a:ext cx="7940675" cy="3950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© 2007 – 2010, Cisco Systems, Inc. Todos los derechos reservados.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0529"/>
            <a:ext cx="1316808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Información pública de Cisco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ＭＳ Ｐゴシック" charset="0"/>
          <a:cs typeface="ＭＳ Ｐゴシック" charset="0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charset="0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193868" y="394392"/>
            <a:ext cx="8772157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3075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 err="1">
                <a:solidFill>
                  <a:srgbClr val="D3D3D3"/>
                </a:solidFill>
              </a:rPr>
              <a:t>Presentation_ID</a:t>
            </a:r>
            <a:endParaRPr lang="es-ES" sz="700" dirty="0">
              <a:solidFill>
                <a:srgbClr val="D3D3D3"/>
              </a:solidFill>
            </a:endParaRPr>
          </a:p>
        </p:txBody>
      </p:sp>
      <p:sp>
        <p:nvSpPr>
          <p:cNvPr id="3076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6084AB3D-AE30-934E-B0BC-A74C2CCEE444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s-ES" sz="1000">
              <a:solidFill>
                <a:srgbClr val="D3D3D3"/>
              </a:solidFill>
            </a:endParaRPr>
          </a:p>
        </p:txBody>
      </p:sp>
      <p:sp>
        <p:nvSpPr>
          <p:cNvPr id="3077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3109" y="1539502"/>
            <a:ext cx="8733677" cy="4926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o="urn:schemas-microsoft-com:office:office" xmlns:v="urn:schemas-microsoft-com:vml" xmlns:wp="http://schemas.openxmlformats.org/drawingml/2006/powerpointprocessingDrawing" xmlns:wne="http://schemas.microsoft.com/office/powerpoint/2006/powerpointml" xmlns:cdr="http://schemas.openxmlformats.org/drawingml/2006/chartDrawing" xmlns:dgm="http://schemas.openxmlformats.org/drawingml/2006/diagram" xmlns:c="http://schemas.openxmlformats.org/drawingml/2006/chart" xmlns:a14="http://schemas.microsoft.com/office/drawing/2010/main" xmlns:mc="http://schemas.openxmlformats.org/markup-compatibility/2006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78" name="Rectangle 6312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© 2008 Cisco Systems, Inc. Todos los derechos reservados.</a:t>
            </a:r>
          </a:p>
        </p:txBody>
      </p:sp>
      <p:sp>
        <p:nvSpPr>
          <p:cNvPr id="3079" name="Rectangle 6313"/>
          <p:cNvSpPr>
            <a:spLocks noChangeArrowheads="1"/>
          </p:cNvSpPr>
          <p:nvPr/>
        </p:nvSpPr>
        <p:spPr bwMode="auto">
          <a:xfrm>
            <a:off x="6896100" y="6670529"/>
            <a:ext cx="1505962" cy="19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s-ES" sz="700" dirty="0">
                <a:solidFill>
                  <a:srgbClr val="D3D3D3"/>
                </a:solidFill>
              </a:rPr>
              <a:t>Información confidencial de Cisco</a:t>
            </a:r>
          </a:p>
        </p:txBody>
      </p:sp>
      <p:pic>
        <p:nvPicPr>
          <p:cNvPr id="3080" name="Picture 8" descr="Rev08_Cisco_BrandBar10_060408.png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ＭＳ Ｐゴシック" charset="0"/>
          <a:cs typeface="ＭＳ Ｐゴシック" charset="0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charset="0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s-ES" sz="2400" dirty="0">
                <a:latin typeface="Arial" charset="0"/>
              </a:rPr>
              <a:t>Ruteo estático</a:t>
            </a:r>
            <a:endParaRPr lang="es-ES" sz="2400" dirty="0">
              <a:solidFill>
                <a:srgbClr val="00B0F0"/>
              </a:solidFill>
              <a:latin typeface="Arial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1800" dirty="0"/>
              <a:t>Ruteo estático</a:t>
            </a:r>
            <a:br>
              <a:rPr dirty="0"/>
            </a:br>
            <a:r>
              <a:rPr lang="es-ES" dirty="0"/>
              <a:t>Llegar a redes remotas</a:t>
            </a:r>
            <a:endParaRPr lang="es-E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68530" y="1232592"/>
            <a:ext cx="3458345" cy="4336935"/>
          </a:xfrm>
        </p:spPr>
        <p:txBody>
          <a:bodyPr/>
          <a:lstStyle/>
          <a:p>
            <a:pPr marL="0" indent="0">
              <a:buNone/>
            </a:pPr>
            <a:r>
              <a:rPr lang="es-ES" sz="2000" dirty="0"/>
              <a:t>Un router puede descubrir redes remotas de dos maneras:</a:t>
            </a:r>
          </a:p>
          <a:p>
            <a:pPr marL="461963" indent="-342900">
              <a:buFont typeface="Arial"/>
              <a:buChar char="•"/>
            </a:pPr>
            <a:r>
              <a:rPr lang="es-ES" sz="2000" b="1" dirty="0">
                <a:solidFill>
                  <a:srgbClr val="FF3300"/>
                </a:solidFill>
              </a:rPr>
              <a:t>Manualmente</a:t>
            </a:r>
            <a:r>
              <a:rPr lang="es-ES" sz="2000" dirty="0">
                <a:solidFill>
                  <a:srgbClr val="FF3300"/>
                </a:solidFill>
              </a:rPr>
              <a:t>:</a:t>
            </a:r>
            <a:r>
              <a:rPr lang="es-ES" sz="2000" dirty="0"/>
              <a:t> las redes remotas se introducen de forma manual en la tabla de ruteo por medio de </a:t>
            </a:r>
            <a:r>
              <a:rPr lang="es-ES" sz="2000" b="1" dirty="0">
                <a:solidFill>
                  <a:srgbClr val="00B0F0"/>
                </a:solidFill>
              </a:rPr>
              <a:t>rutas estáticas</a:t>
            </a:r>
            <a:r>
              <a:rPr lang="es-ES" sz="2000" dirty="0"/>
              <a:t>.</a:t>
            </a:r>
          </a:p>
          <a:p>
            <a:pPr marL="461963" indent="-342900">
              <a:buFont typeface="Arial"/>
              <a:buChar char="•"/>
            </a:pPr>
            <a:r>
              <a:rPr lang="es-ES" sz="2000" b="1" dirty="0">
                <a:solidFill>
                  <a:srgbClr val="FF0000"/>
                </a:solidFill>
              </a:rPr>
              <a:t>Dinámicamente</a:t>
            </a:r>
            <a:r>
              <a:rPr lang="es-ES" sz="2000" dirty="0">
                <a:solidFill>
                  <a:srgbClr val="FF0000"/>
                </a:solidFill>
              </a:rPr>
              <a:t>: </a:t>
            </a:r>
            <a:r>
              <a:rPr lang="es-ES" sz="2000" dirty="0"/>
              <a:t>las rutas remotas se descubren de forma automática mediante un </a:t>
            </a:r>
            <a:r>
              <a:rPr lang="es-ES" sz="2000" b="1" dirty="0">
                <a:solidFill>
                  <a:srgbClr val="00B0F0"/>
                </a:solidFill>
              </a:rPr>
              <a:t>protocolo de ruteo  dinámico</a:t>
            </a:r>
            <a:r>
              <a:rPr lang="es-ES" sz="2000" dirty="0"/>
              <a:t>.</a:t>
            </a:r>
          </a:p>
          <a:p>
            <a:endParaRPr lang="es-E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167" y="1828801"/>
            <a:ext cx="5273477" cy="392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030874"/>
      </p:ext>
    </p:extLst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7478" y="2214789"/>
            <a:ext cx="4146551" cy="1891846"/>
          </a:xfrm>
        </p:spPr>
        <p:txBody>
          <a:bodyPr/>
          <a:lstStyle/>
          <a:p>
            <a:pPr eaLnBrk="1" hangingPunct="1"/>
            <a:r>
              <a:rPr lang="es-ES" sz="2400" dirty="0"/>
              <a:t>Configurar rutas estáticas y por default</a:t>
            </a:r>
            <a:endParaRPr lang="es-E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692449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7" y="394392"/>
            <a:ext cx="8716218" cy="838200"/>
          </a:xfrm>
        </p:spPr>
        <p:txBody>
          <a:bodyPr/>
          <a:lstStyle/>
          <a:p>
            <a:pPr algn="ctr"/>
            <a:r>
              <a:rPr lang="es-ES" dirty="0"/>
              <a:t>Comando </a:t>
            </a:r>
            <a:r>
              <a:rPr lang="es-ES" dirty="0">
                <a:latin typeface="Courier New" panose="02070309020205020404" pitchFamily="49" charset="0"/>
              </a:rPr>
              <a:t>ip route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200" y="1375328"/>
            <a:ext cx="6615199" cy="519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17394"/>
      </p:ext>
    </p:extLst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362058" y="392116"/>
            <a:ext cx="8590555" cy="838200"/>
          </a:xfrm>
        </p:spPr>
        <p:txBody>
          <a:bodyPr/>
          <a:lstStyle/>
          <a:p>
            <a:pPr algn="ctr"/>
            <a:r>
              <a:rPr lang="es-ES" dirty="0"/>
              <a:t>Tipos de rutas estáticas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6998" y="1502410"/>
            <a:ext cx="8264606" cy="4508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</a:pPr>
            <a:r>
              <a:rPr lang="es-ES" sz="2000" kern="0" dirty="0">
                <a:solidFill>
                  <a:srgbClr val="000000"/>
                </a:solidFill>
                <a:latin typeface="Arial"/>
              </a:rPr>
              <a:t>El siguiente salto (</a:t>
            </a:r>
            <a:r>
              <a:rPr lang="es-ES" sz="2000" b="1" kern="0" dirty="0" err="1">
                <a:solidFill>
                  <a:srgbClr val="000000"/>
                </a:solidFill>
                <a:latin typeface="Arial"/>
              </a:rPr>
              <a:t>next</a:t>
            </a:r>
            <a:r>
              <a:rPr lang="es-ES" sz="2000" b="1" kern="0" dirty="0">
                <a:solidFill>
                  <a:srgbClr val="000000"/>
                </a:solidFill>
                <a:latin typeface="Arial"/>
              </a:rPr>
              <a:t>-hop</a:t>
            </a:r>
            <a:r>
              <a:rPr lang="es-ES" sz="2000" kern="0" dirty="0">
                <a:solidFill>
                  <a:srgbClr val="000000"/>
                </a:solidFill>
                <a:latin typeface="Arial"/>
              </a:rPr>
              <a:t>) se puede identificar mediante una dirección IP, una interfaz de salida, o ambas. El modo en que se especifica el destino genera uno de los siguientes tres tipos de ruta:</a:t>
            </a:r>
          </a:p>
          <a:p>
            <a:pPr marL="236538" lvl="0" indent="-236538" algn="just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pitchFamily="2" charset="2"/>
              <a:buChar char="§"/>
            </a:pPr>
            <a:r>
              <a:rPr lang="es-ES" sz="2000" b="1" kern="0" dirty="0">
                <a:solidFill>
                  <a:srgbClr val="FF0000"/>
                </a:solidFill>
                <a:latin typeface="Arial"/>
              </a:rPr>
              <a:t>Ruta estática del siguiente salto (</a:t>
            </a:r>
            <a:r>
              <a:rPr lang="es-ES" sz="2000" b="1" kern="0" dirty="0" err="1">
                <a:solidFill>
                  <a:srgbClr val="FF0000"/>
                </a:solidFill>
                <a:latin typeface="Arial"/>
              </a:rPr>
              <a:t>next</a:t>
            </a:r>
            <a:r>
              <a:rPr lang="es-ES" sz="2000" b="1" kern="0" dirty="0">
                <a:solidFill>
                  <a:srgbClr val="FF0000"/>
                </a:solidFill>
                <a:latin typeface="Arial"/>
              </a:rPr>
              <a:t>-hop </a:t>
            </a:r>
            <a:r>
              <a:rPr lang="es-ES" sz="2000" b="1" kern="0" dirty="0" err="1">
                <a:solidFill>
                  <a:srgbClr val="FF0000"/>
                </a:solidFill>
                <a:latin typeface="Arial"/>
              </a:rPr>
              <a:t>route</a:t>
            </a:r>
            <a:r>
              <a:rPr lang="es-ES" sz="2000" b="1" kern="0" dirty="0">
                <a:solidFill>
                  <a:srgbClr val="FF0000"/>
                </a:solidFill>
                <a:latin typeface="Arial"/>
              </a:rPr>
              <a:t>) o recursiva</a:t>
            </a:r>
            <a:r>
              <a:rPr lang="es-ES" sz="2000" kern="0" dirty="0">
                <a:solidFill>
                  <a:srgbClr val="FF0000"/>
                </a:solidFill>
                <a:latin typeface="Arial"/>
              </a:rPr>
              <a:t>: </a:t>
            </a:r>
            <a:r>
              <a:rPr lang="es-ES" sz="2000" kern="0" dirty="0">
                <a:solidFill>
                  <a:srgbClr val="000000"/>
                </a:solidFill>
                <a:latin typeface="Arial"/>
              </a:rPr>
              <a:t>solo se especifica la dirección IP del siguiente salto (</a:t>
            </a:r>
            <a:r>
              <a:rPr lang="es-ES" sz="2000" kern="0" dirty="0" err="1">
                <a:solidFill>
                  <a:srgbClr val="000000"/>
                </a:solidFill>
                <a:latin typeface="Arial"/>
              </a:rPr>
              <a:t>next</a:t>
            </a:r>
            <a:r>
              <a:rPr lang="es-ES" sz="2000" kern="0" dirty="0">
                <a:solidFill>
                  <a:srgbClr val="000000"/>
                </a:solidFill>
                <a:latin typeface="Arial"/>
              </a:rPr>
              <a:t>-hop).</a:t>
            </a:r>
          </a:p>
          <a:p>
            <a:pPr marL="236538" lvl="0" indent="-236538" algn="just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pitchFamily="2" charset="2"/>
              <a:buChar char="§"/>
            </a:pPr>
            <a:r>
              <a:rPr lang="es-ES" sz="2000" b="1" kern="0" dirty="0">
                <a:solidFill>
                  <a:srgbClr val="FF0000"/>
                </a:solidFill>
                <a:latin typeface="Arial"/>
              </a:rPr>
              <a:t>Ruta estática directamente conectada</a:t>
            </a:r>
            <a:r>
              <a:rPr lang="es-ES" sz="2000" kern="0" dirty="0">
                <a:solidFill>
                  <a:srgbClr val="FF0000"/>
                </a:solidFill>
                <a:latin typeface="Arial"/>
              </a:rPr>
              <a:t>: </a:t>
            </a:r>
            <a:r>
              <a:rPr lang="es-ES" sz="2000" kern="0" dirty="0">
                <a:solidFill>
                  <a:srgbClr val="000000"/>
                </a:solidFill>
                <a:latin typeface="Arial"/>
              </a:rPr>
              <a:t>solo se especifica la interfaz de salida del </a:t>
            </a:r>
            <a:r>
              <a:rPr lang="es-ES" sz="2000" kern="0" dirty="0" err="1">
                <a:solidFill>
                  <a:srgbClr val="000000"/>
                </a:solidFill>
                <a:latin typeface="Arial"/>
              </a:rPr>
              <a:t>router</a:t>
            </a:r>
            <a:r>
              <a:rPr lang="es-ES" sz="2000" kern="0" dirty="0">
                <a:solidFill>
                  <a:srgbClr val="000000"/>
                </a:solidFill>
                <a:latin typeface="Arial"/>
              </a:rPr>
              <a:t> (s0/0/0, g0/0, </a:t>
            </a:r>
            <a:r>
              <a:rPr lang="es-ES" sz="2000" kern="0" dirty="0" err="1">
                <a:solidFill>
                  <a:srgbClr val="000000"/>
                </a:solidFill>
                <a:latin typeface="Arial"/>
              </a:rPr>
              <a:t>etc</a:t>
            </a:r>
            <a:r>
              <a:rPr lang="es-ES" sz="2000" kern="0" dirty="0">
                <a:solidFill>
                  <a:srgbClr val="000000"/>
                </a:solidFill>
                <a:latin typeface="Arial"/>
              </a:rPr>
              <a:t>).</a:t>
            </a:r>
          </a:p>
          <a:p>
            <a:pPr marL="236538" lvl="0" indent="-236538" algn="just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pitchFamily="2" charset="2"/>
              <a:buChar char="§"/>
            </a:pPr>
            <a:r>
              <a:rPr lang="es-ES" sz="2000" b="1" kern="0" dirty="0">
                <a:solidFill>
                  <a:srgbClr val="FF0000"/>
                </a:solidFill>
                <a:latin typeface="Arial"/>
              </a:rPr>
              <a:t>Ruta estática completamente conectada (full </a:t>
            </a:r>
            <a:r>
              <a:rPr lang="es-ES" sz="2000" b="1" kern="0" dirty="0" err="1">
                <a:solidFill>
                  <a:srgbClr val="FF0000"/>
                </a:solidFill>
                <a:latin typeface="Arial"/>
              </a:rPr>
              <a:t>connected</a:t>
            </a:r>
            <a:r>
              <a:rPr lang="es-ES" sz="2000" b="1" kern="0" dirty="0">
                <a:solidFill>
                  <a:srgbClr val="FF0000"/>
                </a:solidFill>
                <a:latin typeface="Arial"/>
              </a:rPr>
              <a:t>) </a:t>
            </a:r>
            <a:r>
              <a:rPr lang="es-ES" sz="2000" kern="0" dirty="0">
                <a:solidFill>
                  <a:srgbClr val="000000"/>
                </a:solidFill>
                <a:latin typeface="Arial"/>
              </a:rPr>
              <a:t>: se especifican la dirección IP del siguiente salto (</a:t>
            </a:r>
            <a:r>
              <a:rPr lang="es-ES" sz="2000" kern="0" dirty="0" err="1">
                <a:solidFill>
                  <a:srgbClr val="000000"/>
                </a:solidFill>
                <a:latin typeface="Arial"/>
              </a:rPr>
              <a:t>next</a:t>
            </a:r>
            <a:r>
              <a:rPr lang="es-ES" sz="2000" kern="0" dirty="0">
                <a:solidFill>
                  <a:srgbClr val="000000"/>
                </a:solidFill>
                <a:latin typeface="Arial"/>
              </a:rPr>
              <a:t>-hop) y la interfaz de salida. </a:t>
            </a:r>
          </a:p>
          <a:p>
            <a:pPr lvl="0" algn="just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</a:pPr>
            <a:r>
              <a:rPr lang="es-ES" sz="2000" b="1" kern="0" dirty="0">
                <a:solidFill>
                  <a:srgbClr val="000000"/>
                </a:solidFill>
                <a:latin typeface="Arial"/>
              </a:rPr>
              <a:t>NOTA: </a:t>
            </a:r>
            <a:r>
              <a:rPr lang="es-ES" sz="2000" kern="0" dirty="0">
                <a:solidFill>
                  <a:srgbClr val="000000"/>
                </a:solidFill>
                <a:latin typeface="Arial"/>
              </a:rPr>
              <a:t>Si cambia la dirección IP del siguiente salto (</a:t>
            </a:r>
            <a:r>
              <a:rPr lang="es-ES" sz="2000" kern="0" dirty="0" err="1">
                <a:solidFill>
                  <a:srgbClr val="000000"/>
                </a:solidFill>
                <a:latin typeface="Arial"/>
              </a:rPr>
              <a:t>next</a:t>
            </a:r>
            <a:r>
              <a:rPr lang="es-ES" sz="2000" kern="0" dirty="0">
                <a:solidFill>
                  <a:srgbClr val="000000"/>
                </a:solidFill>
                <a:latin typeface="Arial"/>
              </a:rPr>
              <a:t>-hop), quedo totalmente incomunicado, por lo que es preferible utilizar las rutas directamente conectadas.</a:t>
            </a:r>
          </a:p>
        </p:txBody>
      </p:sp>
    </p:spTree>
    <p:extLst>
      <p:ext uri="{BB962C8B-B14F-4D97-AF65-F5344CB8AC3E}">
        <p14:creationId xmlns:p14="http://schemas.microsoft.com/office/powerpoint/2010/main" val="1768560687"/>
      </p:ext>
    </p:extLst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28771" y="500527"/>
            <a:ext cx="8772157" cy="1099672"/>
          </a:xfrm>
        </p:spPr>
        <p:txBody>
          <a:bodyPr anchor="t"/>
          <a:lstStyle/>
          <a:p>
            <a:pPr algn="ctr"/>
            <a:r>
              <a:rPr lang="es-ES" sz="2800" dirty="0"/>
              <a:t>Configurar una ruta estática del siguiente salto (</a:t>
            </a:r>
            <a:r>
              <a:rPr lang="es-ES" sz="2800" dirty="0" err="1"/>
              <a:t>next</a:t>
            </a:r>
            <a:r>
              <a:rPr lang="es-ES" sz="2800" dirty="0"/>
              <a:t> – hop) o recursiva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109" y="1474941"/>
            <a:ext cx="6497782" cy="538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359554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80100" y="559286"/>
            <a:ext cx="8965929" cy="814009"/>
          </a:xfrm>
        </p:spPr>
        <p:txBody>
          <a:bodyPr anchor="t"/>
          <a:lstStyle/>
          <a:p>
            <a:pPr algn="ctr" eaLnBrk="1" hangingPunct="1">
              <a:defRPr/>
            </a:pPr>
            <a:r>
              <a:rPr lang="es-ES" sz="2800" dirty="0"/>
              <a:t>Configurar una ruta estática directamente conectada</a:t>
            </a:r>
            <a:endParaRPr lang="es-ES" sz="2800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16" y="1495607"/>
            <a:ext cx="8445880" cy="4669708"/>
          </a:xfr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90607" y="4624505"/>
            <a:ext cx="4631589" cy="1674209"/>
          </a:xfrm>
          <a:prstGeom prst="rect">
            <a:avLst/>
          </a:prstGeom>
        </p:spPr>
      </p:pic>
      <p:sp>
        <p:nvSpPr>
          <p:cNvPr id="4" name="CuadroTexto 5">
            <a:extLst>
              <a:ext uri="{FF2B5EF4-FFF2-40B4-BE49-F238E27FC236}">
                <a16:creationId xmlns:a16="http://schemas.microsoft.com/office/drawing/2014/main" id="{1EC00142-559F-F670-DC16-6E6A06CEAA3B}"/>
              </a:ext>
            </a:extLst>
          </p:cNvPr>
          <p:cNvSpPr txBox="1"/>
          <p:nvPr/>
        </p:nvSpPr>
        <p:spPr>
          <a:xfrm>
            <a:off x="2632573" y="3555587"/>
            <a:ext cx="457664" cy="262461"/>
          </a:xfrm>
          <a:prstGeom prst="rect">
            <a:avLst/>
          </a:prstGeom>
          <a:noFill/>
          <a:ln w="28575"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83976944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1" y="451542"/>
            <a:ext cx="8772157" cy="838200"/>
          </a:xfrm>
        </p:spPr>
        <p:txBody>
          <a:bodyPr anchor="t"/>
          <a:lstStyle/>
          <a:p>
            <a:pPr algn="ctr"/>
            <a:r>
              <a:rPr lang="es-ES" sz="2800" dirty="0"/>
              <a:t>Configurar una ruta estática completamente conectada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B215643-1F10-48B2-972E-B78984315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461346"/>
            <a:ext cx="8079757" cy="4945111"/>
          </a:xfrm>
          <a:prstGeom prst="rect">
            <a:avLst/>
          </a:prstGeom>
        </p:spPr>
      </p:pic>
      <p:sp>
        <p:nvSpPr>
          <p:cNvPr id="2" name="CuadroTexto 5">
            <a:extLst>
              <a:ext uri="{FF2B5EF4-FFF2-40B4-BE49-F238E27FC236}">
                <a16:creationId xmlns:a16="http://schemas.microsoft.com/office/drawing/2014/main" id="{F1668B1A-B8C4-31B1-0B69-830884A916CD}"/>
              </a:ext>
            </a:extLst>
          </p:cNvPr>
          <p:cNvSpPr txBox="1"/>
          <p:nvPr/>
        </p:nvSpPr>
        <p:spPr>
          <a:xfrm>
            <a:off x="2600673" y="3289770"/>
            <a:ext cx="457664" cy="262461"/>
          </a:xfrm>
          <a:prstGeom prst="rect">
            <a:avLst/>
          </a:prstGeom>
          <a:noFill/>
          <a:ln w="28575"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58191345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259182" y="173957"/>
            <a:ext cx="8772157" cy="838200"/>
          </a:xfrm>
        </p:spPr>
        <p:txBody>
          <a:bodyPr/>
          <a:lstStyle/>
          <a:p>
            <a:pPr algn="ctr"/>
            <a:r>
              <a:rPr lang="es-ES" dirty="0"/>
              <a:t>Verificar una ruta estática</a:t>
            </a:r>
          </a:p>
        </p:txBody>
      </p:sp>
      <p:pic>
        <p:nvPicPr>
          <p:cNvPr id="2" name="Picture 1" descr="Routing and Switching Essentials - Mozilla Firefox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0203" y="1356019"/>
            <a:ext cx="4301836" cy="3445541"/>
          </a:xfrm>
          <a:prstGeom prst="rect">
            <a:avLst/>
          </a:prstGeom>
        </p:spPr>
      </p:pic>
      <p:pic>
        <p:nvPicPr>
          <p:cNvPr id="4" name="Picture 3" descr="Routing and Switching Essentials - Mozilla Firefox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946" y="4803285"/>
            <a:ext cx="4387602" cy="1647451"/>
          </a:xfrm>
          <a:prstGeom prst="rect">
            <a:avLst/>
          </a:prstGeom>
        </p:spPr>
      </p:pic>
      <p:pic>
        <p:nvPicPr>
          <p:cNvPr id="5" name="Picture 4" descr="Routing and Switching Essentials - Mozilla Firefox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14873" y="4806735"/>
            <a:ext cx="3702918" cy="136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836096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8" y="309325"/>
            <a:ext cx="8772157" cy="838200"/>
          </a:xfrm>
        </p:spPr>
        <p:txBody>
          <a:bodyPr/>
          <a:lstStyle/>
          <a:p>
            <a:pPr algn="ctr"/>
            <a:br>
              <a:rPr dirty="0"/>
            </a:br>
            <a:r>
              <a:rPr lang="es-ES" dirty="0"/>
              <a:t>Ruta estática por default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055" y="2647639"/>
            <a:ext cx="5428610" cy="3752173"/>
          </a:xfrm>
        </p:spPr>
      </p:pic>
      <p:sp>
        <p:nvSpPr>
          <p:cNvPr id="5" name="Rectangle 4"/>
          <p:cNvSpPr/>
          <p:nvPr/>
        </p:nvSpPr>
        <p:spPr>
          <a:xfrm>
            <a:off x="247923" y="1465305"/>
            <a:ext cx="8718102" cy="1426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lvl="0" indent="-236538" algn="l" defTabSz="814388">
              <a:lnSpc>
                <a:spcPct val="150000"/>
              </a:lnSpc>
              <a:spcBef>
                <a:spcPct val="50000"/>
              </a:spcBef>
              <a:buClr>
                <a:srgbClr val="708CA1"/>
              </a:buClr>
              <a:buFont typeface="Wingdings" pitchFamily="2" charset="2"/>
              <a:buChar char="§"/>
            </a:pPr>
            <a:r>
              <a:rPr lang="es-ES" sz="1800" kern="0" dirty="0">
                <a:solidFill>
                  <a:srgbClr val="000000"/>
                </a:solidFill>
                <a:latin typeface="+mn-lt"/>
              </a:rPr>
              <a:t>Una </a:t>
            </a:r>
            <a:r>
              <a:rPr lang="es-ES" sz="1800" b="1" kern="0" dirty="0">
                <a:solidFill>
                  <a:srgbClr val="FF0000"/>
                </a:solidFill>
                <a:latin typeface="+mn-lt"/>
              </a:rPr>
              <a:t>ruta estática por default</a:t>
            </a:r>
            <a:r>
              <a:rPr lang="es-ES" sz="1800" kern="0" dirty="0">
                <a:solidFill>
                  <a:srgbClr val="FF0000"/>
                </a:solidFill>
                <a:latin typeface="+mn-lt"/>
              </a:rPr>
              <a:t> </a:t>
            </a:r>
            <a:r>
              <a:rPr lang="es-ES" sz="1800" kern="0" dirty="0">
                <a:solidFill>
                  <a:srgbClr val="000000"/>
                </a:solidFill>
                <a:latin typeface="+mn-lt"/>
              </a:rPr>
              <a:t>es aquella que coincide con todos los paquetes. </a:t>
            </a:r>
          </a:p>
          <a:p>
            <a:pPr marL="236538" lvl="0" indent="-236538" algn="l" defTabSz="814388">
              <a:lnSpc>
                <a:spcPct val="150000"/>
              </a:lnSpc>
              <a:spcBef>
                <a:spcPct val="50000"/>
              </a:spcBef>
              <a:buClr>
                <a:srgbClr val="708CA1"/>
              </a:buClr>
              <a:buFont typeface="Wingdings" pitchFamily="2" charset="2"/>
              <a:buChar char="§"/>
            </a:pPr>
            <a:r>
              <a:rPr lang="es-ES" sz="1800" kern="0" dirty="0">
                <a:solidFill>
                  <a:srgbClr val="000000"/>
                </a:solidFill>
                <a:latin typeface="+mn-lt"/>
              </a:rPr>
              <a:t>Una </a:t>
            </a:r>
            <a:r>
              <a:rPr lang="es-ES" sz="1800" b="1" kern="0" dirty="0">
                <a:solidFill>
                  <a:srgbClr val="FF0000"/>
                </a:solidFill>
                <a:latin typeface="+mn-lt"/>
              </a:rPr>
              <a:t>ruta estática por default</a:t>
            </a:r>
            <a:r>
              <a:rPr lang="es-ES" sz="1800" kern="0" dirty="0">
                <a:solidFill>
                  <a:srgbClr val="FF0000"/>
                </a:solidFill>
                <a:latin typeface="+mn-lt"/>
              </a:rPr>
              <a:t> </a:t>
            </a:r>
            <a:r>
              <a:rPr lang="es-ES" sz="1800" kern="0" dirty="0">
                <a:solidFill>
                  <a:srgbClr val="000000"/>
                </a:solidFill>
                <a:latin typeface="+mn-lt"/>
              </a:rPr>
              <a:t>es simplemente una </a:t>
            </a:r>
            <a:r>
              <a:rPr lang="es-ES" sz="1800" b="1" kern="0" dirty="0">
                <a:solidFill>
                  <a:srgbClr val="000000"/>
                </a:solidFill>
                <a:latin typeface="+mn-lt"/>
              </a:rPr>
              <a:t>ruta estática con 0.0.0.0/0</a:t>
            </a:r>
            <a:r>
              <a:rPr lang="es-ES" sz="1800" kern="0" dirty="0">
                <a:solidFill>
                  <a:srgbClr val="000000"/>
                </a:solidFill>
                <a:latin typeface="+mn-lt"/>
              </a:rPr>
              <a:t> como dirección IPv4 de destino.</a:t>
            </a:r>
          </a:p>
        </p:txBody>
      </p:sp>
    </p:spTree>
    <p:extLst>
      <p:ext uri="{BB962C8B-B14F-4D97-AF65-F5344CB8AC3E}">
        <p14:creationId xmlns:p14="http://schemas.microsoft.com/office/powerpoint/2010/main" val="2938108257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Ruta estática por default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87" y="1515520"/>
            <a:ext cx="8024665" cy="487146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49C5EB1-FD32-4AA3-BB06-F8F6E2C288A1}"/>
              </a:ext>
            </a:extLst>
          </p:cNvPr>
          <p:cNvSpPr txBox="1"/>
          <p:nvPr/>
        </p:nvSpPr>
        <p:spPr>
          <a:xfrm>
            <a:off x="869221" y="2000442"/>
            <a:ext cx="5759141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/>
              <a:t>NOTA: </a:t>
            </a:r>
            <a:r>
              <a:rPr lang="es-ES" sz="1400" dirty="0"/>
              <a:t>Solamente puedo tener una ruta estática por default por </a:t>
            </a:r>
            <a:r>
              <a:rPr lang="es-ES" sz="1400" dirty="0" err="1"/>
              <a:t>router</a:t>
            </a:r>
            <a:r>
              <a:rPr lang="es-ES" sz="1400" dirty="0"/>
              <a:t>.</a:t>
            </a: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922800024"/>
      </p:ext>
    </p:extLst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227" y="1223958"/>
            <a:ext cx="6753637" cy="5381953"/>
          </a:xfrm>
          <a:prstGeom prst="rect">
            <a:avLst/>
          </a:prstGeom>
        </p:spPr>
      </p:pic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2" y="476034"/>
            <a:ext cx="8609736" cy="995715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s-ES" sz="2800" dirty="0"/>
              <a:t>Configurar una ruta estática por default del siguiente salto (</a:t>
            </a:r>
            <a:r>
              <a:rPr lang="es-ES" sz="2800" dirty="0" err="1"/>
              <a:t>next</a:t>
            </a:r>
            <a:r>
              <a:rPr lang="es-ES" sz="2800" dirty="0"/>
              <a:t> – hop) o recursiva</a:t>
            </a:r>
          </a:p>
        </p:txBody>
      </p:sp>
    </p:spTree>
    <p:extLst>
      <p:ext uri="{BB962C8B-B14F-4D97-AF65-F5344CB8AC3E}">
        <p14:creationId xmlns:p14="http://schemas.microsoft.com/office/powerpoint/2010/main" val="4184380827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A7D6E68E-64B2-05C5-43F7-5FE2E1A96E69}"/>
              </a:ext>
            </a:extLst>
          </p:cNvPr>
          <p:cNvGrpSpPr/>
          <p:nvPr/>
        </p:nvGrpSpPr>
        <p:grpSpPr>
          <a:xfrm>
            <a:off x="1273560" y="1281987"/>
            <a:ext cx="6753637" cy="5381953"/>
            <a:chOff x="1360645" y="1157609"/>
            <a:chExt cx="6753637" cy="5381953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0645" y="1157609"/>
              <a:ext cx="6753637" cy="5381953"/>
            </a:xfrm>
            <a:prstGeom prst="rect">
              <a:avLst/>
            </a:prstGeom>
          </p:spPr>
        </p:pic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2FC90616-4AAB-66CC-D160-3FBC19FCE111}"/>
                </a:ext>
              </a:extLst>
            </p:cNvPr>
            <p:cNvSpPr txBox="1"/>
            <p:nvPr/>
          </p:nvSpPr>
          <p:spPr>
            <a:xfrm>
              <a:off x="1851630" y="4955178"/>
              <a:ext cx="4263772" cy="2862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es-MX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R1(config)# ip route 0.0.0.0  0.0.0.0  s0/0/0</a:t>
              </a:r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E50B40BF-777C-B165-ABEA-1E9D2FBD1BCE}"/>
                </a:ext>
              </a:extLst>
            </p:cNvPr>
            <p:cNvSpPr txBox="1"/>
            <p:nvPr/>
          </p:nvSpPr>
          <p:spPr>
            <a:xfrm>
              <a:off x="1851630" y="4812062"/>
              <a:ext cx="4263772" cy="1431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pPr algn="l"/>
              <a:endParaRPr lang="es-MX" sz="1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8013FC56-977C-DA1E-6FED-88B06DCC1C1C}"/>
                </a:ext>
              </a:extLst>
            </p:cNvPr>
            <p:cNvSpPr txBox="1"/>
            <p:nvPr/>
          </p:nvSpPr>
          <p:spPr>
            <a:xfrm>
              <a:off x="4091253" y="3611964"/>
              <a:ext cx="457664" cy="262461"/>
            </a:xfrm>
            <a:prstGeom prst="rect">
              <a:avLst/>
            </a:prstGeom>
            <a:noFill/>
            <a:ln w="28575">
              <a:solidFill>
                <a:srgbClr val="FF3300"/>
              </a:solidFill>
            </a:ln>
          </p:spPr>
          <p:txBody>
            <a:bodyPr wrap="square" rtlCol="0">
              <a:spAutoFit/>
            </a:bodyPr>
            <a:lstStyle/>
            <a:p>
              <a:endParaRPr lang="es-MX" dirty="0"/>
            </a:p>
          </p:txBody>
        </p:sp>
      </p:grp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2" y="476034"/>
            <a:ext cx="8609736" cy="995715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s-ES" sz="2800" dirty="0"/>
              <a:t>Configurar una ruta estática por default directamente conectada</a:t>
            </a:r>
          </a:p>
        </p:txBody>
      </p:sp>
    </p:spTree>
    <p:extLst>
      <p:ext uri="{BB962C8B-B14F-4D97-AF65-F5344CB8AC3E}">
        <p14:creationId xmlns:p14="http://schemas.microsoft.com/office/powerpoint/2010/main" val="3905323894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645" y="1157609"/>
            <a:ext cx="6753637" cy="5381953"/>
          </a:xfrm>
          <a:prstGeom prst="rect">
            <a:avLst/>
          </a:prstGeom>
        </p:spPr>
      </p:pic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922" y="476034"/>
            <a:ext cx="8609736" cy="995715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s-ES" sz="2800" dirty="0"/>
              <a:t>Configurar una ruta estática por default completamente conectada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FC90616-4AAB-66CC-D160-3FBC19FCE111}"/>
              </a:ext>
            </a:extLst>
          </p:cNvPr>
          <p:cNvSpPr txBox="1"/>
          <p:nvPr/>
        </p:nvSpPr>
        <p:spPr>
          <a:xfrm>
            <a:off x="1851630" y="4955178"/>
            <a:ext cx="4263772" cy="2862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s-MX" sz="1400" b="1" dirty="0">
                <a:latin typeface="Calibri" panose="020F0502020204030204" pitchFamily="34" charset="0"/>
                <a:cs typeface="Calibri" panose="020F0502020204030204" pitchFamily="34" charset="0"/>
              </a:rPr>
              <a:t>R1(config)# ip route 0.0.0.0  0.0.0.0  s0/0/0  172.16.2.2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50B40BF-777C-B165-ABEA-1E9D2FBD1BCE}"/>
              </a:ext>
            </a:extLst>
          </p:cNvPr>
          <p:cNvSpPr txBox="1"/>
          <p:nvPr/>
        </p:nvSpPr>
        <p:spPr>
          <a:xfrm>
            <a:off x="1851630" y="4812062"/>
            <a:ext cx="4263772" cy="1431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/>
            <a:endParaRPr lang="es-MX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013FC56-977C-DA1E-6FED-88B06DCC1C1C}"/>
              </a:ext>
            </a:extLst>
          </p:cNvPr>
          <p:cNvSpPr txBox="1"/>
          <p:nvPr/>
        </p:nvSpPr>
        <p:spPr>
          <a:xfrm>
            <a:off x="4091253" y="3611964"/>
            <a:ext cx="457664" cy="262461"/>
          </a:xfrm>
          <a:prstGeom prst="rect">
            <a:avLst/>
          </a:prstGeom>
          <a:noFill/>
          <a:ln w="28575"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1B62C66-C1F7-8643-56A6-1785FDF5D029}"/>
              </a:ext>
            </a:extLst>
          </p:cNvPr>
          <p:cNvSpPr txBox="1"/>
          <p:nvPr/>
        </p:nvSpPr>
        <p:spPr>
          <a:xfrm>
            <a:off x="4336869" y="3114805"/>
            <a:ext cx="313508" cy="262461"/>
          </a:xfrm>
          <a:prstGeom prst="rect">
            <a:avLst/>
          </a:prstGeom>
          <a:noFill/>
          <a:ln w="28575"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93169523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28852</TotalTime>
  <Pages>28</Pages>
  <Words>464</Words>
  <Application>Microsoft Office PowerPoint</Application>
  <PresentationFormat>On-screen Show (4:3)</PresentationFormat>
  <Paragraphs>61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Wingdings</vt:lpstr>
      <vt:lpstr>PPT-TMPLT-WHT_C</vt:lpstr>
      <vt:lpstr>NetAcad-4F_PPT-WHT_060408</vt:lpstr>
      <vt:lpstr>Ruteo estático</vt:lpstr>
      <vt:lpstr>Ruteo estático Llegar a redes remotas</vt:lpstr>
      <vt:lpstr>Configurar rutas estáticas y por default</vt:lpstr>
      <vt:lpstr>Comando ip route</vt:lpstr>
      <vt:lpstr>Tipos de rutas estáticas</vt:lpstr>
      <vt:lpstr>Configurar una ruta estática del siguiente salto (next – hop) o recursiva</vt:lpstr>
      <vt:lpstr>Configurar una ruta estática directamente conectada</vt:lpstr>
      <vt:lpstr>Configurar una ruta estática completamente conectada</vt:lpstr>
      <vt:lpstr>Verificar una ruta estática</vt:lpstr>
      <vt:lpstr> Ruta estática por default</vt:lpstr>
      <vt:lpstr>Ruta estática por default</vt:lpstr>
      <vt:lpstr>Configurar una ruta estática por default del siguiente salto (next – hop) o recursiva</vt:lpstr>
      <vt:lpstr>Configurar una ruta estática por default directamente conectada</vt:lpstr>
      <vt:lpstr>Configurar una ruta estática por default completamente conectada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PC v4.0 Chapter 1</dc:title>
  <dc:creator>Karen Alderson</dc:creator>
  <cp:lastModifiedBy>Lizethe Pérez Fuertes</cp:lastModifiedBy>
  <cp:revision>1159</cp:revision>
  <cp:lastPrinted>1999-01-27T00:54:54Z</cp:lastPrinted>
  <dcterms:created xsi:type="dcterms:W3CDTF">2006-10-23T15:07:30Z</dcterms:created>
  <dcterms:modified xsi:type="dcterms:W3CDTF">2025-03-21T00:51:16Z</dcterms:modified>
</cp:coreProperties>
</file>