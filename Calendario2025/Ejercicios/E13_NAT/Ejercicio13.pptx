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329" r:id="rId3"/>
    <p:sldId id="347" r:id="rId4"/>
    <p:sldId id="332" r:id="rId5"/>
    <p:sldId id="342" r:id="rId6"/>
    <p:sldId id="326" r:id="rId7"/>
    <p:sldId id="343" r:id="rId8"/>
    <p:sldId id="345" r:id="rId9"/>
    <p:sldId id="346" r:id="rId10"/>
    <p:sldId id="331" r:id="rId11"/>
    <p:sldId id="344" r:id="rId12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AEA"/>
    <a:srgbClr val="3366CC"/>
    <a:srgbClr val="EE2200"/>
    <a:srgbClr val="050A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2873" autoAdjust="0"/>
  </p:normalViewPr>
  <p:slideViewPr>
    <p:cSldViewPr>
      <p:cViewPr varScale="1">
        <p:scale>
          <a:sx n="99" d="100"/>
          <a:sy n="99" d="100"/>
        </p:scale>
        <p:origin x="1872" y="8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45F07-8756-451B-A938-0248325FC7BB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3AEC0-242E-4FA7-9D3C-51E1036AC3CB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1706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5425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635066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3136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3379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2786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760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79156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79741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25150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447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9592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32895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878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5A0DC-66C6-4CEC-A5EB-F8C97CEC3796}" type="datetimeFigureOut">
              <a:rPr lang="es-MX" smtClean="0"/>
              <a:t>22/04/2025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17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376463"/>
            <a:ext cx="6400800" cy="124928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Ejercicio 13. NAT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Tecnológico de Monterrey, Campus Querétaro</a:t>
            </a:r>
          </a:p>
        </p:txBody>
      </p:sp>
      <p:pic>
        <p:nvPicPr>
          <p:cNvPr id="5" name="Imagen 4" descr="Diagrama&#10;&#10;Descripción generada automáticamente">
            <a:extLst>
              <a:ext uri="{FF2B5EF4-FFF2-40B4-BE49-F238E27FC236}">
                <a16:creationId xmlns:a16="http://schemas.microsoft.com/office/drawing/2014/main" id="{853914F6-FE98-4C47-9A17-305EC2A41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639" y="3573016"/>
            <a:ext cx="3670721" cy="233770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11ECD4F-D7F5-1728-AABB-2C8E849C999D}"/>
              </a:ext>
            </a:extLst>
          </p:cNvPr>
          <p:cNvSpPr txBox="1">
            <a:spLocks/>
          </p:cNvSpPr>
          <p:nvPr/>
        </p:nvSpPr>
        <p:spPr>
          <a:xfrm>
            <a:off x="802556" y="444008"/>
            <a:ext cx="765787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TC 3003B </a:t>
            </a:r>
            <a:br>
              <a:rPr lang="es-MX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Implementación de redes de área amplia</a:t>
            </a:r>
          </a:p>
        </p:txBody>
      </p:sp>
    </p:spTree>
    <p:extLst>
      <p:ext uri="{BB962C8B-B14F-4D97-AF65-F5344CB8AC3E}">
        <p14:creationId xmlns:p14="http://schemas.microsoft.com/office/powerpoint/2010/main" val="255385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3" y="0"/>
            <a:ext cx="8872310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DHCP, rutas estáticas, NAT y DNS</a:t>
            </a:r>
          </a:p>
        </p:txBody>
      </p:sp>
      <p:sp>
        <p:nvSpPr>
          <p:cNvPr id="6" name="7 CuadroTexto">
            <a:extLst>
              <a:ext uri="{FF2B5EF4-FFF2-40B4-BE49-F238E27FC236}">
                <a16:creationId xmlns:a16="http://schemas.microsoft.com/office/drawing/2014/main" id="{B042F61A-9B59-44FB-8ECE-B57CC43CF6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182" y="1005401"/>
            <a:ext cx="8610305" cy="2819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tiene el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diseño de una red 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 establecida.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cuenta con un subneteo con máscaras de longitud variable (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VLSM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trabajará con una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 privada 10.x.x.x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el servicio de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 centralizado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una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ruta estática 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ISP con el direccionamiento público asignado.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el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 </a:t>
            </a:r>
            <a:r>
              <a:rPr lang="es-MX" sz="1500" b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 NAT y PAT</a:t>
            </a:r>
            <a:r>
              <a:rPr lang="es-MX" sz="150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MX" sz="15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un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servidor con direccionamiento estático 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 accederlo desde el exterior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un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servidor DNS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178320-A4E6-25D7-0DA1-D45651199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82" y="3824955"/>
            <a:ext cx="8320233" cy="281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52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77F12-6C90-EBEE-7DC4-1912094B0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>
            <a:extLst>
              <a:ext uri="{FF2B5EF4-FFF2-40B4-BE49-F238E27FC236}">
                <a16:creationId xmlns:a16="http://schemas.microsoft.com/office/drawing/2014/main" id="{F633327D-ACAE-32E3-ACB9-1F68BECF034D}"/>
              </a:ext>
            </a:extLst>
          </p:cNvPr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IPS de los servidores</a:t>
            </a:r>
          </a:p>
        </p:txBody>
      </p:sp>
      <p:sp>
        <p:nvSpPr>
          <p:cNvPr id="6" name="7 CuadroTexto">
            <a:extLst>
              <a:ext uri="{FF2B5EF4-FFF2-40B4-BE49-F238E27FC236}">
                <a16:creationId xmlns:a16="http://schemas.microsoft.com/office/drawing/2014/main" id="{7C8D5C83-CC00-5543-FBC5-EEAECF4DD5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552" y="1124744"/>
            <a:ext cx="8253282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las direcciones IP estáticas (IP, máscara de subred, default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server) de los servidores: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www.tec.com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(dirección privada)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dns.com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9C48AE-EAEE-28C5-2DE2-52F0A65D1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6" y="2708556"/>
            <a:ext cx="8964488" cy="303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39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DHCP</a:t>
            </a:r>
          </a:p>
        </p:txBody>
      </p:sp>
      <p:sp>
        <p:nvSpPr>
          <p:cNvPr id="6" name="7 CuadroTexto">
            <a:extLst>
              <a:ext uri="{FF2B5EF4-FFF2-40B4-BE49-F238E27FC236}">
                <a16:creationId xmlns:a16="http://schemas.microsoft.com/office/drawing/2014/main" id="{B042F61A-9B59-44FB-8ECE-B57CC43CF6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552" y="1124744"/>
            <a:ext cx="8253282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Instalaremos el servicio de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 centralizado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Un servicio centralizado es aquel que se configura en un solo ruteador.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¿Dónde instalaremos el servicio?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¿Cómo seleccionar la IP de la interfaz que ayudará a resolver el DHCP?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91D34C-D7D2-6BDB-F3D9-FAD1450DC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6" y="2852936"/>
            <a:ext cx="8964488" cy="303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02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251520" y="72008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DHCP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1939908B-A22B-4F30-B672-5DA27864DE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560" y="1161470"/>
            <a:ext cx="7545950" cy="18933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 de DHCP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 a asignar a los equipos terminales: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IP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Máscara de subred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Puerta de enlace predeterminada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Servidor DNS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8DE042-BBD7-2389-A7E9-7E0B6DB07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14" y="2420888"/>
            <a:ext cx="8838728" cy="2988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625760" y="1196752"/>
            <a:ext cx="8001000" cy="5048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>
              <a:lnSpc>
                <a:spcPct val="150000"/>
              </a:lnSpc>
              <a:spcAft>
                <a:spcPts val="1200"/>
              </a:spcAft>
              <a:buAutoNum type="arabicPeriod"/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Excluir las direcciones estáticas del pool de DHCP.</a:t>
            </a:r>
          </a:p>
          <a:p>
            <a:pPr lvl="1">
              <a:lnSpc>
                <a:spcPct val="150000"/>
              </a:lnSpc>
              <a:spcAft>
                <a:spcPts val="1200"/>
              </a:spcAft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dhcp excluded-address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Dir_IP_Inicial Dir_IP_Final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+mj-lt"/>
              <a:buAutoNum type="arabicPeriod" startAt="2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Definir un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pool de direcciones dinámicas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 serán asignadas cuando sean solicitadas.</a:t>
            </a:r>
          </a:p>
          <a:p>
            <a:pPr lvl="1">
              <a:lnSpc>
                <a:spcPct val="150000"/>
              </a:lnSpc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dhcp pool</a:t>
            </a:r>
            <a:r>
              <a:rPr lang="es-MX" sz="16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NombrePool</a:t>
            </a:r>
          </a:p>
          <a:p>
            <a:pPr lvl="1">
              <a:lnSpc>
                <a:spcPct val="150000"/>
              </a:lnSpc>
            </a:pPr>
            <a:r>
              <a:rPr lang="es-MX" sz="16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 red Máscara de subred</a:t>
            </a:r>
          </a:p>
          <a:p>
            <a:pPr marL="342900" indent="-34290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+mj-lt"/>
              <a:buAutoNum type="arabicPeriod" startAt="2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Establecer la  puerta de enlace predeterminada (default Gateway):</a:t>
            </a:r>
          </a:p>
          <a:p>
            <a:pPr lvl="1">
              <a:lnSpc>
                <a:spcPct val="150000"/>
              </a:lnSpc>
              <a:spcAft>
                <a:spcPts val="1200"/>
              </a:spcAft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default-router</a:t>
            </a:r>
            <a:r>
              <a:rPr lang="es-MX" sz="16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dirIP</a:t>
            </a:r>
          </a:p>
          <a:p>
            <a:pPr marL="342900" lvl="1" indent="-34290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+mj-lt"/>
              <a:buAutoNum type="arabicPeriod" startAt="4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Establecer el servidor dns:</a:t>
            </a:r>
          </a:p>
          <a:p>
            <a:pPr lvl="1">
              <a:lnSpc>
                <a:spcPct val="150000"/>
              </a:lnSpc>
              <a:spcAft>
                <a:spcPts val="1200"/>
              </a:spcAft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dns-server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dirIP-Server</a:t>
            </a: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016" y="53752"/>
            <a:ext cx="8820472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un servicio DHCP</a:t>
            </a:r>
          </a:p>
        </p:txBody>
      </p:sp>
    </p:spTree>
    <p:extLst>
      <p:ext uri="{BB962C8B-B14F-4D97-AF65-F5344CB8AC3E}">
        <p14:creationId xmlns:p14="http://schemas.microsoft.com/office/powerpoint/2010/main" val="2801778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ruteo estático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53A6B150-9682-60C5-EAF4-78F92F3DC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7" y="908720"/>
            <a:ext cx="8528729" cy="18933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0" lvl="1" indent="0" algn="just">
              <a:lnSpc>
                <a:spcPct val="150000"/>
              </a:lnSpc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En el ruteador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RB</a:t>
            </a:r>
          </a:p>
          <a:p>
            <a:pPr marL="3429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Configure una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ruta por default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hacia el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</a:p>
          <a:p>
            <a:pPr algn="just">
              <a:lnSpc>
                <a:spcPct val="150000"/>
              </a:lnSpc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En el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Configurar una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ruta estática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del next-hop o recursiva hacia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RB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 utilizando el rango de direcciones de red pública asignado </a:t>
            </a:r>
            <a:r>
              <a:rPr lang="es-MX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170.15.9.32 /27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46A620-6BF1-4EF9-FC0F-FA27EE8AB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6" y="2918268"/>
            <a:ext cx="8964488" cy="303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59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NAT estático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53A6B150-9682-60C5-EAF4-78F92F3DC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8" y="1186186"/>
            <a:ext cx="8280920" cy="18933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conectividad interna y externa.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el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 de NAT estático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 para el servidor del </a:t>
            </a:r>
            <a:r>
              <a:rPr lang="es-MX" sz="1600" dirty="0" err="1">
                <a:latin typeface="Arial" panose="020B0604020202020204" pitchFamily="34" charset="0"/>
                <a:cs typeface="Arial" panose="020B0604020202020204" pitchFamily="34" charset="0"/>
              </a:rPr>
              <a:t>tec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Establecer la traducción estática de direcciones de uno a uno, es decir, traducir la dirección IP privada del servidor del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por una dirección IP pública. Utiliza la primera dirección pública disponible del </a:t>
            </a:r>
            <a:r>
              <a:rPr lang="es-ES" sz="1600" dirty="0">
                <a:solidFill>
                  <a:srgbClr val="EEECE1">
                    <a:lumMod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POOL de direcciones IP públicas asignado: </a:t>
            </a:r>
            <a:r>
              <a:rPr lang="es-MX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170.15.9.32 /27</a:t>
            </a:r>
            <a:endParaRPr lang="es-MX" sz="16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16B31-FB4B-F3C9-A275-456ED7993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6" y="3212976"/>
            <a:ext cx="8964488" cy="303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49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NAT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53A6B150-9682-60C5-EAF4-78F92F3DC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520" y="941013"/>
            <a:ext cx="8640960" cy="23145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buFont typeface="+mj-lt"/>
              <a:buAutoNum type="arabicPeriod" startAt="3"/>
            </a:pP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el </a:t>
            </a: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 de NAT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¿Cómo conectar direcciones 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privadas 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direcciones 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públicas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lvl="1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Configuraremos el servicio de NAT con una </a:t>
            </a:r>
            <a:r>
              <a:rPr lang="es-ES" sz="1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lista de control de acceso </a:t>
            </a: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 permita que todos los usuarios de la red local puedan salir al exterior.</a:t>
            </a:r>
          </a:p>
          <a:p>
            <a:pPr lvl="1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Instalaremos el servicio de NAT utilizando el POOL de las siguientes direcciones IP públicas: </a:t>
            </a:r>
            <a:r>
              <a:rPr lang="es-MX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170.15.9.32 /27</a:t>
            </a:r>
          </a:p>
          <a:p>
            <a:pPr lvl="1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Descarte la primera IP disponible del POOL, ya que fue asignada al direccionamiento estático del servidor del </a:t>
            </a:r>
            <a:r>
              <a:rPr lang="es-MX" sz="14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00CABD-1879-6B76-9FB2-78ACB6816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60" y="2996952"/>
            <a:ext cx="8892480" cy="300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009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NAT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53A6B150-9682-60C5-EAF4-78F92F3DC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520" y="941013"/>
            <a:ext cx="8640960" cy="3053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spcBef>
                <a:spcPts val="1200"/>
              </a:spcBef>
              <a:buFont typeface="+mj-lt"/>
              <a:buAutoNum type="arabicPeriod" startAt="4"/>
            </a:pP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Especificar las 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interfaces interiores y exteriores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es decir, vamos a especificar si haremos </a:t>
            </a:r>
            <a:r>
              <a:rPr lang="es-MX" sz="14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nateo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interno o externo en 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interface </a:t>
            </a:r>
            <a:r>
              <a:rPr lang="es-MX" sz="1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Tipo-Número</a:t>
            </a:r>
          </a:p>
          <a:p>
            <a:pPr lvl="1">
              <a:lnSpc>
                <a:spcPct val="150000"/>
              </a:lnSpc>
            </a:pPr>
            <a:r>
              <a:rPr lang="es-MX" sz="14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</a:t>
            </a: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</a:t>
            </a: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inside</a:t>
            </a:r>
            <a:endParaRPr lang="es-MX" sz="14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s-MX" sz="1400" u="sng" dirty="0">
                <a:latin typeface="Arial" panose="020B0604020202020204" pitchFamily="34" charset="0"/>
                <a:cs typeface="Arial" panose="020B0604020202020204" pitchFamily="34" charset="0"/>
              </a:rPr>
              <a:t>Todas las interfaces que tengamos configuradas en nuestra red local.</a:t>
            </a:r>
          </a:p>
          <a:p>
            <a:pPr lvl="1">
              <a:lnSpc>
                <a:spcPct val="150000"/>
              </a:lnSpc>
              <a:spcBef>
                <a:spcPts val="600"/>
              </a:spcBef>
            </a:pP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interface </a:t>
            </a:r>
            <a:r>
              <a:rPr lang="es-MX" sz="1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Tipo-Número</a:t>
            </a:r>
          </a:p>
          <a:p>
            <a:pPr lvl="1">
              <a:lnSpc>
                <a:spcPct val="150000"/>
              </a:lnSpc>
            </a:pPr>
            <a:r>
              <a:rPr lang="es-MX" sz="14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</a:t>
            </a: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</a:t>
            </a: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outside</a:t>
            </a:r>
            <a:endParaRPr lang="es-MX" sz="14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2438" lvl="1" indent="0">
              <a:lnSpc>
                <a:spcPct val="150000"/>
              </a:lnSpc>
            </a:pPr>
            <a:r>
              <a:rPr lang="es-MX" sz="1400" u="sng" dirty="0">
                <a:latin typeface="Arial" panose="020B0604020202020204" pitchFamily="34" charset="0"/>
                <a:cs typeface="Arial" panose="020B0604020202020204" pitchFamily="34" charset="0"/>
              </a:rPr>
              <a:t>Todas las interfaces que tengamos configuradas con un proveedor de servicios (ISP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), ya que por ahí va a salir la traducción del direccionamiento privado a público.</a:t>
            </a:r>
            <a:endParaRPr lang="es-MX" sz="14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C28DEE-7FCF-B190-94EB-1833FC129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3717032"/>
            <a:ext cx="8892480" cy="300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847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266847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del servidor DNS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C2FBB8-293D-1C2B-26AE-75F1BE4A93AA}"/>
              </a:ext>
            </a:extLst>
          </p:cNvPr>
          <p:cNvSpPr txBox="1"/>
          <p:nvPr/>
        </p:nvSpPr>
        <p:spPr>
          <a:xfrm>
            <a:off x="539552" y="1348169"/>
            <a:ext cx="8064896" cy="152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hangingPunct="0">
              <a:lnSpc>
                <a:spcPct val="150000"/>
              </a:lnSpc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Configurar el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servidor DNS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con registros para los servidores del tec, </a:t>
            </a:r>
            <a:r>
              <a:rPr lang="es-MX" sz="1600" dirty="0" err="1">
                <a:latin typeface="Arial" panose="020B0604020202020204" pitchFamily="34" charset="0"/>
                <a:cs typeface="Arial" panose="020B0604020202020204" pitchFamily="34" charset="0"/>
              </a:rPr>
              <a:t>minecraft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 y DNS:</a:t>
            </a:r>
          </a:p>
          <a:p>
            <a:pPr marL="800100" lvl="1" indent="-342900" algn="just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www.tec.com (dirección pública)	</a:t>
            </a:r>
          </a:p>
          <a:p>
            <a:pPr marL="800100" lvl="1" indent="-342900" algn="just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minecraft.com</a:t>
            </a:r>
          </a:p>
          <a:p>
            <a:pPr marL="800100" lvl="1" indent="-342900" algn="just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DNS.com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D3A655-FB1F-FEFA-2C5A-6C352FDFA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80" y="2854606"/>
            <a:ext cx="8532440" cy="288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8857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9774</TotalTime>
  <Words>613</Words>
  <Application>Microsoft Office PowerPoint</Application>
  <PresentationFormat>On-screen Show (4:3)</PresentationFormat>
  <Paragraphs>64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Dom Casual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TC1017  Solución de problemas con programación</dc:title>
  <dc:creator>profesor</dc:creator>
  <cp:lastModifiedBy>Lizethe Pérez Fuertes</cp:lastModifiedBy>
  <cp:revision>265</cp:revision>
  <dcterms:created xsi:type="dcterms:W3CDTF">2013-06-11T22:32:36Z</dcterms:created>
  <dcterms:modified xsi:type="dcterms:W3CDTF">2025-04-22T22:35:52Z</dcterms:modified>
</cp:coreProperties>
</file>