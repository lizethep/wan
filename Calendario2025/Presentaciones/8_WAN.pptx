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379" r:id="rId2"/>
    <p:sldId id="493" r:id="rId3"/>
    <p:sldId id="498" r:id="rId4"/>
    <p:sldId id="349" r:id="rId5"/>
    <p:sldId id="350" r:id="rId6"/>
    <p:sldId id="381" r:id="rId7"/>
    <p:sldId id="509" r:id="rId8"/>
    <p:sldId id="500" r:id="rId9"/>
    <p:sldId id="496" r:id="rId10"/>
    <p:sldId id="397" r:id="rId11"/>
    <p:sldId id="398" r:id="rId12"/>
    <p:sldId id="384" r:id="rId13"/>
    <p:sldId id="385" r:id="rId14"/>
    <p:sldId id="386" r:id="rId15"/>
    <p:sldId id="387" r:id="rId16"/>
    <p:sldId id="388" r:id="rId17"/>
    <p:sldId id="389" r:id="rId18"/>
    <p:sldId id="495" r:id="rId19"/>
    <p:sldId id="502" r:id="rId20"/>
    <p:sldId id="392" r:id="rId21"/>
    <p:sldId id="393" r:id="rId22"/>
    <p:sldId id="394" r:id="rId23"/>
    <p:sldId id="395" r:id="rId24"/>
    <p:sldId id="501" r:id="rId25"/>
    <p:sldId id="494" r:id="rId26"/>
    <p:sldId id="400" r:id="rId27"/>
    <p:sldId id="510" r:id="rId28"/>
    <p:sldId id="401" r:id="rId29"/>
    <p:sldId id="404" r:id="rId30"/>
    <p:sldId id="511" r:id="rId31"/>
    <p:sldId id="409" r:id="rId32"/>
    <p:sldId id="411" r:id="rId33"/>
    <p:sldId id="408" r:id="rId34"/>
    <p:sldId id="412" r:id="rId35"/>
    <p:sldId id="508" r:id="rId36"/>
    <p:sldId id="423" r:id="rId37"/>
    <p:sldId id="421" r:id="rId38"/>
    <p:sldId id="422" r:id="rId39"/>
    <p:sldId id="424" r:id="rId40"/>
    <p:sldId id="425" r:id="rId41"/>
    <p:sldId id="426" r:id="rId4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250" autoAdjust="0"/>
  </p:normalViewPr>
  <p:slideViewPr>
    <p:cSldViewPr>
      <p:cViewPr varScale="1">
        <p:scale>
          <a:sx n="107" d="100"/>
          <a:sy n="107" d="100"/>
        </p:scale>
        <p:origin x="165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1448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48012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26806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2 Marcador de notas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MX" altLang="es-MX" dirty="0"/>
          </a:p>
        </p:txBody>
      </p:sp>
      <p:sp>
        <p:nvSpPr>
          <p:cNvPr id="59396" name="3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5FF36418-BE35-4379-AB8C-F4D62D4C09A6}" type="slidenum">
              <a:rPr lang="es-MX" altLang="es-MX" smtClean="0"/>
              <a:pPr>
                <a:spcBef>
                  <a:spcPct val="0"/>
                </a:spcBef>
              </a:pPr>
              <a:t>10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2676496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2 Marcador de notas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MX" altLang="es-MX" dirty="0"/>
          </a:p>
        </p:txBody>
      </p:sp>
      <p:sp>
        <p:nvSpPr>
          <p:cNvPr id="60420" name="3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E70DD6A2-591C-4899-A79A-5C91AFB5796D}" type="slidenum">
              <a:rPr lang="es-MX" altLang="es-MX" smtClean="0"/>
              <a:pPr>
                <a:spcBef>
                  <a:spcPct val="0"/>
                </a:spcBef>
              </a:pPr>
              <a:t>11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3929332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15/05/2025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463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Redes de área amplia (WAN)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ITESM Campus Querétaro</a:t>
            </a:r>
          </a:p>
        </p:txBody>
      </p:sp>
      <p:pic>
        <p:nvPicPr>
          <p:cNvPr id="10" name="Imagen 9" descr="Imagen que contiene interior, tabla, juguete, oficina&#10;&#10;Descripción generada automáticamente">
            <a:extLst>
              <a:ext uri="{FF2B5EF4-FFF2-40B4-BE49-F238E27FC236}">
                <a16:creationId xmlns:a16="http://schemas.microsoft.com/office/drawing/2014/main" id="{9B5C98AD-39F9-737B-9D19-EDB5C6CF6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501008"/>
            <a:ext cx="4572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3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a pantalla de una computadora&#10;&#10;Descripción generada automáticamente con confianza media">
            <a:extLst>
              <a:ext uri="{FF2B5EF4-FFF2-40B4-BE49-F238E27FC236}">
                <a16:creationId xmlns:a16="http://schemas.microsoft.com/office/drawing/2014/main" id="{069253FC-52A6-4B7E-B893-87B9E83FE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062" y="2108950"/>
            <a:ext cx="4104456" cy="2815657"/>
          </a:xfrm>
          <a:prstGeom prst="rect">
            <a:avLst/>
          </a:prstGeom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971600" y="2016112"/>
            <a:ext cx="3456384" cy="2262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Introducción a las WANs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Líneas arrendadas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VPNs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MPLS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Tecnologías de acceso a Internet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Conexiones redundantes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92025" y="692696"/>
            <a:ext cx="7539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Agenda de esta sesión</a:t>
            </a:r>
          </a:p>
        </p:txBody>
      </p:sp>
    </p:spTree>
    <p:extLst>
      <p:ext uri="{BB962C8B-B14F-4D97-AF65-F5344CB8AC3E}">
        <p14:creationId xmlns:p14="http://schemas.microsoft.com/office/powerpoint/2010/main" val="10096646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524785" y="5490971"/>
            <a:ext cx="5221554" cy="115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Introducción a las redes WAN</a:t>
            </a:r>
          </a:p>
        </p:txBody>
      </p:sp>
      <p:pic>
        <p:nvPicPr>
          <p:cNvPr id="2" name="Imagen 1" descr="Imagen que contiene interior, tabla, juguete, oficina&#10;&#10;Descripción generada automáticamente">
            <a:extLst>
              <a:ext uri="{FF2B5EF4-FFF2-40B4-BE49-F238E27FC236}">
                <a16:creationId xmlns:a16="http://schemas.microsoft.com/office/drawing/2014/main" id="{B2AF0578-7021-D8BC-DED0-E29F8FDE4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7" y="390832"/>
            <a:ext cx="8216570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23012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899592" y="2210466"/>
            <a:ext cx="7776864" cy="1506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La conexión se hace por medio de microondas, enlaces dedicados digitales, como fibra óptica, o por Internet.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s-MX" sz="2000" dirty="0">
              <a:solidFill>
                <a:schemeClr val="bg2">
                  <a:lumMod val="25000"/>
                </a:schemeClr>
              </a:solidFill>
              <a:latin typeface="+mn-lt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5496" y="44624"/>
            <a:ext cx="8964488" cy="150304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000"/>
              </a:lnSpc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Redes de Área Amplia (WAN)</a:t>
            </a:r>
          </a:p>
          <a:p>
            <a:pPr>
              <a:lnSpc>
                <a:spcPts val="4000"/>
              </a:lnSpc>
              <a:defRPr/>
            </a:pP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</a:rPr>
              <a:t>(Wide Area Network)</a:t>
            </a:r>
            <a:endParaRPr lang="es-ES_tradnl" sz="3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07" y="3501008"/>
            <a:ext cx="6982570" cy="2506900"/>
          </a:xfrm>
          <a:prstGeom prst="rect">
            <a:avLst/>
          </a:prstGeom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44016" y="1482548"/>
            <a:ext cx="8855968" cy="50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s-MX" sz="20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Enlazan dos o más redes LAN en diferentes lugares geográficos. </a:t>
            </a:r>
          </a:p>
        </p:txBody>
      </p:sp>
    </p:spTree>
    <p:extLst>
      <p:ext uri="{BB962C8B-B14F-4D97-AF65-F5344CB8AC3E}">
        <p14:creationId xmlns:p14="http://schemas.microsoft.com/office/powerpoint/2010/main" val="310000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4479300"/>
            <a:ext cx="2647960" cy="2185327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72919" y="1286036"/>
            <a:ext cx="8398162" cy="379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</a:pPr>
            <a:r>
              <a:rPr lang="es-ES" sz="18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Se extienden sobre una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gran área geográfica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. Por ejemplo: Entre ciudades, países y continentes.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 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Su tamaño puede oscilar entre </a:t>
            </a: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100 y 1000 kilómetros. </a:t>
            </a:r>
            <a:endParaRPr lang="es-ES_tradnl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Se utilizan para conectar </a:t>
            </a: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LANs geográficamente distantes</a:t>
            </a: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. 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Por ejemplo, para conectar dos oficinas que se encuentran en diferentes ciudades o países.</a:t>
            </a:r>
            <a:endParaRPr lang="es-MX" sz="1800" dirty="0">
              <a:solidFill>
                <a:schemeClr val="bg2">
                  <a:lumMod val="25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</a:pPr>
            <a:r>
              <a:rPr lang="es-MX" sz="1800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Suelen pertenecer a una organización. Son similares a un sistema bancario, donde cientos de sucursales en diferentes ciudades están conectadas entre sí para compartir sus datos oficiales.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72919" y="5079258"/>
            <a:ext cx="5063177" cy="1321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lvl="1" indent="-342900">
              <a:lnSpc>
                <a:spcPct val="150000"/>
              </a:lnSpc>
              <a:spcBef>
                <a:spcPts val="12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</a:pPr>
            <a:r>
              <a:rPr lang="es-ES" dirty="0">
                <a:solidFill>
                  <a:schemeClr val="bg2">
                    <a:lumMod val="25000"/>
                  </a:schemeClr>
                </a:solidFill>
              </a:rPr>
              <a:t>Utilizan una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velocidad de transmisión más baja </a:t>
            </a:r>
            <a:r>
              <a:rPr lang="es-ES" dirty="0">
                <a:solidFill>
                  <a:schemeClr val="bg2">
                    <a:lumMod val="25000"/>
                  </a:schemeClr>
                </a:solidFill>
              </a:rPr>
              <a:t>que las redes de área</a:t>
            </a:r>
            <a:r>
              <a:rPr lang="es-ES_tradnl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dirty="0">
                <a:solidFill>
                  <a:schemeClr val="bg2">
                    <a:lumMod val="25000"/>
                  </a:schemeClr>
                </a:solidFill>
              </a:rPr>
              <a:t>local.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951720C-5AAF-2912-D5A7-30F68FA3EC70}"/>
              </a:ext>
            </a:extLst>
          </p:cNvPr>
          <p:cNvSpPr txBox="1">
            <a:spLocks noChangeArrowheads="1"/>
          </p:cNvSpPr>
          <p:nvPr/>
        </p:nvSpPr>
        <p:spPr>
          <a:xfrm>
            <a:off x="35496" y="44624"/>
            <a:ext cx="8964488" cy="1241412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000"/>
              </a:lnSpc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Redes de Área Amplia (WAN)</a:t>
            </a:r>
          </a:p>
          <a:p>
            <a:pPr>
              <a:lnSpc>
                <a:spcPts val="4000"/>
              </a:lnSpc>
              <a:defRPr/>
            </a:pP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</a:rPr>
              <a:t>(Wide Area Network)</a:t>
            </a:r>
            <a:endParaRPr lang="es-ES_tradnl" sz="3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14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827584" y="1356956"/>
            <a:ext cx="7621948" cy="170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Aunque 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Internet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 sí misma puede considerarse una WAN, el término WAN se usa normalmente para referirse a las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conexiones privadas de una empresa que conecta sus oficinas, centros de datos y otros sitios entre sí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94321A2-E132-2057-9392-2CFB602A1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941" y="3140968"/>
            <a:ext cx="5936117" cy="3096344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E800AB10-23F0-939A-8878-72C20E4E29DF}"/>
              </a:ext>
            </a:extLst>
          </p:cNvPr>
          <p:cNvSpPr txBox="1">
            <a:spLocks noChangeArrowheads="1"/>
          </p:cNvSpPr>
          <p:nvPr/>
        </p:nvSpPr>
        <p:spPr>
          <a:xfrm>
            <a:off x="35496" y="44624"/>
            <a:ext cx="8964488" cy="1241412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000"/>
              </a:lnSpc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Redes de Área Amplia (WAN)</a:t>
            </a:r>
          </a:p>
          <a:p>
            <a:pPr>
              <a:lnSpc>
                <a:spcPts val="4000"/>
              </a:lnSpc>
              <a:defRPr/>
            </a:pP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</a:rPr>
              <a:t>(Wide Area Network)</a:t>
            </a:r>
            <a:endParaRPr lang="es-ES_tradnl" sz="3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5314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766477" y="1458098"/>
            <a:ext cx="7837971" cy="8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 redes públicas compartidas como Internet, las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VPN (redes privadas virtuales)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se pueden usar para crear conexiones WAN privadas.</a:t>
            </a:r>
            <a:endParaRPr lang="es-MX" sz="1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66475" y="476672"/>
            <a:ext cx="7539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Redes de Área Amplia (WAN)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158A90F-81A6-A638-6384-FEEE791CC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913" y="2908284"/>
            <a:ext cx="6472163" cy="204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803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524785" y="5490971"/>
            <a:ext cx="5221554" cy="115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Líneas arrendadas</a:t>
            </a:r>
            <a:endParaRPr lang="en-US" sz="3500" b="1" kern="1200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2" name="Imagen 1" descr="Imagen que contiene interior, tabla, juguete, oficina&#10;&#10;Descripción generada automáticamente">
            <a:extLst>
              <a:ext uri="{FF2B5EF4-FFF2-40B4-BE49-F238E27FC236}">
                <a16:creationId xmlns:a16="http://schemas.microsoft.com/office/drawing/2014/main" id="{B2AF0578-7021-D8BC-DED0-E29F8FDE4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7" y="390832"/>
            <a:ext cx="8216570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9592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WAN sobre conexión dedicada 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(línea arrendada – Leased line)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626426-F9D3-F529-A184-579EC613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4844"/>
            <a:ext cx="9144000" cy="4359701"/>
          </a:xfrm>
          <a:prstGeom prst="rect">
            <a:avLst/>
          </a:prstGeom>
        </p:spPr>
      </p:pic>
      <p:sp>
        <p:nvSpPr>
          <p:cNvPr id="2" name="Text Box 5">
            <a:extLst>
              <a:ext uri="{FF2B5EF4-FFF2-40B4-BE49-F238E27FC236}">
                <a16:creationId xmlns:a16="http://schemas.microsoft.com/office/drawing/2014/main" id="{B16D6172-4C79-847C-A34A-762F4133D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528" y="1196752"/>
            <a:ext cx="8352929" cy="11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Una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línea arrendada es un enlace físico dedicado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que generalmente conecta dos sitios. Las líneas arrendadas son conexiones físicas dedicadas que se pueden usar para conectar sitios entre sí para formar una WAN.</a:t>
            </a:r>
            <a:endParaRPr lang="es-MX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6094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MX" altLang="es-MX" sz="2400" dirty="0"/>
          </a:p>
        </p:txBody>
      </p:sp>
      <p:sp>
        <p:nvSpPr>
          <p:cNvPr id="5" name="5 CuadroTexto"/>
          <p:cNvSpPr txBox="1">
            <a:spLocks noChangeArrowheads="1"/>
          </p:cNvSpPr>
          <p:nvPr/>
        </p:nvSpPr>
        <p:spPr bwMode="auto">
          <a:xfrm>
            <a:off x="683568" y="1412776"/>
            <a:ext cx="7858125" cy="96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MX" altLang="es-MX" sz="2000" dirty="0">
                <a:latin typeface="ZapfHumnst BT"/>
              </a:rPr>
              <a:t>En </a:t>
            </a:r>
            <a:r>
              <a:rPr lang="es-MX" altLang="es-MX" sz="2000" b="1" dirty="0">
                <a:latin typeface="ZapfHumnst BT"/>
              </a:rPr>
              <a:t>Europa</a:t>
            </a:r>
            <a:r>
              <a:rPr lang="es-MX" altLang="es-MX" sz="2000" dirty="0">
                <a:latin typeface="ZapfHumnst BT"/>
              </a:rPr>
              <a:t>, existen cinco tipos de líneas dedicadas que se distinguen según sus velocidades:</a:t>
            </a:r>
          </a:p>
        </p:txBody>
      </p:sp>
      <p:sp>
        <p:nvSpPr>
          <p:cNvPr id="6" name="5 CuadroTexto"/>
          <p:cNvSpPr txBox="1">
            <a:spLocks noChangeArrowheads="1"/>
          </p:cNvSpPr>
          <p:nvPr/>
        </p:nvSpPr>
        <p:spPr bwMode="auto">
          <a:xfrm>
            <a:off x="1397943" y="2474814"/>
            <a:ext cx="6072188" cy="2930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s-MX" altLang="es-MX" sz="2000" dirty="0">
                <a:latin typeface="ZapfHumnst BT"/>
              </a:rPr>
              <a:t>  E0 = </a:t>
            </a:r>
            <a:r>
              <a:rPr lang="es-MX" altLang="es-MX" sz="2000" b="1" dirty="0">
                <a:latin typeface="ZapfHumnst BT"/>
              </a:rPr>
              <a:t>64 Kbps</a:t>
            </a:r>
            <a:r>
              <a:rPr lang="es-MX" altLang="es-MX" sz="2000" dirty="0">
                <a:latin typeface="ZapfHumnst BT"/>
              </a:rPr>
              <a:t> </a:t>
            </a:r>
          </a:p>
          <a:p>
            <a:pPr lvl="1" algn="just" eaLnBrk="1" hangingPunct="1">
              <a:lnSpc>
                <a:spcPct val="2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s-MX" altLang="es-MX" sz="2000" dirty="0">
                <a:latin typeface="ZapfHumnst BT"/>
              </a:rPr>
              <a:t>  E1 = 32 líneas E0 (</a:t>
            </a:r>
            <a:r>
              <a:rPr lang="es-MX" altLang="es-MX" sz="2000" b="1" dirty="0">
                <a:latin typeface="ZapfHumnst BT"/>
              </a:rPr>
              <a:t>2.048 Mbps</a:t>
            </a:r>
            <a:r>
              <a:rPr lang="es-MX" altLang="es-MX" sz="2000" dirty="0">
                <a:latin typeface="ZapfHumnst BT"/>
              </a:rPr>
              <a:t>) </a:t>
            </a:r>
          </a:p>
          <a:p>
            <a:pPr lvl="1" algn="just" eaLnBrk="1" hangingPunct="1">
              <a:lnSpc>
                <a:spcPct val="2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s-MX" altLang="es-MX" sz="2000" dirty="0">
                <a:latin typeface="ZapfHumnst BT"/>
              </a:rPr>
              <a:t>  E2 = 128 líneas E0 (</a:t>
            </a:r>
            <a:r>
              <a:rPr lang="es-MX" altLang="es-MX" sz="2000" b="1" dirty="0">
                <a:latin typeface="ZapfHumnst BT"/>
              </a:rPr>
              <a:t>8.448 Mbps</a:t>
            </a:r>
            <a:r>
              <a:rPr lang="es-MX" altLang="es-MX" sz="2000" dirty="0">
                <a:latin typeface="ZapfHumnst BT"/>
              </a:rPr>
              <a:t>) </a:t>
            </a:r>
          </a:p>
          <a:p>
            <a:pPr lvl="1" algn="just" eaLnBrk="1" hangingPunct="1">
              <a:lnSpc>
                <a:spcPct val="2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s-MX" altLang="es-MX" sz="2000" dirty="0">
                <a:latin typeface="ZapfHumnst BT"/>
              </a:rPr>
              <a:t>  E3 = 16 líneas E1 (</a:t>
            </a:r>
            <a:r>
              <a:rPr lang="es-MX" altLang="es-MX" sz="2000" b="1" dirty="0">
                <a:latin typeface="ZapfHumnst BT"/>
              </a:rPr>
              <a:t>34.368 Mbps</a:t>
            </a:r>
            <a:r>
              <a:rPr lang="es-MX" altLang="es-MX" sz="2000" dirty="0">
                <a:latin typeface="ZapfHumnst BT"/>
              </a:rPr>
              <a:t>) </a:t>
            </a:r>
          </a:p>
          <a:p>
            <a:pPr lvl="1" algn="just" eaLnBrk="1" hangingPunct="1">
              <a:lnSpc>
                <a:spcPct val="2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s-MX" altLang="es-MX" sz="2000" dirty="0">
                <a:latin typeface="ZapfHumnst BT"/>
              </a:rPr>
              <a:t>  E4 = 64 líneas E1 (</a:t>
            </a:r>
            <a:r>
              <a:rPr lang="es-MX" altLang="es-MX" sz="2000" b="1" dirty="0">
                <a:latin typeface="ZapfHumnst BT"/>
              </a:rPr>
              <a:t>139.264 Mbps</a:t>
            </a:r>
            <a:r>
              <a:rPr lang="es-MX" altLang="es-MX" sz="2000" dirty="0">
                <a:latin typeface="ZapfHumnst BT"/>
              </a:rPr>
              <a:t>) 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F6922847-901D-77EB-ABF8-C2365EB97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880" y="240229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Líneas arrendadas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(Leased lines)</a:t>
            </a:r>
          </a:p>
        </p:txBody>
      </p:sp>
    </p:spTree>
    <p:extLst>
      <p:ext uri="{BB962C8B-B14F-4D97-AF65-F5344CB8AC3E}">
        <p14:creationId xmlns:p14="http://schemas.microsoft.com/office/powerpoint/2010/main" val="337618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MX" altLang="es-MX" sz="2400" dirty="0"/>
          </a:p>
        </p:txBody>
      </p:sp>
      <p:sp>
        <p:nvSpPr>
          <p:cNvPr id="6" name="5 CuadroTexto"/>
          <p:cNvSpPr txBox="1">
            <a:spLocks noChangeArrowheads="1"/>
          </p:cNvSpPr>
          <p:nvPr/>
        </p:nvSpPr>
        <p:spPr bwMode="auto">
          <a:xfrm>
            <a:off x="571500" y="1347043"/>
            <a:ext cx="5786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es-MX" altLang="es-MX" sz="2000" dirty="0">
                <a:latin typeface="ZapfHumnst BT"/>
              </a:rPr>
              <a:t>En </a:t>
            </a:r>
            <a:r>
              <a:rPr lang="es-MX" altLang="es-MX" sz="2000" b="1" dirty="0">
                <a:latin typeface="ZapfHumnst BT"/>
              </a:rPr>
              <a:t>Estados Unidos</a:t>
            </a:r>
            <a:r>
              <a:rPr lang="es-MX" altLang="es-MX" sz="2000" dirty="0">
                <a:latin typeface="ZapfHumnst BT"/>
              </a:rPr>
              <a:t>, el concepto es el siguiente: 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866775" y="2132856"/>
            <a:ext cx="5276850" cy="24683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algn="just">
              <a:lnSpc>
                <a:spcPct val="200000"/>
              </a:lnSpc>
              <a:buFont typeface="Arial" pitchFamily="34" charset="0"/>
              <a:buChar char="•"/>
              <a:defRPr/>
            </a:pPr>
            <a:r>
              <a:rPr lang="es-MX" sz="2000" dirty="0">
                <a:latin typeface="ZapfHumnst BT"/>
                <a:cs typeface="+mn-cs"/>
              </a:rPr>
              <a:t>  T1  = </a:t>
            </a:r>
            <a:r>
              <a:rPr lang="es-MX" sz="2000" b="1" dirty="0">
                <a:latin typeface="ZapfHumnst BT"/>
                <a:cs typeface="+mn-cs"/>
              </a:rPr>
              <a:t>1.544 Mbps</a:t>
            </a:r>
          </a:p>
          <a:p>
            <a:pPr lvl="1" algn="just">
              <a:lnSpc>
                <a:spcPct val="200000"/>
              </a:lnSpc>
              <a:buFont typeface="Arial" pitchFamily="34" charset="0"/>
              <a:buChar char="•"/>
              <a:defRPr/>
            </a:pPr>
            <a:r>
              <a:rPr lang="es-MX" sz="2000" dirty="0">
                <a:latin typeface="ZapfHumnst BT"/>
                <a:cs typeface="+mn-cs"/>
              </a:rPr>
              <a:t>  T2 = 4 líneas T1 (</a:t>
            </a:r>
            <a:r>
              <a:rPr lang="es-MX" sz="2000" b="1" dirty="0">
                <a:latin typeface="ZapfHumnst BT"/>
                <a:cs typeface="+mn-cs"/>
              </a:rPr>
              <a:t>6 Mbps</a:t>
            </a:r>
            <a:r>
              <a:rPr lang="es-MX" sz="2000" dirty="0">
                <a:latin typeface="ZapfHumnst BT"/>
                <a:cs typeface="+mn-cs"/>
              </a:rPr>
              <a:t>)</a:t>
            </a:r>
          </a:p>
          <a:p>
            <a:pPr lvl="1" algn="just">
              <a:lnSpc>
                <a:spcPct val="200000"/>
              </a:lnSpc>
              <a:buFont typeface="Arial" pitchFamily="34" charset="0"/>
              <a:buChar char="•"/>
              <a:defRPr/>
            </a:pPr>
            <a:r>
              <a:rPr lang="es-MX" sz="2000" dirty="0">
                <a:latin typeface="ZapfHumnst BT"/>
                <a:cs typeface="+mn-cs"/>
              </a:rPr>
              <a:t>  T3 = 28 líneas T1 (</a:t>
            </a:r>
            <a:r>
              <a:rPr lang="es-MX" sz="2000" b="1" kern="0" dirty="0">
                <a:latin typeface="ZapfHumnst BT"/>
                <a:cs typeface="+mn-cs"/>
              </a:rPr>
              <a:t>44.736 Mbps</a:t>
            </a:r>
            <a:r>
              <a:rPr lang="es-MX" sz="2000" dirty="0">
                <a:latin typeface="ZapfHumnst BT"/>
                <a:cs typeface="+mn-cs"/>
              </a:rPr>
              <a:t>)</a:t>
            </a:r>
          </a:p>
          <a:p>
            <a:pPr lvl="1" algn="just">
              <a:lnSpc>
                <a:spcPct val="200000"/>
              </a:lnSpc>
              <a:buFont typeface="Arial" pitchFamily="34" charset="0"/>
              <a:buChar char="•"/>
              <a:defRPr/>
            </a:pPr>
            <a:r>
              <a:rPr lang="es-MX" sz="2000" dirty="0">
                <a:latin typeface="ZapfHumnst BT"/>
                <a:cs typeface="+mn-cs"/>
              </a:rPr>
              <a:t>  T4 = 168 líneas T1 (</a:t>
            </a:r>
            <a:r>
              <a:rPr lang="es-MX" sz="2000" b="1" dirty="0">
                <a:latin typeface="ZapfHumnst BT"/>
                <a:cs typeface="+mn-cs"/>
              </a:rPr>
              <a:t>275 Mbps</a:t>
            </a:r>
            <a:r>
              <a:rPr lang="es-MX" sz="2000" dirty="0">
                <a:latin typeface="ZapfHumnst BT"/>
                <a:cs typeface="+mn-cs"/>
              </a:rPr>
              <a:t>) 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35478D95-DB6C-A067-5002-A9F25CFE9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880" y="240229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Líneas arrendadas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(Leased lines)</a:t>
            </a:r>
          </a:p>
        </p:txBody>
      </p:sp>
    </p:spTree>
    <p:extLst>
      <p:ext uri="{BB962C8B-B14F-4D97-AF65-F5344CB8AC3E}">
        <p14:creationId xmlns:p14="http://schemas.microsoft.com/office/powerpoint/2010/main" val="241368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67540" y="1164044"/>
            <a:ext cx="8136905" cy="11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dirty="0">
                <a:latin typeface="Arial" pitchFamily="34" charset="0"/>
                <a:cs typeface="Arial" pitchFamily="34" charset="0"/>
              </a:rPr>
              <a:t>Este es un </a:t>
            </a:r>
            <a:r>
              <a:rPr lang="es-ES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ejemplo de una WAN</a:t>
            </a:r>
            <a:r>
              <a:rPr lang="es-ES" dirty="0">
                <a:latin typeface="Arial" pitchFamily="34" charset="0"/>
                <a:cs typeface="Arial" pitchFamily="34" charset="0"/>
              </a:rPr>
              <a:t>: Esta empresa tiene un </a:t>
            </a:r>
            <a:r>
              <a:rPr lang="es-ES" b="1" dirty="0">
                <a:latin typeface="Arial" pitchFamily="34" charset="0"/>
                <a:cs typeface="Arial" pitchFamily="34" charset="0"/>
              </a:rPr>
              <a:t>centro de datos central </a:t>
            </a:r>
            <a:r>
              <a:rPr lang="es-ES" dirty="0">
                <a:latin typeface="Arial" pitchFamily="34" charset="0"/>
                <a:cs typeface="Arial" pitchFamily="34" charset="0"/>
              </a:rPr>
              <a:t>y algunas </a:t>
            </a:r>
            <a:r>
              <a:rPr lang="es-ES" b="1" dirty="0">
                <a:latin typeface="Arial" pitchFamily="34" charset="0"/>
                <a:cs typeface="Arial" pitchFamily="34" charset="0"/>
              </a:rPr>
              <a:t>oficinas</a:t>
            </a:r>
            <a:r>
              <a:rPr lang="es-ES" dirty="0">
                <a:latin typeface="Arial" pitchFamily="34" charset="0"/>
                <a:cs typeface="Arial" pitchFamily="34" charset="0"/>
              </a:rPr>
              <a:t>. 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Cada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oficina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está conectada al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centro de datos 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 través de una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línea arrendada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que es una especie de conexión física dedicada entre dos sitios.</a:t>
            </a:r>
            <a:endParaRPr lang="es-MX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WAN sobre conexión dedicada 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(línea arrendada – Leased line)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626426-F9D3-F529-A184-579EC613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4844"/>
            <a:ext cx="9144000" cy="435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402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67544" y="1318999"/>
            <a:ext cx="8352928" cy="785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Esta no es una conexión compartida, no está conectada a Internet, es una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conexión privada 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que la empresa usa para conectar sus sitios. ¿Conoces está topología?</a:t>
            </a:r>
            <a:endParaRPr lang="es-MX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WAN sobre conexión dedicada 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(línea arrendada – Leased line)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626426-F9D3-F529-A184-579EC613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9753"/>
            <a:ext cx="9144000" cy="435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556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87521" y="1181027"/>
            <a:ext cx="8496944" cy="11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Cuando hablamos de WANs un término muy común es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hub and spoke</a:t>
            </a:r>
            <a:r>
              <a:rPr lang="es-E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ES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El sitio central, el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centro de datos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se denomina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hub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y los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sitios de oficina 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que se conectan al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hub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se denominan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spokes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MX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WAN sobre conexión dedicada 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(línea arrendada – Leased line)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F29C1D-B777-6D58-97DF-AFB30CA1E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8955"/>
            <a:ext cx="9144000" cy="429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147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23528" y="1196752"/>
            <a:ext cx="8352928" cy="1287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Una de las mayores ventajas de la topología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hub-and-sopoke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es que es más fácil 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controlar centralizadamente el tráfico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que está permitido y el que no está permitido. 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WAN sobre conexión dedicada 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(línea arrendada – Leased line)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F29C1D-B777-6D58-97DF-AFB30CA1E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6636"/>
            <a:ext cx="9144000" cy="429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598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40669" y="1322420"/>
            <a:ext cx="8262661" cy="8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Este diagrama no es exactamente una representación precisa de las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líneas arrendadas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02480" y="278396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WAN sobre conexión dedicada 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(línea arrendada – Leased line)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F29C1D-B777-6D58-97DF-AFB30CA1E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8955"/>
            <a:ext cx="9144000" cy="429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202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67544" y="1149742"/>
            <a:ext cx="8208912" cy="11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Esta es una mejor representación de lo que realmente está pasando. En lugar de un solo cable físico que conecta directamente cada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sitio 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al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centro de datos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cada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sitio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se conecta a un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proveedor de servicios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que conecta los sitios entre sí. </a:t>
            </a:r>
            <a:endParaRPr lang="es-MX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WAN sobre conexión dedicada 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(línea arrendada – Leased line)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4F8B362-39FA-5136-E6D4-40A7C0D0D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7031"/>
            <a:ext cx="9144000" cy="435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128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23524" y="1161564"/>
            <a:ext cx="8424937" cy="1345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Estas conexiones usan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cables seriales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 Sin embargo, en estos días las conexiones WAN a través de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Ethernet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son cada vez más comunes. Las conexiones de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fibra óptica 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permiten cables mucho más largos, por lo tanto, en la actualidad, las WAN que utilizan cables de fibra óptica Ethernet son bastante comunes.</a:t>
            </a:r>
            <a:endParaRPr lang="es-MX" sz="14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4F8B362-39FA-5136-E6D4-40A7C0D0D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12"/>
            <a:ext cx="9144000" cy="4351388"/>
          </a:xfrm>
          <a:prstGeom prst="rect">
            <a:avLst/>
          </a:prstGeom>
        </p:spPr>
      </p:pic>
      <p:sp>
        <p:nvSpPr>
          <p:cNvPr id="2" name="Text Box 6">
            <a:extLst>
              <a:ext uri="{FF2B5EF4-FFF2-40B4-BE49-F238E27FC236}">
                <a16:creationId xmlns:a16="http://schemas.microsoft.com/office/drawing/2014/main" id="{3E01BC00-B5C3-8397-14DE-B20AAA30E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Conexión WAN a través de Ethernet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(Fibra óptica)</a:t>
            </a:r>
          </a:p>
        </p:txBody>
      </p:sp>
    </p:spTree>
    <p:extLst>
      <p:ext uri="{BB962C8B-B14F-4D97-AF65-F5344CB8AC3E}">
        <p14:creationId xmlns:p14="http://schemas.microsoft.com/office/powerpoint/2010/main" val="32005893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524785" y="5490971"/>
            <a:ext cx="5221554" cy="115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VPNs</a:t>
            </a:r>
          </a:p>
        </p:txBody>
      </p:sp>
      <p:pic>
        <p:nvPicPr>
          <p:cNvPr id="2" name="Imagen 1" descr="Imagen que contiene interior, tabla, juguete, oficina&#10;&#10;Descripción generada automáticamente">
            <a:extLst>
              <a:ext uri="{FF2B5EF4-FFF2-40B4-BE49-F238E27FC236}">
                <a16:creationId xmlns:a16="http://schemas.microsoft.com/office/drawing/2014/main" id="{B2AF0578-7021-D8BC-DED0-E29F8FDE4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7" y="390832"/>
            <a:ext cx="8216570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3139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48630" y="1196752"/>
            <a:ext cx="8471842" cy="11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Internet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también se puede utilizar para las conexiones WAN de una empresa entre sitios. Sin embargo,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Internet no es una red privada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 Es una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red pública compartida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por lo que el envío de datos importantes a través de Internet no está protegido.</a:t>
            </a:r>
            <a:endParaRPr lang="es-MX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683568" y="242522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WAN sobre una infraestructura compartida </a:t>
            </a:r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(Internet VPN)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BB0B3D5-5068-1AAD-59A1-40F3FD67B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3764"/>
            <a:ext cx="9144000" cy="427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017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87524" y="1453080"/>
            <a:ext cx="8568952" cy="8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En este caso, tenga en cuenta que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cada sitio tiene una conexión física a Internet</a:t>
            </a:r>
            <a:r>
              <a:rPr lang="es-ES" sz="18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683568" y="332656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WAN sobre una infraestructura compartida </a:t>
            </a:r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(Internet VPN)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BB0B3D5-5068-1AAD-59A1-40F3FD67B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3764"/>
            <a:ext cx="9144000" cy="427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919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23528" y="1196752"/>
            <a:ext cx="8496944" cy="11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dirty="0">
                <a:latin typeface="Arial" pitchFamily="34" charset="0"/>
                <a:cs typeface="Arial" pitchFamily="34" charset="0"/>
              </a:rPr>
              <a:t>Para enviar tráfico entre sitios, las empresas configuran </a:t>
            </a:r>
            <a:r>
              <a:rPr lang="es-ES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redes privadas virtuales (VPN)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Los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paquetes se encriptan 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de modo que los contenidos sólo puedan ser leídos por los destinatarios previstos. </a:t>
            </a:r>
            <a:endParaRPr lang="es-MX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02481" y="173146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WAN sobre una infraestructura compartida </a:t>
            </a:r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(Internet VPN)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F19DAD-DCC3-F428-7720-20CA8ACD9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5" y="2505881"/>
            <a:ext cx="9144000" cy="435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610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72897" y="1244934"/>
            <a:ext cx="8640960" cy="11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Después, el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paquete cifrado se encapsula dentro de un nuevo paquete 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y se envía. Esto significa que el paquete original permanecerá protegido incluso cuando se envíe a través de la Internet pública. </a:t>
            </a:r>
            <a:endParaRPr lang="es-MX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23859" y="248261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WAN sobre una infraestructura compartida </a:t>
            </a:r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(Internet VPN)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F19DAD-DCC3-F428-7720-20CA8ACD9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4508"/>
            <a:ext cx="9144000" cy="435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192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524785" y="5490971"/>
            <a:ext cx="5221554" cy="115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MPLS</a:t>
            </a:r>
          </a:p>
        </p:txBody>
      </p:sp>
      <p:pic>
        <p:nvPicPr>
          <p:cNvPr id="2" name="Imagen 1" descr="Imagen que contiene interior, tabla, juguete, oficina&#10;&#10;Descripción generada automáticamente">
            <a:extLst>
              <a:ext uri="{FF2B5EF4-FFF2-40B4-BE49-F238E27FC236}">
                <a16:creationId xmlns:a16="http://schemas.microsoft.com/office/drawing/2014/main" id="{B2AF0578-7021-D8BC-DED0-E29F8FDE4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7" y="390832"/>
            <a:ext cx="8216570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3642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09928" y="1124744"/>
            <a:ext cx="8122512" cy="199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400" dirty="0">
                <a:latin typeface="Arial" pitchFamily="34" charset="0"/>
                <a:cs typeface="Arial" pitchFamily="34" charset="0"/>
              </a:rPr>
              <a:t>El </a:t>
            </a: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switching por etiquetas multiprotocolo (Multiprotocol Label Switching, MPLS)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es una tecnología WAN de alto rendimiento multiprotocolo que dirige los datos desde un router al siguiente.</a:t>
            </a:r>
          </a:p>
          <a:p>
            <a:pPr marL="57150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1400" dirty="0">
                <a:latin typeface="Arial" pitchFamily="34" charset="0"/>
                <a:cs typeface="Arial" pitchFamily="34" charset="0"/>
              </a:rPr>
              <a:t>MPLS se basa en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etiquetas de ruta cortas en lugar de direcciones de red IP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57150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1400" dirty="0">
                <a:latin typeface="Arial" pitchFamily="34" charset="0"/>
                <a:cs typeface="Arial" pitchFamily="34" charset="0"/>
              </a:rPr>
              <a:t>Se llama multiprotocolo porque tiene la capacidad de transportar cualquier contenido, incluido tráfico IPv4, IPv6, Ethernet, DSL, etc.</a:t>
            </a:r>
          </a:p>
          <a:p>
            <a:pPr marL="57150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1400" dirty="0">
                <a:latin typeface="Arial" pitchFamily="34" charset="0"/>
                <a:cs typeface="Arial" pitchFamily="34" charset="0"/>
              </a:rPr>
              <a:t>Usa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etiquetas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que le indican al router qué hacer con un paquete.</a:t>
            </a:r>
            <a:endParaRPr lang="es-MX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MPLS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(Multi Protocol Label Switching)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C35FE5-FC59-92BB-5671-DFF0AFFA2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3116577"/>
            <a:ext cx="5688632" cy="327133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A1EC40-E444-42EA-8B6C-204B59FCF40A}"/>
              </a:ext>
            </a:extLst>
          </p:cNvPr>
          <p:cNvSpPr txBox="1">
            <a:spLocks/>
          </p:cNvSpPr>
          <p:nvPr/>
        </p:nvSpPr>
        <p:spPr bwMode="auto">
          <a:xfrm>
            <a:off x="408507" y="3439561"/>
            <a:ext cx="1787229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s-E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MPLS es principalmente una </a:t>
            </a:r>
            <a:r>
              <a:rPr lang="es-ES" altLang="en-US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tecnología WAN de proveedor de servicios</a:t>
            </a:r>
            <a:r>
              <a:rPr lang="es-E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endParaRPr lang="es-ES" altLang="en-US" dirty="0">
              <a:cs typeface="Arial"/>
            </a:endParaRPr>
          </a:p>
          <a:p>
            <a:pPr lvl="1"/>
            <a:endParaRPr lang="es-ES" altLang="en-US" dirty="0">
              <a:cs typeface="Arial"/>
            </a:endParaRPr>
          </a:p>
          <a:p>
            <a:pPr lvl="1"/>
            <a:endParaRPr lang="es-ES" altLang="en-US" dirty="0">
              <a:cs typeface="Arial"/>
            </a:endParaRPr>
          </a:p>
          <a:p>
            <a:pPr lvl="1"/>
            <a:endParaRPr lang="es-ES" alt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77609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745542" y="1332581"/>
            <a:ext cx="7837973" cy="8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MPLS permite a las empresas formar WANs sobre la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infraestructura MPLS de un proveedor de servicios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.</a:t>
            </a:r>
            <a:endParaRPr lang="es-MX" sz="1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E5B244D-1000-A56A-F67E-F2965B82E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684" y="2636912"/>
            <a:ext cx="5688632" cy="3271334"/>
          </a:xfrm>
          <a:prstGeom prst="rect">
            <a:avLst/>
          </a:prstGeom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C4A45AA1-BA13-4A15-0BE4-79357A6F3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MPLS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(Multi Protocol Label Switching)</a:t>
            </a:r>
          </a:p>
        </p:txBody>
      </p:sp>
    </p:spTree>
    <p:extLst>
      <p:ext uri="{BB962C8B-B14F-4D97-AF65-F5344CB8AC3E}">
        <p14:creationId xmlns:p14="http://schemas.microsoft.com/office/powerpoint/2010/main" val="39958693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79509" y="1052736"/>
            <a:ext cx="8352931" cy="2262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Al igual que Internet, las redes MPLS de los proveedores de servicios son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infraestructuras compartidas </a:t>
            </a:r>
            <a:r>
              <a:rPr lang="es-ES" dirty="0">
                <a:latin typeface="Arial" pitchFamily="34" charset="0"/>
                <a:cs typeface="Arial" pitchFamily="34" charset="0"/>
              </a:rPr>
              <a:t>porque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muchas empresas de clientes se conectan y comparten la misma infraestructura para realizar conexiones WAN.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itchFamily="34" charset="0"/>
                <a:cs typeface="Arial" pitchFamily="34" charset="0"/>
              </a:rPr>
              <a:t>Las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etiquetas </a:t>
            </a:r>
            <a:r>
              <a:rPr lang="es-ES" dirty="0">
                <a:latin typeface="Arial" pitchFamily="34" charset="0"/>
                <a:cs typeface="Arial" pitchFamily="34" charset="0"/>
              </a:rPr>
              <a:t>se utilizan para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separar el tráfico de los diferentes clientes </a:t>
            </a:r>
            <a:r>
              <a:rPr lang="es-ES" dirty="0">
                <a:latin typeface="Arial" pitchFamily="34" charset="0"/>
                <a:cs typeface="Arial" pitchFamily="34" charset="0"/>
              </a:rPr>
              <a:t>a medida que viaja por la infraestructura compartida y asegura de que no se mezcle el tráfico de los clientes.</a:t>
            </a:r>
            <a:endParaRPr lang="es-MX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E5B244D-1000-A56A-F67E-F2965B82E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3386208"/>
            <a:ext cx="5112568" cy="2940060"/>
          </a:xfrm>
          <a:prstGeom prst="rect">
            <a:avLst/>
          </a:prstGeom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7E8A5226-E56A-9EF9-29FF-75CC17A57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MPLS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(Multi Protocol Label Switching)</a:t>
            </a:r>
          </a:p>
        </p:txBody>
      </p:sp>
    </p:spTree>
    <p:extLst>
      <p:ext uri="{BB962C8B-B14F-4D97-AF65-F5344CB8AC3E}">
        <p14:creationId xmlns:p14="http://schemas.microsoft.com/office/powerpoint/2010/main" val="2291530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95923" y="1725970"/>
            <a:ext cx="7920880" cy="170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fr-FR" sz="1800" dirty="0">
                <a:latin typeface="Arial" pitchFamily="34" charset="0"/>
                <a:cs typeface="Arial" pitchFamily="34" charset="0"/>
              </a:rPr>
              <a:t>Un router MPLS puede ser:</a:t>
            </a:r>
          </a:p>
          <a:p>
            <a:pPr marL="57150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1800" dirty="0">
                <a:latin typeface="Arial" pitchFamily="34" charset="0"/>
                <a:cs typeface="Arial" pitchFamily="34" charset="0"/>
              </a:rPr>
              <a:t>Un </a:t>
            </a:r>
            <a:r>
              <a:rPr lang="fr-FR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 de borde de cliente (CE)</a:t>
            </a:r>
            <a:endParaRPr lang="fr-FR" sz="1800" dirty="0">
              <a:latin typeface="Arial" pitchFamily="34" charset="0"/>
              <a:cs typeface="Arial" pitchFamily="34" charset="0"/>
            </a:endParaRPr>
          </a:p>
          <a:p>
            <a:pPr marL="57150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1800" dirty="0">
                <a:latin typeface="Arial" pitchFamily="34" charset="0"/>
                <a:cs typeface="Arial" pitchFamily="34" charset="0"/>
              </a:rPr>
              <a:t>Un</a:t>
            </a:r>
            <a:r>
              <a:rPr lang="fr-FR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router de borde de proveedor (PE)</a:t>
            </a:r>
          </a:p>
          <a:p>
            <a:pPr marL="571500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1800" dirty="0">
                <a:latin typeface="Arial" pitchFamily="34" charset="0"/>
                <a:cs typeface="Arial" pitchFamily="34" charset="0"/>
              </a:rPr>
              <a:t>Un</a:t>
            </a:r>
            <a:r>
              <a:rPr lang="fr-FR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router de proveedor interno (P).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53E4B3A-664D-F17B-506F-762842C678F1}"/>
              </a:ext>
            </a:extLst>
          </p:cNvPr>
          <p:cNvGrpSpPr/>
          <p:nvPr/>
        </p:nvGrpSpPr>
        <p:grpSpPr>
          <a:xfrm>
            <a:off x="0" y="4549894"/>
            <a:ext cx="9144000" cy="1502628"/>
            <a:chOff x="-36007" y="5301208"/>
            <a:chExt cx="9144000" cy="150262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41B82826-B2E1-B83F-255E-49A104F10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6007" y="5301208"/>
              <a:ext cx="9144000" cy="1317962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37DD2021-8540-E96C-1F46-BC61C7BA7CE8}"/>
                </a:ext>
              </a:extLst>
            </p:cNvPr>
            <p:cNvSpPr txBox="1"/>
            <p:nvPr/>
          </p:nvSpPr>
          <p:spPr>
            <a:xfrm>
              <a:off x="4420356" y="6434504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P</a:t>
              </a:r>
            </a:p>
          </p:txBody>
        </p:sp>
      </p:grpSp>
      <p:sp>
        <p:nvSpPr>
          <p:cNvPr id="2" name="Text Box 6">
            <a:extLst>
              <a:ext uri="{FF2B5EF4-FFF2-40B4-BE49-F238E27FC236}">
                <a16:creationId xmlns:a16="http://schemas.microsoft.com/office/drawing/2014/main" id="{1FDFADF5-B352-CB5A-C7E7-9C26BE88D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844" y="374591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MPLS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(Multi Protocol Label Switching)</a:t>
            </a:r>
          </a:p>
        </p:txBody>
      </p:sp>
    </p:spTree>
    <p:extLst>
      <p:ext uri="{BB962C8B-B14F-4D97-AF65-F5344CB8AC3E}">
        <p14:creationId xmlns:p14="http://schemas.microsoft.com/office/powerpoint/2010/main" val="30220890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13538" y="1393761"/>
            <a:ext cx="8316924" cy="2118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Cuando los ruteadores </a:t>
            </a:r>
            <a:r>
              <a:rPr lang="es-ES" sz="1800" b="1" dirty="0">
                <a:latin typeface="Arial" pitchFamily="34" charset="0"/>
                <a:cs typeface="Arial" pitchFamily="34" charset="0"/>
              </a:rPr>
              <a:t>PE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reciben tramas de los ruteadores </a:t>
            </a:r>
            <a:r>
              <a:rPr lang="es-ES" sz="1800" b="1" dirty="0">
                <a:latin typeface="Arial" pitchFamily="34" charset="0"/>
                <a:cs typeface="Arial" pitchFamily="34" charset="0"/>
              </a:rPr>
              <a:t>CE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, agregan una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etiqueta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a la trama. </a:t>
            </a:r>
            <a:endParaRPr lang="es-ES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Estas etiquetas se utilizan para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tomar decisiones de reenvío 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dentro de la red del proveedor de servicios, </a:t>
            </a:r>
            <a:r>
              <a:rPr lang="es-ES" sz="1800" b="1" u="sng" dirty="0">
                <a:latin typeface="Arial" pitchFamily="34" charset="0"/>
                <a:cs typeface="Arial" pitchFamily="34" charset="0"/>
              </a:rPr>
              <a:t>no la IP de destino.</a:t>
            </a:r>
            <a:endParaRPr lang="fr-FR" sz="1800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Los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ruteadores CE no usan MPLS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, solo lo usan los ruteadores </a:t>
            </a:r>
            <a:r>
              <a:rPr lang="es-ES" sz="1800" b="1" dirty="0">
                <a:latin typeface="Arial" pitchFamily="34" charset="0"/>
                <a:cs typeface="Arial" pitchFamily="34" charset="0"/>
              </a:rPr>
              <a:t>PE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y </a:t>
            </a:r>
            <a:r>
              <a:rPr lang="es-ES" sz="1800" b="1" dirty="0">
                <a:latin typeface="Arial" pitchFamily="34" charset="0"/>
                <a:cs typeface="Arial" pitchFamily="34" charset="0"/>
              </a:rPr>
              <a:t>P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. </a:t>
            </a:r>
            <a:endParaRPr lang="es-ES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E65FAC4C-819F-E2E6-0929-0D1526D7E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MPLS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(Multi Protocol Label Switching)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487727C-A8DA-0B68-4CEE-DF528048346B}"/>
              </a:ext>
            </a:extLst>
          </p:cNvPr>
          <p:cNvGrpSpPr/>
          <p:nvPr/>
        </p:nvGrpSpPr>
        <p:grpSpPr>
          <a:xfrm>
            <a:off x="0" y="4293096"/>
            <a:ext cx="9144000" cy="1502628"/>
            <a:chOff x="-36007" y="5301208"/>
            <a:chExt cx="9144000" cy="1502628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2E143974-7427-511B-586C-6A6528B31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6007" y="5301208"/>
              <a:ext cx="9144000" cy="1317962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836B486-D559-6A70-1C22-B4E592008374}"/>
                </a:ext>
              </a:extLst>
            </p:cNvPr>
            <p:cNvSpPr txBox="1"/>
            <p:nvPr/>
          </p:nvSpPr>
          <p:spPr>
            <a:xfrm>
              <a:off x="4420356" y="6434504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34097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15516" y="1196752"/>
            <a:ext cx="8712968" cy="1287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MPLS es una tecnología que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 ejecuta en la red del proveedor de servicios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, pero se pueden usar muchos diferentes </a:t>
            </a:r>
            <a:r>
              <a:rPr lang="es-ES" sz="1800" b="1" dirty="0">
                <a:latin typeface="Arial" pitchFamily="34" charset="0"/>
                <a:cs typeface="Arial" pitchFamily="34" charset="0"/>
              </a:rPr>
              <a:t>tipos de conexiones 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para conectarse a la red MPLS del proveedor de servicios para el servicio WAN.</a:t>
            </a:r>
            <a:endParaRPr lang="es-MX" sz="1800" b="1" u="sng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E65FAC4C-819F-E2E6-0929-0D1526D7E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MPLS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(Multi Protocol Label Switching)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C7FD3E-2240-5905-3CA7-B23E9E6DF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" y="2924944"/>
            <a:ext cx="9144000" cy="361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332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58541" y="1258925"/>
            <a:ext cx="8154903" cy="2118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 este caso, la </a:t>
            </a:r>
            <a:r>
              <a:rPr lang="es-ES" sz="18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oficina A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y la </a:t>
            </a:r>
            <a:r>
              <a:rPr lang="es-ES" sz="18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oficina B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se conectan a través de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Ethernet de fibra óptica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La </a:t>
            </a:r>
            <a:r>
              <a:rPr lang="es-ES" sz="18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oficina C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se esté conectando al proveedor de servicios a través de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4G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o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5G inalámbrico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3C609B94-DFFF-12BE-5214-40EE5CD4F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MPLS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(Multi Protocol Label Switching)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3E67480-D604-2250-27C0-56C6B0521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" y="3246247"/>
            <a:ext cx="9144000" cy="361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15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51520" y="1340768"/>
            <a:ext cx="8424939" cy="170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La </a:t>
            </a:r>
            <a:r>
              <a:rPr lang="es-ES" sz="18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oficina D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se conecta a través de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CATV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una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conexión de televisión por cable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que se usa para el acceso a Internet en el hogar.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La </a:t>
            </a:r>
            <a:r>
              <a:rPr lang="es-ES" sz="18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oficina E</a:t>
            </a:r>
            <a:r>
              <a:rPr lang="es-ES" sz="180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podría usar una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conexión en serie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, una línea arrendada para conectarse a la infraestructura MPLS del proveedor de servicios.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349322-FBF5-9B10-531C-84A5CB144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" y="3246247"/>
            <a:ext cx="9144000" cy="3611753"/>
          </a:xfrm>
          <a:prstGeom prst="rect">
            <a:avLst/>
          </a:prstGeom>
        </p:spPr>
      </p:pic>
      <p:sp>
        <p:nvSpPr>
          <p:cNvPr id="2" name="Text Box 6">
            <a:extLst>
              <a:ext uri="{FF2B5EF4-FFF2-40B4-BE49-F238E27FC236}">
                <a16:creationId xmlns:a16="http://schemas.microsoft.com/office/drawing/2014/main" id="{B986FAFA-DE72-F08E-91E9-0FAE462E9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MPLS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(Multi Protocol Label Switching)</a:t>
            </a:r>
          </a:p>
        </p:txBody>
      </p:sp>
    </p:spTree>
    <p:extLst>
      <p:ext uri="{BB962C8B-B14F-4D97-AF65-F5344CB8AC3E}">
        <p14:creationId xmlns:p14="http://schemas.microsoft.com/office/powerpoint/2010/main" val="14884724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745549" y="1458317"/>
            <a:ext cx="7693957" cy="1287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Estos sitios se conectan al proveedor de servicios con una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variedad de tipos de conexión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y todos podrán comunicarse entre sí a través de la infraestructura MPLS del proveedor de servicios.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MPLS</a:t>
            </a:r>
          </a:p>
          <a:p>
            <a:pPr algn="ctr"/>
            <a:r>
              <a:rPr lang="es-MX" sz="1800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(Multi Protocol Label Switching)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349322-FBF5-9B10-531C-84A5CB144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" y="3246247"/>
            <a:ext cx="9144000" cy="361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363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D112DB9F-CD70-BA3F-01D0-EDB5EC524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06" y="4002100"/>
            <a:ext cx="7310388" cy="2855900"/>
          </a:xfrm>
          <a:prstGeom prst="rect">
            <a:avLst/>
          </a:prstGeom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542112" y="967966"/>
            <a:ext cx="7987762" cy="3365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 resumen: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MPLS usa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etiquetas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para reenviar tráfico,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no direcciones IP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Los routers del proveedor de servicios son totalmente transparentes y actúan como un gran switch que conecta los routers 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CE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entre sí.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latin typeface="Arial" pitchFamily="34" charset="0"/>
                <a:cs typeface="Arial" pitchFamily="34" charset="0"/>
              </a:rPr>
              <a:t>Los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routers MPLS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 también se denominan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routers conmutados por etiquetas</a:t>
            </a:r>
            <a:r>
              <a:rPr lang="es-ES" sz="1800" dirty="0">
                <a:latin typeface="Arial" pitchFamily="34" charset="0"/>
                <a:cs typeface="Arial" pitchFamily="34" charset="0"/>
              </a:rPr>
              <a:t>. Adjuntan etiquetas a paquetes que luego son utilizados por otros routers MPLS para reenviar tráfico.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40CFA2C6-C2EE-F77E-8E32-04AE06CB4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75" y="96145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MPLS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(Multi Protocol Label Switching)</a:t>
            </a:r>
          </a:p>
        </p:txBody>
      </p:sp>
    </p:spTree>
    <p:extLst>
      <p:ext uri="{BB962C8B-B14F-4D97-AF65-F5344CB8AC3E}">
        <p14:creationId xmlns:p14="http://schemas.microsoft.com/office/powerpoint/2010/main" val="33914315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524784" y="5490971"/>
            <a:ext cx="7143559" cy="115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Conexiones a Internet redundantes</a:t>
            </a:r>
          </a:p>
        </p:txBody>
      </p:sp>
      <p:pic>
        <p:nvPicPr>
          <p:cNvPr id="2" name="Imagen 1" descr="Imagen que contiene interior, tabla, juguete, oficina&#10;&#10;Descripción generada automáticamente">
            <a:extLst>
              <a:ext uri="{FF2B5EF4-FFF2-40B4-BE49-F238E27FC236}">
                <a16:creationId xmlns:a16="http://schemas.microsoft.com/office/drawing/2014/main" id="{B2AF0578-7021-D8BC-DED0-E29F8FDE4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7" y="390832"/>
            <a:ext cx="8216570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19473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37773" y="476672"/>
            <a:ext cx="7539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Conexiones a Internet redundantes</a:t>
            </a:r>
            <a:endParaRPr lang="es-MX" sz="1800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  <a:ea typeface="+mj-ea"/>
              <a:cs typeface="+mj-cs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F71DBFB-BAE2-A420-4641-A47906F0E1F8}"/>
              </a:ext>
            </a:extLst>
          </p:cNvPr>
          <p:cNvGrpSpPr/>
          <p:nvPr/>
        </p:nvGrpSpPr>
        <p:grpSpPr>
          <a:xfrm>
            <a:off x="944786" y="2840920"/>
            <a:ext cx="7358272" cy="3933056"/>
            <a:chOff x="944786" y="2840920"/>
            <a:chExt cx="7358272" cy="3933056"/>
          </a:xfrm>
        </p:grpSpPr>
        <p:pic>
          <p:nvPicPr>
            <p:cNvPr id="4" name="Imagen 3" descr="Diagrama&#10;&#10;Descripción generada automáticamente">
              <a:extLst>
                <a:ext uri="{FF2B5EF4-FFF2-40B4-BE49-F238E27FC236}">
                  <a16:creationId xmlns:a16="http://schemas.microsoft.com/office/drawing/2014/main" id="{6341A5AA-8205-713C-3387-116BC96C5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786" y="2840920"/>
              <a:ext cx="7358272" cy="3933056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FA69A698-3C4A-4F0E-0080-F179A80AC308}"/>
                </a:ext>
              </a:extLst>
            </p:cNvPr>
            <p:cNvSpPr/>
            <p:nvPr/>
          </p:nvSpPr>
          <p:spPr>
            <a:xfrm>
              <a:off x="3203848" y="6165304"/>
              <a:ext cx="2808312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2" name="Text Box 5">
            <a:extLst>
              <a:ext uri="{FF2B5EF4-FFF2-40B4-BE49-F238E27FC236}">
                <a16:creationId xmlns:a16="http://schemas.microsoft.com/office/drawing/2014/main" id="{10D6E369-67E0-1B4C-FF86-54BAB90A1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412776"/>
            <a:ext cx="7992888" cy="1287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Para un usuario doméstico, perder la conexión a Internet no es un problema, es un poco molesto, pero no es un desastre. Sin embargo, para muchas empresas el acceso a Internet es fundamental para sus operaciones. 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787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571E106D-BDEE-AD86-B77B-62A18DD49442}"/>
              </a:ext>
            </a:extLst>
          </p:cNvPr>
          <p:cNvGrpSpPr/>
          <p:nvPr/>
        </p:nvGrpSpPr>
        <p:grpSpPr>
          <a:xfrm>
            <a:off x="1907704" y="3212976"/>
            <a:ext cx="6696744" cy="3579464"/>
            <a:chOff x="1979712" y="3278536"/>
            <a:chExt cx="6696744" cy="3579464"/>
          </a:xfrm>
        </p:grpSpPr>
        <p:pic>
          <p:nvPicPr>
            <p:cNvPr id="4" name="Imagen 3" descr="Diagrama&#10;&#10;Descripción generada automáticamente">
              <a:extLst>
                <a:ext uri="{FF2B5EF4-FFF2-40B4-BE49-F238E27FC236}">
                  <a16:creationId xmlns:a16="http://schemas.microsoft.com/office/drawing/2014/main" id="{6341A5AA-8205-713C-3387-116BC96C5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9712" y="3278536"/>
              <a:ext cx="6696744" cy="3579464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FA69A698-3C4A-4F0E-0080-F179A80AC308}"/>
                </a:ext>
              </a:extLst>
            </p:cNvPr>
            <p:cNvSpPr/>
            <p:nvPr/>
          </p:nvSpPr>
          <p:spPr>
            <a:xfrm>
              <a:off x="3995936" y="6061888"/>
              <a:ext cx="2808312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758681" y="1340768"/>
            <a:ext cx="7773759" cy="268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 una empresa, es importante tener </a:t>
            </a:r>
            <a:r>
              <a:rPr lang="es-ES" sz="18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conexiones a Internet redundantes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y hay algunos términos que debemos conocer: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Single Homed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Dual Homed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Multihomed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Dual Multihomed</a:t>
            </a:r>
            <a:endParaRPr lang="es-MX" sz="1800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58681" y="332656"/>
            <a:ext cx="7539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Conexiones a Internet redundantes</a:t>
            </a:r>
            <a:endParaRPr lang="es-MX" sz="1800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887699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972488" y="1684121"/>
            <a:ext cx="7432401" cy="170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Una conexión a 1 ISP = Single Homed.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Esto es como una conexión a Internet doméstica.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Para una empresa, esto no es ideal, porque aquí no hay redundancia. </a:t>
            </a:r>
            <a:endParaRPr lang="es-MX" sz="1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948224" y="519572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Single Homed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Conexiones a Internet redundantes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69A698-3C4A-4F0E-0080-F179A80AC308}"/>
              </a:ext>
            </a:extLst>
          </p:cNvPr>
          <p:cNvSpPr/>
          <p:nvPr/>
        </p:nvSpPr>
        <p:spPr>
          <a:xfrm>
            <a:off x="3563888" y="6093296"/>
            <a:ext cx="2808312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82E825-E7E8-474D-578E-35B322364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718838"/>
            <a:ext cx="63055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134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921688" y="1691010"/>
            <a:ext cx="7432401" cy="8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Dos conexiones a 1 ISP = Dual Homed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Esto proporciona cierta redundancia, pero aún no es ideal.</a:t>
            </a:r>
            <a:endParaRPr lang="es-MX" sz="1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948224" y="519572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Dual Homed</a:t>
            </a:r>
          </a:p>
          <a:p>
            <a:pPr algn="ctr"/>
            <a:r>
              <a:rPr 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  <a:ea typeface="+mj-ea"/>
                <a:cs typeface="+mj-cs"/>
              </a:rPr>
              <a:t>Conexiones a Internet redundantes</a:t>
            </a:r>
            <a:endParaRPr lang="es-MX" sz="2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69A698-3C4A-4F0E-0080-F179A80AC308}"/>
              </a:ext>
            </a:extLst>
          </p:cNvPr>
          <p:cNvSpPr/>
          <p:nvPr/>
        </p:nvSpPr>
        <p:spPr>
          <a:xfrm>
            <a:off x="3563888" y="6093296"/>
            <a:ext cx="2808312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66B73B-ACBB-E0AD-6187-4709952CC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2854796"/>
            <a:ext cx="62674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269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755575" y="1340768"/>
            <a:ext cx="7920880" cy="1287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Una conexión a cada uno de los 2 ISPs = Multihomed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Esto mejora la redundancia porque si algo le sucede a un ISP, todavía tiene acceso a Internet a través del otro.</a:t>
            </a:r>
            <a:endParaRPr lang="es-MX" sz="1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946497" y="394014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Multihomed</a:t>
            </a:r>
          </a:p>
          <a:p>
            <a:pPr algn="ctr"/>
            <a:endParaRPr lang="es-MX" sz="1800" b="1" dirty="0">
              <a:solidFill>
                <a:schemeClr val="accent3">
                  <a:lumMod val="75000"/>
                </a:schemeClr>
              </a:solidFill>
              <a:latin typeface="Dom Casual" charset="0"/>
              <a:ea typeface="+mj-ea"/>
              <a:cs typeface="+mj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69A698-3C4A-4F0E-0080-F179A80AC308}"/>
              </a:ext>
            </a:extLst>
          </p:cNvPr>
          <p:cNvSpPr/>
          <p:nvPr/>
        </p:nvSpPr>
        <p:spPr>
          <a:xfrm>
            <a:off x="3563888" y="6093296"/>
            <a:ext cx="2808312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956B13-9B6F-AEFF-1C59-FE1BD8189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2" y="2924944"/>
            <a:ext cx="631507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870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755575" y="1484784"/>
            <a:ext cx="7920880" cy="87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Dos conexiones a cada uno de los 2 ISPs = Dual Multihomed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Esto proporciona la mayor redundancia.</a:t>
            </a:r>
            <a:endParaRPr lang="es-MX" sz="1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946497" y="394014"/>
            <a:ext cx="753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Dual Multihomed</a:t>
            </a:r>
          </a:p>
          <a:p>
            <a:pPr algn="ctr"/>
            <a:r>
              <a:rPr lang="es-MX" sz="1800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Conexiones a Internet redundantes</a:t>
            </a:r>
            <a:endParaRPr lang="es-MX" sz="2800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  <a:ea typeface="+mj-ea"/>
              <a:cs typeface="+mj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69A698-3C4A-4F0E-0080-F179A80AC308}"/>
              </a:ext>
            </a:extLst>
          </p:cNvPr>
          <p:cNvSpPr/>
          <p:nvPr/>
        </p:nvSpPr>
        <p:spPr>
          <a:xfrm>
            <a:off x="3563888" y="6093296"/>
            <a:ext cx="2808312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0E4890-1905-735E-8ED1-CA58E5A6A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733913"/>
            <a:ext cx="6624736" cy="353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932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2692</TotalTime>
  <Words>1728</Words>
  <Application>Microsoft Office PowerPoint</Application>
  <PresentationFormat>On-screen Show (4:3)</PresentationFormat>
  <Paragraphs>158</Paragraphs>
  <Slides>41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Courier New</vt:lpstr>
      <vt:lpstr>Dom Casual</vt:lpstr>
      <vt:lpstr>Wingdings</vt:lpstr>
      <vt:lpstr>ZapfHumnst BT</vt:lpstr>
      <vt:lpstr>Tema de Office</vt:lpstr>
      <vt:lpstr>TC 3003B Implementación de redes de área amplia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 2022 Interconexión de redes</dc:title>
  <dc:creator>Lizethe Pérez Fuertes</dc:creator>
  <cp:lastModifiedBy>Lizethe Pérez Fuertes</cp:lastModifiedBy>
  <cp:revision>34</cp:revision>
  <dcterms:created xsi:type="dcterms:W3CDTF">2021-02-08T03:07:42Z</dcterms:created>
  <dcterms:modified xsi:type="dcterms:W3CDTF">2025-05-15T21:30:04Z</dcterms:modified>
</cp:coreProperties>
</file>