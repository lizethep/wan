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7" r:id="rId2"/>
    <p:sldId id="258" r:id="rId3"/>
    <p:sldId id="325" r:id="rId4"/>
    <p:sldId id="326" r:id="rId5"/>
    <p:sldId id="327" r:id="rId6"/>
    <p:sldId id="328" r:id="rId7"/>
    <p:sldId id="271" r:id="rId8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2200"/>
    <a:srgbClr val="050AC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13" autoAdjust="0"/>
    <p:restoredTop sz="92819" autoAdjust="0"/>
  </p:normalViewPr>
  <p:slideViewPr>
    <p:cSldViewPr>
      <p:cViewPr varScale="1">
        <p:scale>
          <a:sx n="55" d="100"/>
          <a:sy n="55" d="100"/>
        </p:scale>
        <p:origin x="1536" y="48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445F07-8756-451B-A938-0248325FC7BB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 dirty="0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93AEC0-242E-4FA7-9D3C-51E1036AC3CB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8170667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imagen de diapositiva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2 Marcador de notas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993AEC0-242E-4FA7-9D3C-51E1036AC3CB}" type="slidenum">
              <a:rPr lang="es-MX" smtClean="0"/>
              <a:t>1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54257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MX" dirty="0"/>
          </a:p>
        </p:txBody>
      </p:sp>
      <p:sp>
        <p:nvSpPr>
          <p:cNvPr id="17412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1E45F731-13C2-4CED-BDB7-5B5B0FDBC4E8}" type="slidenum">
              <a:rPr lang="es-MX" sz="1200" smtClean="0"/>
              <a:pPr/>
              <a:t>2</a:t>
            </a:fld>
            <a:endParaRPr lang="es-MX" sz="1200" dirty="0"/>
          </a:p>
        </p:txBody>
      </p:sp>
    </p:spTree>
    <p:extLst>
      <p:ext uri="{BB962C8B-B14F-4D97-AF65-F5344CB8AC3E}">
        <p14:creationId xmlns:p14="http://schemas.microsoft.com/office/powerpoint/2010/main" val="25684279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2313673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3379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12786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472760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579156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1797410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925150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4470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 dirty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95927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3328958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A0DC-66C6-4CEC-A5EB-F8C97CEC3796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878841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75A0DC-66C6-4CEC-A5EB-F8C97CEC3796}" type="datetimeFigureOut">
              <a:rPr lang="es-MX" smtClean="0"/>
              <a:t>20/03/2025</a:t>
            </a:fld>
            <a:endParaRPr lang="es-MX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 dirty="0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77EE1E-7A06-4E7F-9AFB-189FC69B7B0C}" type="slidenum">
              <a:rPr lang="es-MX" smtClean="0"/>
              <a:t>‹#›</a:t>
            </a:fld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017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45840" y="620688"/>
            <a:ext cx="7342584" cy="1470025"/>
          </a:xfrm>
        </p:spPr>
        <p:txBody>
          <a:bodyPr rtlCol="0">
            <a:normAutofit/>
          </a:bodyPr>
          <a:lstStyle/>
          <a:p>
            <a:pPr algn="l" eaLnBrk="1" fontAlgn="auto" hangingPunct="1">
              <a:spcAft>
                <a:spcPts val="0"/>
              </a:spcAft>
              <a:defRPr/>
            </a:pP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TC 3033B </a:t>
            </a:r>
            <a:br>
              <a:rPr lang="es-MX" sz="3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s-MX" sz="3200" dirty="0">
                <a:solidFill>
                  <a:schemeClr val="bg2">
                    <a:lumMod val="50000"/>
                  </a:schemeClr>
                </a:solidFill>
              </a:rPr>
              <a:t>Implementación de redes de área amplia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376463"/>
            <a:ext cx="6400800" cy="1249288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MX" b="1" dirty="0">
                <a:solidFill>
                  <a:schemeClr val="accent4">
                    <a:lumMod val="50000"/>
                  </a:schemeClr>
                </a:solidFill>
              </a:rPr>
              <a:t>DHCP y DNS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MX" sz="2000" dirty="0">
                <a:solidFill>
                  <a:schemeClr val="accent4">
                    <a:lumMod val="50000"/>
                  </a:schemeClr>
                </a:solidFill>
              </a:rPr>
              <a:t>Tecnológico de Monterrey, Campus Querétaro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B0DD00D-CF48-445D-BA23-E2FE2A1FE0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2370" y="3638402"/>
            <a:ext cx="3089523" cy="2480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85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74" name="Object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0394562"/>
              </p:ext>
            </p:extLst>
          </p:nvPr>
        </p:nvGraphicFramePr>
        <p:xfrm>
          <a:off x="569642" y="1792726"/>
          <a:ext cx="1819275" cy="2552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Bitmap Image" r:id="rId3" imgW="1819280" imgH="2552567" progId="PBrush">
                  <p:embed/>
                </p:oleObj>
              </mc:Choice>
              <mc:Fallback>
                <p:oleObj name="Bitmap Image" r:id="rId3" imgW="1819280" imgH="2552567" progId="PBrush">
                  <p:embed/>
                  <p:pic>
                    <p:nvPicPr>
                      <p:cNvPr id="3074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9642" y="1792726"/>
                        <a:ext cx="1819275" cy="2552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533400" y="548680"/>
            <a:ext cx="8077200" cy="641350"/>
          </a:xfrm>
          <a:prstGeom prst="rect">
            <a:avLst/>
          </a:prstGeom>
          <a:gradFill rotWithShape="0">
            <a:gsLst>
              <a:gs pos="0">
                <a:srgbClr val="185E76"/>
              </a:gs>
              <a:gs pos="50000">
                <a:srgbClr val="33CCFF"/>
              </a:gs>
              <a:gs pos="100000">
                <a:srgbClr val="185E76"/>
              </a:gs>
            </a:gsLst>
            <a:lin ang="54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s-MX" sz="3600" b="1" dirty="0"/>
              <a:t>Objetivo de esta sesión</a:t>
            </a:r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9518658C-33C7-4ABF-9977-CAAD440BD411}"/>
              </a:ext>
            </a:extLst>
          </p:cNvPr>
          <p:cNvSpPr txBox="1"/>
          <p:nvPr/>
        </p:nvSpPr>
        <p:spPr>
          <a:xfrm>
            <a:off x="3059832" y="2276872"/>
            <a:ext cx="4608512" cy="103041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9525" marR="3810" algn="just">
              <a:lnSpc>
                <a:spcPct val="200000"/>
              </a:lnSpc>
            </a:pPr>
            <a:r>
              <a:rPr b="1" spc="-15" dirty="0" err="1">
                <a:solidFill>
                  <a:schemeClr val="accent6">
                    <a:lumMod val="75000"/>
                  </a:schemeClr>
                </a:solidFill>
                <a:cs typeface="Arial Narrow"/>
              </a:rPr>
              <a:t>E</a:t>
            </a:r>
            <a:r>
              <a:rPr b="1" spc="-19" dirty="0" err="1">
                <a:solidFill>
                  <a:schemeClr val="accent6">
                    <a:lumMod val="75000"/>
                  </a:schemeClr>
                </a:solidFill>
                <a:cs typeface="Arial Narrow"/>
              </a:rPr>
              <a:t>s</a:t>
            </a:r>
            <a:r>
              <a:rPr b="1" spc="-11" dirty="0" err="1">
                <a:solidFill>
                  <a:schemeClr val="accent6">
                    <a:lumMod val="75000"/>
                  </a:schemeClr>
                </a:solidFill>
                <a:cs typeface="Arial Narrow"/>
              </a:rPr>
              <a:t>tu</a:t>
            </a:r>
            <a:r>
              <a:rPr b="1" spc="-8" dirty="0" err="1">
                <a:solidFill>
                  <a:schemeClr val="accent6">
                    <a:lumMod val="75000"/>
                  </a:schemeClr>
                </a:solidFill>
                <a:cs typeface="Arial Narrow"/>
              </a:rPr>
              <a:t>di</a:t>
            </a:r>
            <a:r>
              <a:rPr b="1" spc="-26" dirty="0" err="1">
                <a:solidFill>
                  <a:schemeClr val="accent6">
                    <a:lumMod val="75000"/>
                  </a:schemeClr>
                </a:solidFill>
                <a:cs typeface="Arial Narrow"/>
              </a:rPr>
              <a:t>a</a:t>
            </a:r>
            <a:r>
              <a:rPr b="1" spc="-8" dirty="0" err="1">
                <a:solidFill>
                  <a:schemeClr val="accent6">
                    <a:lumMod val="75000"/>
                  </a:schemeClr>
                </a:solidFill>
                <a:cs typeface="Arial Narrow"/>
              </a:rPr>
              <a:t>r</a:t>
            </a:r>
            <a:r>
              <a:rPr b="1" dirty="0">
                <a:solidFill>
                  <a:srgbClr val="3333CC"/>
                </a:solidFill>
                <a:cs typeface="Arial Narrow"/>
              </a:rPr>
              <a:t> </a:t>
            </a:r>
            <a:r>
              <a:rPr b="1" spc="-15" dirty="0">
                <a:solidFill>
                  <a:srgbClr val="3333CC"/>
                </a:solidFill>
                <a:cs typeface="Arial Narrow"/>
              </a:rPr>
              <a:t> </a:t>
            </a:r>
            <a:r>
              <a:rPr spc="-15" dirty="0">
                <a:solidFill>
                  <a:schemeClr val="bg2">
                    <a:lumMod val="25000"/>
                  </a:schemeClr>
                </a:solidFill>
                <a:cs typeface="Arial Narrow"/>
              </a:rPr>
              <a:t>e</a:t>
            </a:r>
            <a:r>
              <a:rPr lang="es-ES" spc="-15" dirty="0">
                <a:solidFill>
                  <a:schemeClr val="bg2">
                    <a:lumMod val="25000"/>
                  </a:schemeClr>
                </a:solidFill>
                <a:cs typeface="Arial Narrow"/>
              </a:rPr>
              <a:t> </a:t>
            </a:r>
            <a:r>
              <a:rPr lang="es-ES" b="1" spc="-15" dirty="0">
                <a:solidFill>
                  <a:schemeClr val="accent6">
                    <a:lumMod val="75000"/>
                  </a:schemeClr>
                </a:solidFill>
                <a:cs typeface="Arial Narrow"/>
              </a:rPr>
              <a:t>implementar </a:t>
            </a:r>
            <a:r>
              <a:rPr lang="es-ES" spc="-15" dirty="0">
                <a:solidFill>
                  <a:schemeClr val="bg2">
                    <a:lumMod val="25000"/>
                  </a:schemeClr>
                </a:solidFill>
                <a:cs typeface="Arial Narrow"/>
              </a:rPr>
              <a:t>los servicios DHCP y DNS en los ruteadores </a:t>
            </a:r>
            <a:r>
              <a:rPr b="1" spc="-11" dirty="0">
                <a:solidFill>
                  <a:schemeClr val="bg2">
                    <a:lumMod val="25000"/>
                  </a:schemeClr>
                </a:solidFill>
                <a:cs typeface="Arial Narrow"/>
              </a:rPr>
              <a:t>CISC</a:t>
            </a:r>
            <a:r>
              <a:rPr b="1" spc="-19" dirty="0">
                <a:solidFill>
                  <a:schemeClr val="bg2">
                    <a:lumMod val="25000"/>
                  </a:schemeClr>
                </a:solidFill>
                <a:cs typeface="Arial Narrow"/>
              </a:rPr>
              <a:t>O</a:t>
            </a:r>
            <a:r>
              <a:rPr b="1" spc="-8" dirty="0">
                <a:solidFill>
                  <a:schemeClr val="bg2">
                    <a:lumMod val="25000"/>
                  </a:schemeClr>
                </a:solidFill>
                <a:cs typeface="Arial Narrow"/>
              </a:rPr>
              <a:t>.</a:t>
            </a:r>
            <a:endParaRPr dirty="0">
              <a:solidFill>
                <a:schemeClr val="bg2">
                  <a:lumMod val="25000"/>
                </a:schemeClr>
              </a:solidFill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059079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3" name="15 CuadroTexto"/>
          <p:cNvSpPr txBox="1">
            <a:spLocks noChangeArrowheads="1"/>
          </p:cNvSpPr>
          <p:nvPr/>
        </p:nvSpPr>
        <p:spPr bwMode="auto">
          <a:xfrm>
            <a:off x="571500" y="2492896"/>
            <a:ext cx="721518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DHCP</a:t>
            </a:r>
            <a:r>
              <a:rPr lang="es-MX" sz="18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800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800" b="1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800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ynamic </a:t>
            </a:r>
            <a:r>
              <a:rPr lang="en-US" sz="1800" b="1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r>
              <a:rPr lang="en-US" sz="1800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ost </a:t>
            </a:r>
            <a:r>
              <a:rPr lang="en-US" sz="1800" b="1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n-US" sz="1800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onfiguration </a:t>
            </a:r>
            <a:r>
              <a:rPr lang="en-US" sz="1800" b="1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1800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rotocol)</a:t>
            </a:r>
            <a:endParaRPr lang="es-MX" sz="1800" b="1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844" name="4 CuadroTexto"/>
          <p:cNvSpPr txBox="1">
            <a:spLocks noChangeArrowheads="1"/>
          </p:cNvSpPr>
          <p:nvPr/>
        </p:nvSpPr>
        <p:spPr bwMode="auto">
          <a:xfrm>
            <a:off x="600595" y="3049962"/>
            <a:ext cx="7787829" cy="700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ts val="2500"/>
              </a:lnSpc>
            </a:pPr>
            <a:r>
              <a:rPr lang="es-MX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Protocolo que sirve para asignar una dirección IP dinámica a dispositivos en una red. </a:t>
            </a:r>
          </a:p>
        </p:txBody>
      </p:sp>
      <p:sp>
        <p:nvSpPr>
          <p:cNvPr id="35845" name="7 CuadroTexto"/>
          <p:cNvSpPr txBox="1">
            <a:spLocks noChangeArrowheads="1"/>
          </p:cNvSpPr>
          <p:nvPr/>
        </p:nvSpPr>
        <p:spPr bwMode="auto">
          <a:xfrm>
            <a:off x="571500" y="1105119"/>
            <a:ext cx="80010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>
              <a:lnSpc>
                <a:spcPct val="1500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Existen direcciones:</a:t>
            </a:r>
          </a:p>
          <a:p>
            <a:pPr>
              <a:lnSpc>
                <a:spcPct val="150000"/>
              </a:lnSpc>
              <a:buFont typeface="Arial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IP dinámicas</a:t>
            </a:r>
          </a:p>
          <a:p>
            <a:pPr>
              <a:lnSpc>
                <a:spcPct val="150000"/>
              </a:lnSpc>
              <a:buFont typeface="Arial" pitchFamily="34" charset="0"/>
              <a:buChar char="•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IP fijas</a:t>
            </a:r>
          </a:p>
        </p:txBody>
      </p:sp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44016" y="53752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Direccionamiento IP</a:t>
            </a:r>
          </a:p>
        </p:txBody>
      </p:sp>
      <p:sp>
        <p:nvSpPr>
          <p:cNvPr id="9" name="4 CuadroTexto"/>
          <p:cNvSpPr txBox="1">
            <a:spLocks noChangeArrowheads="1"/>
          </p:cNvSpPr>
          <p:nvPr/>
        </p:nvSpPr>
        <p:spPr bwMode="auto">
          <a:xfrm>
            <a:off x="611560" y="3965912"/>
            <a:ext cx="2520280" cy="1695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ts val="25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 un direccionamiento dinámico, un dispositivo puede obtener diferentes direcciones IP cada vez que se conecta a la red.</a:t>
            </a: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7864" y="3574504"/>
            <a:ext cx="5029200" cy="259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290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58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358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358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3" grpId="0"/>
      <p:bldP spid="35844" grpId="0"/>
      <p:bldP spid="35845" grpId="0"/>
      <p:bldP spid="9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5" name="7 CuadroTexto"/>
          <p:cNvSpPr txBox="1">
            <a:spLocks noChangeArrowheads="1"/>
          </p:cNvSpPr>
          <p:nvPr/>
        </p:nvSpPr>
        <p:spPr bwMode="auto">
          <a:xfrm>
            <a:off x="625760" y="1340768"/>
            <a:ext cx="8001000" cy="1677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>
              <a:lnSpc>
                <a:spcPct val="150000"/>
              </a:lnSpc>
              <a:spcAft>
                <a:spcPts val="1200"/>
              </a:spcAft>
              <a:buAutoNum type="arabicPeriod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Definir un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pool de direcciones dinámicas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 serán asignadas cuando sean solicitadas.</a:t>
            </a:r>
          </a:p>
          <a:p>
            <a:pPr lvl="1">
              <a:lnSpc>
                <a:spcPct val="150000"/>
              </a:lnSpc>
            </a:pP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dhcp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pool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NombrePool</a:t>
            </a:r>
            <a:endParaRPr lang="es-MX" sz="1600" b="1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de red Máscara de subred</a:t>
            </a:r>
          </a:p>
        </p:txBody>
      </p:sp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44016" y="53752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Configuración de un DHCP</a:t>
            </a:r>
          </a:p>
        </p:txBody>
      </p:sp>
      <p:sp>
        <p:nvSpPr>
          <p:cNvPr id="10" name="7 CuadroTexto">
            <a:extLst>
              <a:ext uri="{FF2B5EF4-FFF2-40B4-BE49-F238E27FC236}">
                <a16:creationId xmlns:a16="http://schemas.microsoft.com/office/drawing/2014/main" id="{149D2E3D-5D75-4869-A28A-0866D78305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5760" y="3140968"/>
            <a:ext cx="8001000" cy="20472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>
              <a:lnSpc>
                <a:spcPct val="150000"/>
              </a:lnSpc>
              <a:spcAft>
                <a:spcPts val="1200"/>
              </a:spcAft>
              <a:buFont typeface="+mj-lt"/>
              <a:buAutoNum type="arabicPeriod" startAt="2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Agregar configuración importante al DHCP</a:t>
            </a:r>
          </a:p>
          <a:p>
            <a:pPr lvl="1">
              <a:lnSpc>
                <a:spcPct val="150000"/>
              </a:lnSpc>
            </a:pP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dns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-server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dirIP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-Server</a:t>
            </a:r>
          </a:p>
          <a:p>
            <a:pPr lvl="1">
              <a:lnSpc>
                <a:spcPct val="150000"/>
              </a:lnSpc>
            </a:pP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default-</a:t>
            </a: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router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dirIP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lease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días horas minutos</a:t>
            </a:r>
          </a:p>
          <a:p>
            <a:pPr lvl="2">
              <a:lnSpc>
                <a:spcPct val="1500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Ejemplo: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lease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0 0 20</a:t>
            </a:r>
          </a:p>
        </p:txBody>
      </p:sp>
    </p:spTree>
    <p:extLst>
      <p:ext uri="{BB962C8B-B14F-4D97-AF65-F5344CB8AC3E}">
        <p14:creationId xmlns:p14="http://schemas.microsoft.com/office/powerpoint/2010/main" val="2801778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5" grpId="0"/>
      <p:bldP spid="1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5" name="7 CuadroTexto"/>
          <p:cNvSpPr txBox="1">
            <a:spLocks noChangeArrowheads="1"/>
          </p:cNvSpPr>
          <p:nvPr/>
        </p:nvSpPr>
        <p:spPr bwMode="auto">
          <a:xfrm>
            <a:off x="953852" y="1196752"/>
            <a:ext cx="7344816" cy="15240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Cuando tengamos en una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LAN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equipos terminales a los que se requiere asignar una dirección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 estática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como: servidores, impresoras, cámaras web, dispositivos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etc. es importante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excluir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esas direcciones del pool para evitar duplicidad de direcciones.</a:t>
            </a:r>
          </a:p>
        </p:txBody>
      </p:sp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44016" y="53752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¿Cuándo excluir direcciones del pool DHCP?</a:t>
            </a:r>
          </a:p>
        </p:txBody>
      </p:sp>
      <p:sp>
        <p:nvSpPr>
          <p:cNvPr id="5" name="7 CuadroTexto">
            <a:extLst>
              <a:ext uri="{FF2B5EF4-FFF2-40B4-BE49-F238E27FC236}">
                <a16:creationId xmlns:a16="http://schemas.microsoft.com/office/drawing/2014/main" id="{B6835E96-68FF-4A14-9524-A51A7A8B37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3852" y="2924944"/>
            <a:ext cx="7344816" cy="11951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marL="342900" indent="-342900" algn="just">
              <a:lnSpc>
                <a:spcPct val="150000"/>
              </a:lnSpc>
              <a:buFont typeface="+mj-lt"/>
              <a:buAutoNum type="arabicPeriod" startAt="2"/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También es importante excluir la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dirección IP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 la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puerta de enlace predeterminada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gateway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 startAt="2"/>
            </a:pPr>
            <a:endParaRPr lang="es-MX" sz="18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7 CuadroTexto">
            <a:extLst>
              <a:ext uri="{FF2B5EF4-FFF2-40B4-BE49-F238E27FC236}">
                <a16:creationId xmlns:a16="http://schemas.microsoft.com/office/drawing/2014/main" id="{5772A933-D941-4E32-BDF8-2AFE688F35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31640" y="3933056"/>
            <a:ext cx="7344816" cy="9392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  <a:spcAft>
                <a:spcPts val="1200"/>
              </a:spcAft>
            </a:pPr>
            <a:r>
              <a:rPr lang="es-MX" sz="1600" u="sng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Comando a  utilizar:</a:t>
            </a:r>
          </a:p>
          <a:p>
            <a:pPr algn="just">
              <a:lnSpc>
                <a:spcPct val="150000"/>
              </a:lnSpc>
            </a:pP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dhcp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excluded-address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Dir_IP_Inicial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Dir_IP_Final</a:t>
            </a:r>
            <a:endParaRPr lang="es-MX" sz="18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94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58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5" grpId="0"/>
      <p:bldP spid="5" grpId="0"/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5" name="7 CuadroTexto"/>
          <p:cNvSpPr txBox="1">
            <a:spLocks noChangeArrowheads="1"/>
          </p:cNvSpPr>
          <p:nvPr/>
        </p:nvSpPr>
        <p:spPr bwMode="auto">
          <a:xfrm>
            <a:off x="953852" y="1268760"/>
            <a:ext cx="7344816" cy="7853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ct val="1500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existe variación de los comandos, pues la especificación de la IP del 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default-</a:t>
            </a: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router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asocia automáticamente con la VLAN correspondiente.</a:t>
            </a:r>
          </a:p>
        </p:txBody>
      </p:sp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44016" y="53752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¿Cómo instalar un DHCP cuando tenemos </a:t>
            </a:r>
            <a:r>
              <a:rPr lang="es-ES_tradnl" sz="3200" b="1" dirty="0" err="1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VLANs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?</a:t>
            </a:r>
          </a:p>
        </p:txBody>
      </p:sp>
      <p:sp>
        <p:nvSpPr>
          <p:cNvPr id="7" name="7 CuadroTexto">
            <a:extLst>
              <a:ext uri="{FF2B5EF4-FFF2-40B4-BE49-F238E27FC236}">
                <a16:creationId xmlns:a16="http://schemas.microsoft.com/office/drawing/2014/main" id="{FF360D6B-614F-442C-9710-4267C7B54B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1500" y="2348880"/>
            <a:ext cx="8001000" cy="24165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lvl="1">
              <a:lnSpc>
                <a:spcPct val="150000"/>
              </a:lnSpc>
              <a:spcAft>
                <a:spcPts val="1200"/>
              </a:spcAft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Ejemplo:</a:t>
            </a:r>
          </a:p>
          <a:p>
            <a:pPr lvl="1">
              <a:lnSpc>
                <a:spcPct val="150000"/>
              </a:lnSpc>
            </a:pP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ip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dhcp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pool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PoolG0/0.10</a:t>
            </a:r>
          </a:p>
          <a:p>
            <a:pPr lvl="1">
              <a:lnSpc>
                <a:spcPct val="150000"/>
              </a:lnSpc>
            </a:pP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network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192.168.0.0 255.255.255.0</a:t>
            </a:r>
          </a:p>
          <a:p>
            <a:pPr lvl="1" algn="just">
              <a:lnSpc>
                <a:spcPct val="150000"/>
              </a:lnSpc>
            </a:pP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dns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-server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192.200.20.1</a:t>
            </a:r>
          </a:p>
          <a:p>
            <a:pPr lvl="1" algn="just">
              <a:lnSpc>
                <a:spcPct val="150000"/>
              </a:lnSpc>
            </a:pP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default-</a:t>
            </a:r>
            <a:r>
              <a:rPr lang="es-MX" sz="1600" b="1" dirty="0" err="1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router</a:t>
            </a:r>
            <a:r>
              <a:rPr lang="es-MX" sz="1600" b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192.168.0.254 </a:t>
            </a:r>
            <a:endParaRPr lang="es-MX" sz="18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>
              <a:lnSpc>
                <a:spcPct val="150000"/>
              </a:lnSpc>
            </a:pPr>
            <a:endParaRPr lang="es-MX" sz="16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0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58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5" grpId="0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8465" y="3725409"/>
            <a:ext cx="5935863" cy="2799935"/>
          </a:xfrm>
          <a:prstGeom prst="rect">
            <a:avLst/>
          </a:prstGeom>
        </p:spPr>
      </p:pic>
      <p:sp>
        <p:nvSpPr>
          <p:cNvPr id="35846" name="8 CuadroTexto"/>
          <p:cNvSpPr txBox="1">
            <a:spLocks noChangeArrowheads="1"/>
          </p:cNvSpPr>
          <p:nvPr/>
        </p:nvSpPr>
        <p:spPr bwMode="auto">
          <a:xfrm>
            <a:off x="571500" y="1196752"/>
            <a:ext cx="3286125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r>
              <a:rPr lang="es-MX" sz="2000" b="1" dirty="0">
                <a:solidFill>
                  <a:schemeClr val="accent6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DNS </a:t>
            </a:r>
            <a:r>
              <a:rPr lang="es-MX" sz="1800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800" b="1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800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omain </a:t>
            </a:r>
            <a:r>
              <a:rPr lang="en-US" sz="1800" b="1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US" sz="1800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ame </a:t>
            </a:r>
            <a:r>
              <a:rPr lang="en-US" sz="1800" b="1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800" i="1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ystem)</a:t>
            </a:r>
            <a:endParaRPr lang="es-MX" sz="1800" b="1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847" name="9 CuadroTexto"/>
          <p:cNvSpPr txBox="1">
            <a:spLocks noChangeArrowheads="1"/>
          </p:cNvSpPr>
          <p:nvPr/>
        </p:nvSpPr>
        <p:spPr bwMode="auto">
          <a:xfrm>
            <a:off x="571500" y="1839388"/>
            <a:ext cx="7643813" cy="379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ts val="2500"/>
              </a:lnSpc>
            </a:pPr>
            <a:r>
              <a:rPr lang="es-MX" sz="1600" b="1" dirty="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Protocolo de Internet que traduce nombres de dominio a sus direcciones IP.</a:t>
            </a:r>
            <a:endParaRPr lang="es-MX" sz="1600" dirty="0">
              <a:solidFill>
                <a:schemeClr val="bg2">
                  <a:lumMod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144016" y="53752"/>
            <a:ext cx="8964488" cy="1143000"/>
          </a:xfrm>
          <a:prstGeom prst="rect">
            <a:avLst/>
          </a:prstGeom>
        </p:spPr>
        <p:txBody>
          <a:bodyPr vert="horz" lIns="92075" tIns="46038" rIns="92075" bIns="46038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s-ES_tradnl" sz="3200" dirty="0">
                <a:solidFill>
                  <a:srgbClr val="33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 err="1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Domain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 err="1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Name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</a:t>
            </a:r>
            <a:r>
              <a:rPr lang="es-ES_tradnl" sz="3200" b="1" dirty="0" err="1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System</a:t>
            </a:r>
            <a:r>
              <a:rPr lang="es-ES_tradnl" sz="3200" b="1" dirty="0">
                <a:solidFill>
                  <a:schemeClr val="accent4">
                    <a:lumMod val="50000"/>
                  </a:schemeClr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Dom Casual" charset="0"/>
              </a:rPr>
              <a:t> (DNS)</a:t>
            </a:r>
          </a:p>
        </p:txBody>
      </p:sp>
      <p:sp>
        <p:nvSpPr>
          <p:cNvPr id="9" name="9 CuadroTexto"/>
          <p:cNvSpPr txBox="1">
            <a:spLocks noChangeArrowheads="1"/>
          </p:cNvSpPr>
          <p:nvPr/>
        </p:nvSpPr>
        <p:spPr bwMode="auto">
          <a:xfrm>
            <a:off x="571499" y="2461377"/>
            <a:ext cx="7643814" cy="1020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just">
              <a:lnSpc>
                <a:spcPts val="2500"/>
              </a:lnSpc>
            </a:pP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Cada que usas un nombre de dominio, el servicio DNS traduce el nombre a su correspondiente dirección IP. Por ejemplo el nombre de dominio </a:t>
            </a:r>
            <a:r>
              <a:rPr lang="es-MX" sz="1600" u="sng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www.example.com</a:t>
            </a:r>
            <a:r>
              <a:rPr lang="es-MX" sz="1600" dirty="0">
                <a:solidFill>
                  <a:schemeClr val="bg2">
                    <a:lumMod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se podría traducir a 198.105.232.4</a:t>
            </a:r>
          </a:p>
        </p:txBody>
      </p:sp>
    </p:spTree>
    <p:extLst>
      <p:ext uri="{BB962C8B-B14F-4D97-AF65-F5344CB8AC3E}">
        <p14:creationId xmlns:p14="http://schemas.microsoft.com/office/powerpoint/2010/main" val="275815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58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" dur="500"/>
                                        <p:tgtEl>
                                          <p:spTgt spid="358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6" grpId="0"/>
      <p:bldP spid="35847" grpId="0"/>
      <p:bldP spid="9" grpId="0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5060</TotalTime>
  <Words>334</Words>
  <Application>Microsoft Office PowerPoint</Application>
  <PresentationFormat>On-screen Show (4:3)</PresentationFormat>
  <Paragraphs>39</Paragraphs>
  <Slides>7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Arial Narrow</vt:lpstr>
      <vt:lpstr>Calibri</vt:lpstr>
      <vt:lpstr>Dom Casual</vt:lpstr>
      <vt:lpstr>Tema de Office</vt:lpstr>
      <vt:lpstr>Bitmap Image</vt:lpstr>
      <vt:lpstr>TC 3033B  Implementación de redes de área amplia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TC1017  Solución de problemas con programación</dc:title>
  <dc:creator>profesor</dc:creator>
  <cp:lastModifiedBy>Lizethe Pérez Fuertes</cp:lastModifiedBy>
  <cp:revision>192</cp:revision>
  <dcterms:created xsi:type="dcterms:W3CDTF">2013-06-11T22:32:36Z</dcterms:created>
  <dcterms:modified xsi:type="dcterms:W3CDTF">2025-03-21T01:09:52Z</dcterms:modified>
</cp:coreProperties>
</file>