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0" r:id="rId1"/>
    <p:sldMasterId id="2147483945" r:id="rId2"/>
  </p:sldMasterIdLst>
  <p:notesMasterIdLst>
    <p:notesMasterId r:id="rId41"/>
  </p:notesMasterIdLst>
  <p:handoutMasterIdLst>
    <p:handoutMasterId r:id="rId42"/>
  </p:handoutMasterIdLst>
  <p:sldIdLst>
    <p:sldId id="500" r:id="rId3"/>
    <p:sldId id="991" r:id="rId4"/>
    <p:sldId id="791" r:id="rId5"/>
    <p:sldId id="1065" r:id="rId6"/>
    <p:sldId id="1064" r:id="rId7"/>
    <p:sldId id="1066" r:id="rId8"/>
    <p:sldId id="1067" r:id="rId9"/>
    <p:sldId id="992" r:id="rId10"/>
    <p:sldId id="1068" r:id="rId11"/>
    <p:sldId id="993" r:id="rId12"/>
    <p:sldId id="994" r:id="rId13"/>
    <p:sldId id="996" r:id="rId14"/>
    <p:sldId id="998" r:id="rId15"/>
    <p:sldId id="997" r:id="rId16"/>
    <p:sldId id="999" r:id="rId17"/>
    <p:sldId id="1069" r:id="rId18"/>
    <p:sldId id="1006" r:id="rId19"/>
    <p:sldId id="913" r:id="rId20"/>
    <p:sldId id="980" r:id="rId21"/>
    <p:sldId id="1007" r:id="rId22"/>
    <p:sldId id="1008" r:id="rId23"/>
    <p:sldId id="1051" r:id="rId24"/>
    <p:sldId id="1052" r:id="rId25"/>
    <p:sldId id="1011" r:id="rId26"/>
    <p:sldId id="1018" r:id="rId27"/>
    <p:sldId id="1053" r:id="rId28"/>
    <p:sldId id="1070" r:id="rId29"/>
    <p:sldId id="914" r:id="rId30"/>
    <p:sldId id="982" r:id="rId31"/>
    <p:sldId id="1033" r:id="rId32"/>
    <p:sldId id="1045" r:id="rId33"/>
    <p:sldId id="1054" r:id="rId34"/>
    <p:sldId id="1060" r:id="rId35"/>
    <p:sldId id="1056" r:id="rId36"/>
    <p:sldId id="1061" r:id="rId37"/>
    <p:sldId id="1062" r:id="rId38"/>
    <p:sldId id="1063" r:id="rId39"/>
    <p:sldId id="1071" r:id="rId40"/>
  </p:sldIdLst>
  <p:sldSz cx="9144000" cy="6858000" type="screen4x3"/>
  <p:notesSz cx="7010400" cy="9296400"/>
  <p:defaultTextStyle>
    <a:defPPr>
      <a:defRPr lang="en-US"/>
    </a:defPPr>
    <a:lvl1pPr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ne Gibbons" initials="JG" lastIdx="12" clrIdx="0"/>
  <p:cmAuthor id="1" name="Rodrigo Floriano" initials="RF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0C0C4"/>
    <a:srgbClr val="678DC5"/>
    <a:srgbClr val="3E67A4"/>
    <a:srgbClr val="3E8DC5"/>
    <a:srgbClr val="5F5F65"/>
    <a:srgbClr val="7E7E86"/>
    <a:srgbClr val="FFFFFF"/>
    <a:srgbClr val="8E8E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7352" autoAdjust="0"/>
    <p:restoredTop sz="89302" autoAdjust="0"/>
  </p:normalViewPr>
  <p:slideViewPr>
    <p:cSldViewPr snapToGrid="0">
      <p:cViewPr>
        <p:scale>
          <a:sx n="53" d="100"/>
          <a:sy n="53" d="100"/>
        </p:scale>
        <p:origin x="1932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5022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4242"/>
    </p:cViewPr>
  </p:sorterViewPr>
  <p:notesViewPr>
    <p:cSldViewPr snapToGrid="0">
      <p:cViewPr>
        <p:scale>
          <a:sx n="100" d="100"/>
          <a:sy n="100" d="100"/>
        </p:scale>
        <p:origin x="-942" y="426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commentAuthors" Target="commentAuthor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5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" Type="http://schemas.openxmlformats.org/officeDocument/2006/relationships/slide" Target="slides/slide5.xml"/><Relationship Id="rId21" Type="http://schemas.openxmlformats.org/officeDocument/2006/relationships/slide" Target="slides/slide24.xml"/><Relationship Id="rId7" Type="http://schemas.openxmlformats.org/officeDocument/2006/relationships/slide" Target="slides/slide9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2" Type="http://schemas.openxmlformats.org/officeDocument/2006/relationships/slide" Target="slides/slide4.xml"/><Relationship Id="rId16" Type="http://schemas.openxmlformats.org/officeDocument/2006/relationships/slide" Target="slides/slide19.xml"/><Relationship Id="rId20" Type="http://schemas.openxmlformats.org/officeDocument/2006/relationships/slide" Target="slides/slide23.xml"/><Relationship Id="rId29" Type="http://schemas.openxmlformats.org/officeDocument/2006/relationships/slide" Target="slides/slide34.xml"/><Relationship Id="rId1" Type="http://schemas.openxmlformats.org/officeDocument/2006/relationships/slide" Target="slides/slide2.xml"/><Relationship Id="rId6" Type="http://schemas.openxmlformats.org/officeDocument/2006/relationships/slide" Target="slides/slide8.xml"/><Relationship Id="rId11" Type="http://schemas.openxmlformats.org/officeDocument/2006/relationships/slide" Target="slides/slide13.xml"/><Relationship Id="rId24" Type="http://schemas.openxmlformats.org/officeDocument/2006/relationships/slide" Target="slides/slide27.xml"/><Relationship Id="rId32" Type="http://schemas.openxmlformats.org/officeDocument/2006/relationships/slide" Target="slides/slide37.xml"/><Relationship Id="rId5" Type="http://schemas.openxmlformats.org/officeDocument/2006/relationships/slide" Target="slides/slide7.xml"/><Relationship Id="rId15" Type="http://schemas.openxmlformats.org/officeDocument/2006/relationships/slide" Target="slides/slide17.xml"/><Relationship Id="rId23" Type="http://schemas.openxmlformats.org/officeDocument/2006/relationships/slide" Target="slides/slide26.xml"/><Relationship Id="rId28" Type="http://schemas.openxmlformats.org/officeDocument/2006/relationships/slide" Target="slides/slide32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" Type="http://schemas.openxmlformats.org/officeDocument/2006/relationships/slide" Target="slides/slide6.xml"/><Relationship Id="rId9" Type="http://schemas.openxmlformats.org/officeDocument/2006/relationships/slide" Target="slides/slide11.xml"/><Relationship Id="rId14" Type="http://schemas.openxmlformats.org/officeDocument/2006/relationships/slide" Target="slides/slide16.xml"/><Relationship Id="rId22" Type="http://schemas.openxmlformats.org/officeDocument/2006/relationships/slide" Target="slides/slide25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8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1"/>
          <p:cNvSpPr>
            <a:spLocks noChangeArrowheads="1"/>
          </p:cNvSpPr>
          <p:nvPr/>
        </p:nvSpPr>
        <p:spPr bwMode="auto">
          <a:xfrm>
            <a:off x="6249988" y="8609013"/>
            <a:ext cx="4492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3" name="Rectangle 12"/>
          <p:cNvSpPr>
            <a:spLocks noChangeArrowheads="1"/>
          </p:cNvSpPr>
          <p:nvPr/>
        </p:nvSpPr>
        <p:spPr bwMode="auto">
          <a:xfrm>
            <a:off x="57150" y="8785225"/>
            <a:ext cx="2619375" cy="34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5667" tIns="50185" rIns="95667" bIns="50185">
            <a:spAutoFit/>
          </a:bodyPr>
          <a:lstStyle/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/>
              <a:t>© 2006 Cisco Systems, Inc. Todos los derechos reservados.</a:t>
            </a:r>
          </a:p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/>
              <a:t>Presentation_ID.scr</a:t>
            </a:r>
          </a:p>
        </p:txBody>
      </p:sp>
      <p:sp>
        <p:nvSpPr>
          <p:cNvPr id="5124" name="Line 13"/>
          <p:cNvSpPr>
            <a:spLocks noChangeShapeType="1"/>
          </p:cNvSpPr>
          <p:nvPr/>
        </p:nvSpPr>
        <p:spPr bwMode="auto">
          <a:xfrm>
            <a:off x="152400" y="8799513"/>
            <a:ext cx="6653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5" name="Rectangle 14"/>
          <p:cNvSpPr>
            <a:spLocks noChangeArrowheads="1"/>
          </p:cNvSpPr>
          <p:nvPr/>
        </p:nvSpPr>
        <p:spPr bwMode="auto">
          <a:xfrm>
            <a:off x="5929313" y="8680450"/>
            <a:ext cx="812800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8819" tIns="0" rIns="18819" bIns="0" anchor="b"/>
          <a:lstStyle/>
          <a:p>
            <a:pPr algn="r" defTabSz="903288">
              <a:lnSpc>
                <a:spcPct val="100000"/>
              </a:lnSpc>
            </a:pPr>
            <a:fld id="{22244E67-557B-7741-B9F5-F61AA18495DF}" type="slidenum">
              <a:rPr lang="en-US" sz="800"/>
              <a:pPr algn="r" defTabSz="903288">
                <a:lnSpc>
                  <a:spcPct val="100000"/>
                </a:lnSpc>
              </a:pPr>
              <a:t>‹#›</a:t>
            </a:fld>
            <a:endParaRPr lang="es-ES" sz="800"/>
          </a:p>
        </p:txBody>
      </p:sp>
    </p:spTree>
    <p:extLst>
      <p:ext uri="{BB962C8B-B14F-4D97-AF65-F5344CB8AC3E}">
        <p14:creationId xmlns:p14="http://schemas.microsoft.com/office/powerpoint/2010/main" val="2181015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8"/>
          <p:cNvSpPr>
            <a:spLocks noChangeArrowheads="1"/>
          </p:cNvSpPr>
          <p:nvPr/>
        </p:nvSpPr>
        <p:spPr bwMode="auto">
          <a:xfrm>
            <a:off x="6249988" y="8609013"/>
            <a:ext cx="4492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47" name="Rectangle 9"/>
          <p:cNvSpPr>
            <a:spLocks noChangeArrowheads="1"/>
          </p:cNvSpPr>
          <p:nvPr/>
        </p:nvSpPr>
        <p:spPr bwMode="auto">
          <a:xfrm>
            <a:off x="57150" y="8785225"/>
            <a:ext cx="3295650" cy="34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5667" tIns="50185" rIns="95667" bIns="50185">
            <a:spAutoFit/>
          </a:bodyPr>
          <a:lstStyle/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 dirty="0"/>
              <a:t>© 2006 Cisco </a:t>
            </a:r>
            <a:r>
              <a:rPr lang="es-ES" sz="800" dirty="0" err="1"/>
              <a:t>Systems</a:t>
            </a:r>
            <a:r>
              <a:rPr lang="es-ES" sz="800" dirty="0"/>
              <a:t>, Inc. Todos los derechos reservados.</a:t>
            </a:r>
          </a:p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 dirty="0"/>
              <a:t>Presentation_ID.scr</a:t>
            </a:r>
          </a:p>
        </p:txBody>
      </p:sp>
      <p:sp>
        <p:nvSpPr>
          <p:cNvPr id="6148" name="Line 10"/>
          <p:cNvSpPr>
            <a:spLocks noChangeShapeType="1"/>
          </p:cNvSpPr>
          <p:nvPr/>
        </p:nvSpPr>
        <p:spPr bwMode="auto">
          <a:xfrm>
            <a:off x="152400" y="8799513"/>
            <a:ext cx="6653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07" name="Rectangle 11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29313" y="8680450"/>
            <a:ext cx="8128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8819" tIns="0" rIns="18819" bIns="0" numCol="1" anchor="b" anchorCtr="0" compatLnSpc="1">
            <a:prstTxWarp prst="textNoShape">
              <a:avLst/>
            </a:prstTxWarp>
          </a:bodyPr>
          <a:lstStyle>
            <a:lvl1pPr algn="r" defTabSz="903288">
              <a:lnSpc>
                <a:spcPct val="100000"/>
              </a:lnSpc>
              <a:defRPr sz="800" smtClean="0">
                <a:cs typeface="+mn-cs"/>
              </a:defRPr>
            </a:lvl1pPr>
          </a:lstStyle>
          <a:p>
            <a:pPr>
              <a:defRPr/>
            </a:pPr>
            <a:fld id="{F4CE0E46-7F05-B940-8356-5580BE265E49}" type="slidenum">
              <a:rPr lang="en-US"/>
              <a:pPr>
                <a:defRPr/>
              </a:pPr>
              <a:t>‹#›</a:t>
            </a:fld>
            <a:endParaRPr lang="es-ES"/>
          </a:p>
        </p:txBody>
      </p:sp>
      <p:sp>
        <p:nvSpPr>
          <p:cNvPr id="6150" name="Rectangle 1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3125" y="244475"/>
            <a:ext cx="5321300" cy="39909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</p:sp>
      <p:sp>
        <p:nvSpPr>
          <p:cNvPr id="183309" name="Rectangle 1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68350" y="4378325"/>
            <a:ext cx="5468938" cy="425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667" tIns="50185" rIns="95667" bIns="5018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Body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26460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12713" indent="-112713" algn="l" defTabSz="1020763" rtl="0" eaLnBrk="0" fontAlgn="base" hangingPunct="0">
      <a:lnSpc>
        <a:spcPct val="90000"/>
      </a:lnSpc>
      <a:spcBef>
        <a:spcPct val="50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82600" indent="-120650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66788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449388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931988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CD9030C1-C977-B14B-8EB7-BA2B30FCDB63}" type="slidenum">
              <a:rPr lang="en-US" sz="800"/>
              <a:pPr/>
              <a:t>1</a:t>
            </a:fld>
            <a:endParaRPr lang="es-ES" sz="800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Tx/>
              <a:buNone/>
            </a:pP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476943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3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286773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4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88959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5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14728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6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27075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7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4687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8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9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72740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10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11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12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13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14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15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16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107204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17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18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2196270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19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22365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20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22365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21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2236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22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883060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23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9880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24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22365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25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22365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26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670934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27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641000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28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1388080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29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80857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30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80857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31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80857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32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629503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33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34629567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34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86629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35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499884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36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972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37</a:t>
            </a:fld>
            <a:endParaRPr lang="es-ES" sz="8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2022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38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10553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Pt_CoverArt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93888"/>
            <a:ext cx="9140825" cy="2449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4222644" y="6670529"/>
            <a:ext cx="290057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© 2007 – 2010, Cisco </a:t>
            </a:r>
            <a:r>
              <a:rPr lang="es-ES" sz="700" dirty="0" err="1">
                <a:solidFill>
                  <a:srgbClr val="D3D3D3"/>
                </a:solidFill>
              </a:rPr>
              <a:t>Systems</a:t>
            </a:r>
            <a:r>
              <a:rPr lang="es-ES" sz="700" dirty="0">
                <a:solidFill>
                  <a:srgbClr val="D3D3D3"/>
                </a:solidFill>
              </a:rPr>
              <a:t>, Inc. Todos los derechos reservados.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7123113" y="6670529"/>
            <a:ext cx="1316808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pública de Cisco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93675" y="6562725"/>
            <a:ext cx="962025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ITE PC v4.1</a:t>
            </a:r>
          </a:p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Capítulo 6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DC7FBAF0-BCF5-8741-945F-3C6763791038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pic>
        <p:nvPicPr>
          <p:cNvPr id="9" name="Picture 9" descr="Cisco_NewLogo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225" y="5940425"/>
            <a:ext cx="3354388" cy="474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10" descr="Cisc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63" y="119063"/>
            <a:ext cx="11715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90247" name="Rectangle 7"/>
          <p:cNvSpPr>
            <a:spLocks noGrp="1" noChangeArrowheads="1"/>
          </p:cNvSpPr>
          <p:nvPr>
            <p:ph type="ctrTitle"/>
          </p:nvPr>
        </p:nvSpPr>
        <p:spPr bwMode="white">
          <a:xfrm>
            <a:off x="311150" y="2671763"/>
            <a:ext cx="3768725" cy="830262"/>
          </a:xfrm>
          <a:ln/>
        </p:spPr>
        <p:txBody>
          <a:bodyPr anchor="ctr"/>
          <a:lstStyle>
            <a:lvl1pPr>
              <a:defRPr sz="30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90248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311150" y="4672013"/>
            <a:ext cx="4103688" cy="658812"/>
          </a:xfrm>
          <a:ln/>
        </p:spPr>
        <p:txBody>
          <a:bodyPr/>
          <a:lstStyle>
            <a:lvl1pPr marL="0" indent="0">
              <a:lnSpc>
                <a:spcPct val="90000"/>
              </a:lnSpc>
              <a:buFont typeface="Wingdings" pitchFamily="2" charset="2"/>
              <a:buNone/>
              <a:defRPr sz="20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54027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638" y="702293"/>
            <a:ext cx="8145462" cy="8382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5638" y="1687390"/>
            <a:ext cx="7940675" cy="4720787"/>
          </a:xfrm>
        </p:spPr>
        <p:txBody>
          <a:bodyPr/>
          <a:lstStyle>
            <a:lvl2pPr marL="457200" indent="-2286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0975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150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5638" y="2014538"/>
            <a:ext cx="3894137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2175" y="2014538"/>
            <a:ext cx="3894138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8947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00279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8369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4858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74995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91901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8752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5925" y="798513"/>
            <a:ext cx="2035175" cy="4787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5638" y="798513"/>
            <a:ext cx="5957887" cy="4787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67663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638" y="798513"/>
            <a:ext cx="8145462" cy="838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55638" y="2014538"/>
            <a:ext cx="7940675" cy="3571875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7481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PPt_4face_021208.jp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11350"/>
            <a:ext cx="9144000" cy="243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78"/>
          <p:cNvSpPr>
            <a:spLocks noChangeArrowheads="1"/>
          </p:cNvSpPr>
          <p:nvPr/>
        </p:nvSpPr>
        <p:spPr bwMode="auto">
          <a:xfrm>
            <a:off x="4222630" y="6670529"/>
            <a:ext cx="257516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© 2008 Cisco </a:t>
            </a:r>
            <a:r>
              <a:rPr lang="es-ES" sz="700" dirty="0" err="1">
                <a:solidFill>
                  <a:srgbClr val="D3D3D3"/>
                </a:solidFill>
              </a:rPr>
              <a:t>Systems</a:t>
            </a:r>
            <a:r>
              <a:rPr lang="es-ES" sz="700" dirty="0">
                <a:solidFill>
                  <a:srgbClr val="D3D3D3"/>
                </a:solidFill>
              </a:rPr>
              <a:t>, Inc. Todos los derechos reservados.</a:t>
            </a:r>
          </a:p>
        </p:txBody>
      </p:sp>
      <p:sp>
        <p:nvSpPr>
          <p:cNvPr id="6" name="Rectangle 279"/>
          <p:cNvSpPr>
            <a:spLocks noChangeArrowheads="1"/>
          </p:cNvSpPr>
          <p:nvPr/>
        </p:nvSpPr>
        <p:spPr bwMode="auto">
          <a:xfrm>
            <a:off x="6896100" y="6670529"/>
            <a:ext cx="1505962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confidencial de Cisco</a:t>
            </a:r>
          </a:p>
        </p:txBody>
      </p:sp>
      <p:sp>
        <p:nvSpPr>
          <p:cNvPr id="7" name="Rectangle 280"/>
          <p:cNvSpPr>
            <a:spLocks noChangeArrowheads="1"/>
          </p:cNvSpPr>
          <p:nvPr/>
        </p:nvSpPr>
        <p:spPr bwMode="auto">
          <a:xfrm>
            <a:off x="193675" y="6672263"/>
            <a:ext cx="962025" cy="18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>
                <a:solidFill>
                  <a:srgbClr val="D3D3D3"/>
                </a:solidFill>
              </a:rPr>
              <a:t>Presentation_ID</a:t>
            </a:r>
          </a:p>
        </p:txBody>
      </p:sp>
      <p:sp>
        <p:nvSpPr>
          <p:cNvPr id="8" name="Rectangle 281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7F1BC4EF-034A-F647-AA58-B71D58802FDB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pic>
        <p:nvPicPr>
          <p:cNvPr id="9" name="Picture 331" descr="Cisco_NewLogo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225" y="5940425"/>
            <a:ext cx="3354388" cy="474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333" descr="Cisc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63" y="119063"/>
            <a:ext cx="11715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9873" name="Rectangle 209"/>
          <p:cNvSpPr>
            <a:spLocks noGrp="1" noChangeArrowheads="1"/>
          </p:cNvSpPr>
          <p:nvPr>
            <p:ph type="ctrTitle"/>
          </p:nvPr>
        </p:nvSpPr>
        <p:spPr bwMode="white">
          <a:xfrm>
            <a:off x="311150" y="2671763"/>
            <a:ext cx="3768725" cy="830262"/>
          </a:xfrm>
          <a:ln/>
        </p:spPr>
        <p:txBody>
          <a:bodyPr anchor="ctr"/>
          <a:lstStyle>
            <a:lvl1pPr>
              <a:defRPr sz="30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69874" name="Rectangle 210"/>
          <p:cNvSpPr>
            <a:spLocks noGrp="1" noChangeArrowheads="1"/>
          </p:cNvSpPr>
          <p:nvPr>
            <p:ph type="subTitle" idx="1"/>
          </p:nvPr>
        </p:nvSpPr>
        <p:spPr>
          <a:xfrm>
            <a:off x="311150" y="4672013"/>
            <a:ext cx="4103688" cy="658812"/>
          </a:xfrm>
          <a:ln/>
        </p:spPr>
        <p:txBody>
          <a:bodyPr/>
          <a:lstStyle>
            <a:lvl1pPr marL="0" indent="0">
              <a:lnSpc>
                <a:spcPct val="90000"/>
              </a:lnSpc>
              <a:buFont typeface="Wingdings" pitchFamily="2" charset="2"/>
              <a:buNone/>
              <a:defRPr sz="2000"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48856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457200" indent="-2286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61047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228517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5638" y="2014538"/>
            <a:ext cx="3894137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2175" y="2014538"/>
            <a:ext cx="3894138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2319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643739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40848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85695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425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4911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98629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5925" y="798513"/>
            <a:ext cx="2035175" cy="4787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5638" y="798513"/>
            <a:ext cx="5957887" cy="4787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31607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55638" y="798513"/>
            <a:ext cx="814546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Slide Title</a:t>
            </a:r>
          </a:p>
        </p:txBody>
      </p:sp>
      <p:sp>
        <p:nvSpPr>
          <p:cNvPr id="1027" name="Rectangle 4"/>
          <p:cNvSpPr>
            <a:spLocks noChangeArrowheads="1"/>
          </p:cNvSpPr>
          <p:nvPr/>
        </p:nvSpPr>
        <p:spPr bwMode="auto">
          <a:xfrm>
            <a:off x="193675" y="6562725"/>
            <a:ext cx="962025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ITE PC v4.1</a:t>
            </a:r>
          </a:p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Capítulo 6</a:t>
            </a:r>
          </a:p>
        </p:txBody>
      </p:sp>
      <p:sp>
        <p:nvSpPr>
          <p:cNvPr id="1028" name="Rectangle 5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28856D66-2D7E-BA44-8BF8-F720D8CAD36C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636398" y="2078328"/>
            <a:ext cx="7940675" cy="39506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030" name="Picture 7" descr="PPt_TopBand_Artwork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0825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8"/>
          <p:cNvSpPr>
            <a:spLocks noChangeArrowheads="1"/>
          </p:cNvSpPr>
          <p:nvPr/>
        </p:nvSpPr>
        <p:spPr bwMode="auto">
          <a:xfrm>
            <a:off x="4222644" y="6670529"/>
            <a:ext cx="290057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© 2007 – 2010, Cisco </a:t>
            </a:r>
            <a:r>
              <a:rPr lang="es-ES" sz="700" dirty="0" err="1">
                <a:solidFill>
                  <a:srgbClr val="D3D3D3"/>
                </a:solidFill>
              </a:rPr>
              <a:t>Systems</a:t>
            </a:r>
            <a:r>
              <a:rPr lang="es-ES" sz="700" dirty="0">
                <a:solidFill>
                  <a:srgbClr val="D3D3D3"/>
                </a:solidFill>
              </a:rPr>
              <a:t>, Inc. Todos los derechos reservados.</a:t>
            </a:r>
          </a:p>
        </p:txBody>
      </p:sp>
      <p:sp>
        <p:nvSpPr>
          <p:cNvPr id="1032" name="Rectangle 9"/>
          <p:cNvSpPr>
            <a:spLocks noChangeArrowheads="1"/>
          </p:cNvSpPr>
          <p:nvPr/>
        </p:nvSpPr>
        <p:spPr bwMode="auto">
          <a:xfrm>
            <a:off x="7123113" y="6670529"/>
            <a:ext cx="1316808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pública de Cisco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34" r:id="rId2"/>
    <p:sldLayoutId id="2147484035" r:id="rId3"/>
    <p:sldLayoutId id="2147484036" r:id="rId4"/>
    <p:sldLayoutId id="2147484037" r:id="rId5"/>
    <p:sldLayoutId id="2147484038" r:id="rId6"/>
    <p:sldLayoutId id="2147484039" r:id="rId7"/>
    <p:sldLayoutId id="2147484040" r:id="rId8"/>
    <p:sldLayoutId id="2147484041" r:id="rId9"/>
    <p:sldLayoutId id="2147484042" r:id="rId10"/>
    <p:sldLayoutId id="2147484043" r:id="rId11"/>
    <p:sldLayoutId id="2147484044" r:id="rId12"/>
  </p:sldLayoutIdLst>
  <p:txStyles>
    <p:titleStyle>
      <a:lvl1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+mj-lt"/>
          <a:ea typeface="ＭＳ Ｐゴシック" charset="0"/>
          <a:cs typeface="ＭＳ Ｐゴシック" charset="0"/>
        </a:defRPr>
      </a:lvl1pPr>
      <a:lvl2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2pPr>
      <a:lvl3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3pPr>
      <a:lvl4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4pPr>
      <a:lvl5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6pPr>
      <a:lvl7pPr marL="9144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7pPr>
      <a:lvl8pPr marL="13716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8pPr>
      <a:lvl9pPr marL="18288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9pPr>
    </p:titleStyle>
    <p:bodyStyle>
      <a:lvl1pPr marL="236538" indent="-236538" algn="l" defTabSz="814388" rtl="0" eaLnBrk="0" fontAlgn="base" hangingPunct="0">
        <a:lnSpc>
          <a:spcPct val="95000"/>
        </a:lnSpc>
        <a:spcBef>
          <a:spcPct val="50000"/>
        </a:spcBef>
        <a:spcAft>
          <a:spcPct val="0"/>
        </a:spcAft>
        <a:buClr>
          <a:srgbClr val="708CA1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574675" indent="-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2pPr>
      <a:lvl3pPr marL="914400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254125" indent="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604963" indent="223838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621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6pPr>
      <a:lvl7pPr marL="25193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7pPr>
      <a:lvl8pPr marL="29765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8pPr>
      <a:lvl9pPr marL="34337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6146"/>
          <p:cNvSpPr>
            <a:spLocks noGrp="1" noChangeArrowheads="1"/>
          </p:cNvSpPr>
          <p:nvPr>
            <p:ph type="title"/>
          </p:nvPr>
        </p:nvSpPr>
        <p:spPr bwMode="auto">
          <a:xfrm>
            <a:off x="193868" y="394392"/>
            <a:ext cx="8772157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Slide Title</a:t>
            </a:r>
          </a:p>
        </p:txBody>
      </p:sp>
      <p:sp>
        <p:nvSpPr>
          <p:cNvPr id="3075" name="Rectangle 6281"/>
          <p:cNvSpPr>
            <a:spLocks noChangeArrowheads="1"/>
          </p:cNvSpPr>
          <p:nvPr/>
        </p:nvSpPr>
        <p:spPr bwMode="auto">
          <a:xfrm>
            <a:off x="193675" y="6672263"/>
            <a:ext cx="962025" cy="18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>
                <a:solidFill>
                  <a:srgbClr val="D3D3D3"/>
                </a:solidFill>
              </a:rPr>
              <a:t>Presentation_ID</a:t>
            </a:r>
          </a:p>
        </p:txBody>
      </p:sp>
      <p:sp>
        <p:nvSpPr>
          <p:cNvPr id="3076" name="Rectangle 6282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6084AB3D-AE30-934E-B0BC-A74C2CCEE444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sp>
        <p:nvSpPr>
          <p:cNvPr id="3077" name="Rectangle 628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3109" y="1539502"/>
            <a:ext cx="8733677" cy="4926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78" name="Rectangle 6312"/>
          <p:cNvSpPr>
            <a:spLocks noChangeArrowheads="1"/>
          </p:cNvSpPr>
          <p:nvPr/>
        </p:nvSpPr>
        <p:spPr bwMode="auto">
          <a:xfrm>
            <a:off x="4222630" y="6670529"/>
            <a:ext cx="257516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© 2008 Cisco </a:t>
            </a:r>
            <a:r>
              <a:rPr lang="es-ES" sz="700" dirty="0" err="1">
                <a:solidFill>
                  <a:srgbClr val="D3D3D3"/>
                </a:solidFill>
              </a:rPr>
              <a:t>Systems</a:t>
            </a:r>
            <a:r>
              <a:rPr lang="es-ES" sz="700" dirty="0">
                <a:solidFill>
                  <a:srgbClr val="D3D3D3"/>
                </a:solidFill>
              </a:rPr>
              <a:t>, Inc. Todos los derechos reservados.</a:t>
            </a:r>
          </a:p>
        </p:txBody>
      </p:sp>
      <p:sp>
        <p:nvSpPr>
          <p:cNvPr id="3079" name="Rectangle 6313"/>
          <p:cNvSpPr>
            <a:spLocks noChangeArrowheads="1"/>
          </p:cNvSpPr>
          <p:nvPr/>
        </p:nvSpPr>
        <p:spPr bwMode="auto">
          <a:xfrm>
            <a:off x="6896100" y="6670529"/>
            <a:ext cx="1505962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confidencial de Cisco</a:t>
            </a:r>
          </a:p>
        </p:txBody>
      </p:sp>
      <p:pic>
        <p:nvPicPr>
          <p:cNvPr id="3080" name="Picture 8" descr="Rev08_Cisco_BrandBar10_060408.png"/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56" r:id="rId1"/>
    <p:sldLayoutId id="2147484045" r:id="rId2"/>
    <p:sldLayoutId id="2147484046" r:id="rId3"/>
    <p:sldLayoutId id="2147484047" r:id="rId4"/>
    <p:sldLayoutId id="2147484048" r:id="rId5"/>
    <p:sldLayoutId id="2147484049" r:id="rId6"/>
    <p:sldLayoutId id="2147484050" r:id="rId7"/>
    <p:sldLayoutId id="2147484051" r:id="rId8"/>
    <p:sldLayoutId id="2147484052" r:id="rId9"/>
    <p:sldLayoutId id="2147484053" r:id="rId10"/>
    <p:sldLayoutId id="2147484054" r:id="rId11"/>
  </p:sldLayoutIdLst>
  <p:txStyles>
    <p:titleStyle>
      <a:lvl1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+mj-lt"/>
          <a:ea typeface="ＭＳ Ｐゴシック" charset="0"/>
          <a:cs typeface="ＭＳ Ｐゴシック" charset="0"/>
        </a:defRPr>
      </a:lvl1pPr>
      <a:lvl2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2pPr>
      <a:lvl3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3pPr>
      <a:lvl4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4pPr>
      <a:lvl5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6pPr>
      <a:lvl7pPr marL="9144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7pPr>
      <a:lvl8pPr marL="13716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8pPr>
      <a:lvl9pPr marL="18288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9pPr>
    </p:titleStyle>
    <p:bodyStyle>
      <a:lvl1pPr marL="236538" indent="-236538" algn="l" defTabSz="814388" rtl="0" eaLnBrk="0" fontAlgn="base" hangingPunct="0">
        <a:lnSpc>
          <a:spcPct val="95000"/>
        </a:lnSpc>
        <a:spcBef>
          <a:spcPct val="50000"/>
        </a:spcBef>
        <a:spcAft>
          <a:spcPct val="0"/>
        </a:spcAft>
        <a:buClr>
          <a:srgbClr val="708CA1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574675" indent="-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2pPr>
      <a:lvl3pPr marL="914400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254125" indent="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604963" indent="223838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621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6pPr>
      <a:lvl7pPr marL="25193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7pPr>
      <a:lvl8pPr marL="29765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8pPr>
      <a:lvl9pPr marL="34337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3854450" cy="1481138"/>
          </a:xfrm>
        </p:spPr>
        <p:txBody>
          <a:bodyPr/>
          <a:lstStyle/>
          <a:p>
            <a:pPr eaLnBrk="1" hangingPunct="1"/>
            <a:r>
              <a:rPr lang="es-ES" sz="2400" dirty="0">
                <a:latin typeface="Arial" charset="0"/>
              </a:rPr>
              <a:t>VLANs</a:t>
            </a:r>
            <a:endParaRPr lang="es-ES" sz="24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11150" y="4672013"/>
            <a:ext cx="6788150" cy="658812"/>
          </a:xfrm>
        </p:spPr>
        <p:txBody>
          <a:bodyPr/>
          <a:lstStyle/>
          <a:p>
            <a:pPr eaLnBrk="1" hangingPunct="1"/>
            <a:r>
              <a:rPr lang="es-ES" dirty="0"/>
              <a:t>Routing and </a:t>
            </a:r>
            <a:r>
              <a:rPr lang="es-ES" dirty="0" err="1"/>
              <a:t>Switching</a:t>
            </a:r>
            <a:r>
              <a:rPr lang="es-ES" dirty="0"/>
              <a:t> Essentials v6.0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</p:spTree>
  </p:cSld>
  <p:clrMapOvr>
    <a:masterClrMapping/>
  </p:clrMapOvr>
  <p:transition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43592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>
                <a:latin typeface="Arial" charset="0"/>
              </a:rPr>
              <a:t>Características de las VLANs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798787" y="1484947"/>
            <a:ext cx="6159291" cy="4915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B8A3717-9631-7614-A21F-A30A45FFE4AD}"/>
              </a:ext>
            </a:extLst>
          </p:cNvPr>
          <p:cNvSpPr txBox="1"/>
          <p:nvPr/>
        </p:nvSpPr>
        <p:spPr>
          <a:xfrm>
            <a:off x="185921" y="1712280"/>
            <a:ext cx="2712720" cy="3729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VLANs (redes virtuales) nos permiten </a:t>
            </a:r>
            <a:r>
              <a:rPr lang="es-ES" sz="1800" b="1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implementar de forma eficiente el tráfico dentro de una red de cobertura local</a:t>
            </a:r>
            <a:r>
              <a:rPr lang="es-ES" sz="1800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solidFill>
                <a:srgbClr val="FF0000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Las VLANs se pueden instalar tanto en el router como en el switch.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522053"/>
      </p:ext>
    </p:extLst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430657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Segmentación de VLAN</a:t>
            </a:r>
            <a:endParaRPr lang="es-ES" sz="2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221210"/>
      </p:ext>
    </p:extLst>
  </p:cSld>
  <p:clrMapOvr>
    <a:masterClrMapping/>
  </p:clrMapOvr>
  <p:transition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43592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>
                <a:latin typeface="Arial" charset="0"/>
              </a:rPr>
              <a:t>Características de las VLANs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798787" y="1484947"/>
            <a:ext cx="6159291" cy="4915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B8A3717-9631-7614-A21F-A30A45FFE4AD}"/>
              </a:ext>
            </a:extLst>
          </p:cNvPr>
          <p:cNvSpPr txBox="1"/>
          <p:nvPr/>
        </p:nvSpPr>
        <p:spPr>
          <a:xfrm>
            <a:off x="185920" y="1712280"/>
            <a:ext cx="2905623" cy="3729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Las VLANs nos permiten </a:t>
            </a:r>
            <a:r>
              <a:rPr lang="es-ES" sz="1800" b="1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segmentar el tráfico cuando tenemos la necesidad de dividir de forma lógica distintos segmentos</a:t>
            </a:r>
            <a:r>
              <a:rPr lang="es-ES" sz="1800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Cada VLAN corresponde a un dominio de broadcast, es decir, a una misma subred. </a:t>
            </a:r>
          </a:p>
        </p:txBody>
      </p:sp>
    </p:spTree>
    <p:extLst>
      <p:ext uri="{BB962C8B-B14F-4D97-AF65-F5344CB8AC3E}">
        <p14:creationId xmlns:p14="http://schemas.microsoft.com/office/powerpoint/2010/main" val="965961236"/>
      </p:ext>
    </p:extLst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43592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>
                <a:latin typeface="Arial" charset="0"/>
              </a:rPr>
              <a:t>Definiciones de una red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883172" y="1484947"/>
            <a:ext cx="6159291" cy="4915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B8A3717-9631-7614-A21F-A30A45FFE4AD}"/>
              </a:ext>
            </a:extLst>
          </p:cNvPr>
          <p:cNvSpPr txBox="1"/>
          <p:nvPr/>
        </p:nvSpPr>
        <p:spPr>
          <a:xfrm>
            <a:off x="274320" y="1650410"/>
            <a:ext cx="2712720" cy="2247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Los puertos de cada switch están asignados a VLANs distintas. 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Los tres tipos de tráfico circulan por el mismo switch 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E81F8-3791-BF7C-FAFF-2DFAD18F8419}"/>
              </a:ext>
            </a:extLst>
          </p:cNvPr>
          <p:cNvSpPr/>
          <p:nvPr/>
        </p:nvSpPr>
        <p:spPr bwMode="auto">
          <a:xfrm>
            <a:off x="5939246" y="2002971"/>
            <a:ext cx="2847704" cy="940526"/>
          </a:xfrm>
          <a:prstGeom prst="rect">
            <a:avLst/>
          </a:prstGeom>
          <a:noFill/>
          <a:ln w="539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124" tIns="41061" rIns="82124" bIns="41061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14388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5447812"/>
      </p:ext>
    </p:extLst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43592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>
                <a:latin typeface="Arial" charset="0"/>
              </a:rPr>
              <a:t>Definiciones de una red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883172" y="1484947"/>
            <a:ext cx="6159291" cy="4915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B8A3717-9631-7614-A21F-A30A45FFE4AD}"/>
              </a:ext>
            </a:extLst>
          </p:cNvPr>
          <p:cNvSpPr txBox="1"/>
          <p:nvPr/>
        </p:nvSpPr>
        <p:spPr>
          <a:xfrm>
            <a:off x="310414" y="1768206"/>
            <a:ext cx="2712720" cy="3729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Para la comunicación entre los </a:t>
            </a:r>
            <a:r>
              <a:rPr lang="es-ES" sz="18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switches hay una conexión de todas las redes virtuales que es identificado como de tipo </a:t>
            </a:r>
            <a:r>
              <a:rPr lang="es-ES" sz="1800" b="1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troncal</a:t>
            </a:r>
            <a:r>
              <a:rPr lang="es-ES" sz="18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marL="285750" indent="-285750" algn="l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Para formar los enlaces de tipo troncal, el puerto en el switch se configura como de tipo</a:t>
            </a:r>
            <a:r>
              <a:rPr lang="es-ES" sz="1800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sz="18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troncal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E81F8-3791-BF7C-FAFF-2DFAD18F8419}"/>
              </a:ext>
            </a:extLst>
          </p:cNvPr>
          <p:cNvSpPr/>
          <p:nvPr/>
        </p:nvSpPr>
        <p:spPr bwMode="auto">
          <a:xfrm>
            <a:off x="4572000" y="2334986"/>
            <a:ext cx="685800" cy="2596244"/>
          </a:xfrm>
          <a:prstGeom prst="rect">
            <a:avLst/>
          </a:prstGeom>
          <a:noFill/>
          <a:ln w="539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124" tIns="41061" rIns="82124" bIns="41061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14388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745468"/>
      </p:ext>
    </p:extLst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37820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/>
              <a:t>Beneficios de las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664805" y="1379538"/>
            <a:ext cx="6176080" cy="51406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A12B72FB-3BE2-C451-F59E-E197D093EE49}"/>
              </a:ext>
            </a:extLst>
          </p:cNvPr>
          <p:cNvSpPr txBox="1"/>
          <p:nvPr/>
        </p:nvSpPr>
        <p:spPr>
          <a:xfrm>
            <a:off x="303115" y="1860461"/>
            <a:ext cx="2272919" cy="3137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s-ES" sz="1800" b="1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Mejora la seguridad</a:t>
            </a:r>
            <a:r>
              <a:rPr lang="es-ES" sz="1800" b="1" dirty="0">
                <a:solidFill>
                  <a:srgbClr val="FF0000"/>
                </a:solidFill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es-MX" sz="1800" dirty="0">
              <a:solidFill>
                <a:srgbClr val="FF0000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l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Los switches se pueden programar y cada uno de los puertos estar asociados únicamente con una MAC específica que se puede conectar. 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432150"/>
      </p:ext>
    </p:extLst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37820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/>
              <a:t>Beneficios de las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664805" y="1379538"/>
            <a:ext cx="6176080" cy="51406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A12B72FB-3BE2-C451-F59E-E197D093EE49}"/>
              </a:ext>
            </a:extLst>
          </p:cNvPr>
          <p:cNvSpPr txBox="1"/>
          <p:nvPr/>
        </p:nvSpPr>
        <p:spPr>
          <a:xfrm>
            <a:off x="303115" y="1765110"/>
            <a:ext cx="2135285" cy="2840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s-ES" sz="1800" b="1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Reduce costos</a:t>
            </a:r>
            <a:r>
              <a:rPr lang="es-ES" sz="1800" b="1" dirty="0">
                <a:solidFill>
                  <a:srgbClr val="FF0000"/>
                </a:solidFill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es-MX" sz="1800" dirty="0">
              <a:solidFill>
                <a:srgbClr val="FF0000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l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No necesitamos varios routers para segmentar el tráfico, puedo tener un router y varios switches para segmentar el tráfico.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886649"/>
      </p:ext>
    </p:extLst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37820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/>
              <a:t>Beneficios de las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664805" y="1379538"/>
            <a:ext cx="6176080" cy="51406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A12B72FB-3BE2-C451-F59E-E197D093EE49}"/>
              </a:ext>
            </a:extLst>
          </p:cNvPr>
          <p:cNvSpPr txBox="1"/>
          <p:nvPr/>
        </p:nvSpPr>
        <p:spPr>
          <a:xfrm>
            <a:off x="411399" y="1885426"/>
            <a:ext cx="2135285" cy="2247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s-ES" sz="1800" b="1" dirty="0">
                <a:solidFill>
                  <a:srgbClr val="FF0000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Mejor desempeño</a:t>
            </a:r>
            <a:r>
              <a:rPr lang="es-ES" sz="1800" b="1" dirty="0">
                <a:solidFill>
                  <a:srgbClr val="FF0000"/>
                </a:solidFill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es-MX" sz="1800" dirty="0">
              <a:solidFill>
                <a:srgbClr val="FF0000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l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Al segmentar el tráfico podemos conseguir un mejor desempeño por cada segmento.</a:t>
            </a:r>
            <a:endParaRPr lang="es-MX" sz="1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6040580"/>
      </p:ext>
    </p:extLst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/>
            <a:r>
              <a:rPr lang="es-ES" dirty="0"/>
              <a:t>Tipos de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110" y="1554480"/>
            <a:ext cx="8930890" cy="2591303"/>
          </a:xfrm>
        </p:spPr>
        <p:txBody>
          <a:bodyPr wrap="square">
            <a:spAutoFit/>
          </a:bodyPr>
          <a:lstStyle/>
          <a:p>
            <a:r>
              <a:rPr lang="es-ES" sz="2000" b="1" dirty="0"/>
              <a:t>VLAN de datos</a:t>
            </a:r>
            <a:r>
              <a:rPr lang="es-ES" sz="2000" dirty="0"/>
              <a:t>: Tráfico generado por el usuario</a:t>
            </a:r>
          </a:p>
          <a:p>
            <a:r>
              <a:rPr lang="es-ES" sz="2000" b="1" dirty="0"/>
              <a:t>VLAN por default:</a:t>
            </a:r>
            <a:r>
              <a:rPr lang="es-ES" sz="2000" dirty="0"/>
              <a:t> Antes de que un switch sea configurado, todos los puertos pertenecen a la </a:t>
            </a:r>
            <a:r>
              <a:rPr lang="es-ES" sz="2000" u="sng" dirty="0"/>
              <a:t>VLAN 1</a:t>
            </a:r>
            <a:r>
              <a:rPr lang="es-ES" sz="2000" dirty="0"/>
              <a:t>,</a:t>
            </a:r>
            <a:r>
              <a:rPr lang="es-ES" sz="2000" b="1" dirty="0">
                <a:latin typeface="Courier New" panose="02070309020205020404" pitchFamily="49" charset="0"/>
              </a:rPr>
              <a:t> show vlan brief</a:t>
            </a:r>
            <a:endParaRPr lang="es-E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" sz="2000" b="1" dirty="0"/>
              <a:t>VLAN nativa:</a:t>
            </a:r>
            <a:r>
              <a:rPr lang="es-ES" sz="2000" dirty="0"/>
              <a:t> La VLAN 1 se utiliza para tráfico no etiquetado en una VLAN.</a:t>
            </a:r>
          </a:p>
          <a:p>
            <a:r>
              <a:rPr lang="es-ES" sz="2000" b="1" dirty="0"/>
              <a:t>VLAN administrativa:</a:t>
            </a:r>
            <a:r>
              <a:rPr lang="es-ES" sz="2000" dirty="0"/>
              <a:t> Se utiliza para acceder a las capacidades de administración</a:t>
            </a: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BCC3C72A-BB40-4D14-B3D2-56FED7F1AE5D}"/>
              </a:ext>
            </a:extLst>
          </p:cNvPr>
          <p:cNvSpPr txBox="1">
            <a:spLocks/>
          </p:cNvSpPr>
          <p:nvPr/>
        </p:nvSpPr>
        <p:spPr bwMode="auto">
          <a:xfrm>
            <a:off x="931118" y="4345123"/>
            <a:ext cx="7062812" cy="148638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  <a:spAutoFit/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algn="ctr">
              <a:buNone/>
            </a:pPr>
            <a:r>
              <a:rPr lang="es-ES" sz="3200" kern="0" dirty="0"/>
              <a:t>La</a:t>
            </a:r>
            <a:r>
              <a:rPr lang="es-ES" sz="3200" b="1" kern="0" dirty="0"/>
              <a:t> </a:t>
            </a:r>
            <a:r>
              <a:rPr lang="es-ES" sz="3200" b="1" kern="0" dirty="0">
                <a:solidFill>
                  <a:srgbClr val="FF0000"/>
                </a:solidFill>
              </a:rPr>
              <a:t>VLAN 1</a:t>
            </a:r>
            <a:r>
              <a:rPr lang="es-ES" sz="3200" b="1" kern="0" dirty="0"/>
              <a:t> </a:t>
            </a:r>
            <a:r>
              <a:rPr lang="es-ES" sz="3200" kern="0" dirty="0"/>
              <a:t>es por default la VLAN </a:t>
            </a:r>
            <a:r>
              <a:rPr lang="es-ES" sz="3200" b="1" kern="0" dirty="0"/>
              <a:t>administrativa</a:t>
            </a:r>
            <a:r>
              <a:rPr lang="es-ES" sz="3200" kern="0" dirty="0"/>
              <a:t>, la VLAN</a:t>
            </a:r>
            <a:r>
              <a:rPr lang="es-ES" sz="3200" b="1" kern="0" dirty="0"/>
              <a:t> nativa</a:t>
            </a:r>
            <a:r>
              <a:rPr lang="es-ES" sz="3200" kern="0" dirty="0"/>
              <a:t> y la VLAN por</a:t>
            </a:r>
            <a:r>
              <a:rPr lang="es-ES" sz="3200" b="1" kern="0" dirty="0"/>
              <a:t> default.</a:t>
            </a:r>
            <a:endParaRPr lang="es-ES" sz="3200" kern="0" dirty="0"/>
          </a:p>
        </p:txBody>
      </p:sp>
    </p:spTree>
    <p:extLst>
      <p:ext uri="{BB962C8B-B14F-4D97-AF65-F5344CB8AC3E}">
        <p14:creationId xmlns:p14="http://schemas.microsoft.com/office/powerpoint/2010/main" val="4189905792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43592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/>
              <a:t>Tipos de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490236" y="1353060"/>
            <a:ext cx="6443138" cy="4971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4388934"/>
      </p:ext>
    </p:extLst>
  </p:cSld>
  <p:clrMapOvr>
    <a:masterClrMapping/>
  </p:clrMapOvr>
  <p:transition spd="med">
    <p:wipe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343592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/>
              <a:t>Redes VLAN de voz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888793" y="1400174"/>
            <a:ext cx="7260344" cy="5257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97386598"/>
      </p:ext>
    </p:extLst>
  </p:cSld>
  <p:clrMapOvr>
    <a:masterClrMapping/>
  </p:clrMapOvr>
  <p:transition spd="med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Redes VLAN</a:t>
            </a:r>
            <a:r>
              <a:rPr lang="en-US" sz="1800" dirty="0"/>
              <a:t>
</a:t>
            </a:r>
            <a:r>
              <a:rPr lang="es-ES" dirty="0"/>
              <a:t>Enlaces troncales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203960" y="5593079"/>
            <a:ext cx="7238999" cy="78465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s-ES" sz="1600" dirty="0"/>
              <a:t>Los enlaces entre los switches S1 y S2, y entre S1 y S3, se configuraron para transmitir tráfico proveniente de las redes VLAN 10, 20, 30 y 99 a través de la red. Esta red no podría funcionar sin los enlaces troncales de VLAN.</a:t>
            </a: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547737" y="1247301"/>
            <a:ext cx="5907989" cy="411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4825791"/>
      </p:ext>
    </p:extLst>
  </p:cSld>
  <p:clrMapOvr>
    <a:masterClrMapping/>
  </p:clrMapOvr>
  <p:transition spd="med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Redes VLAN</a:t>
            </a:r>
            <a:r>
              <a:rPr lang="en-US" sz="1800" dirty="0"/>
              <a:t>
</a:t>
            </a:r>
            <a:r>
              <a:rPr lang="es-ES" dirty="0"/>
              <a:t>Enlaces troncales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110" y="1374000"/>
            <a:ext cx="8752915" cy="1406363"/>
          </a:xfrm>
        </p:spPr>
        <p:txBody>
          <a:bodyPr>
            <a:spAutoFit/>
          </a:bodyPr>
          <a:lstStyle/>
          <a:p>
            <a:r>
              <a:rPr lang="es-ES" sz="2000" dirty="0"/>
              <a:t>Un enlace </a:t>
            </a:r>
            <a:r>
              <a:rPr lang="es-ES" sz="2000" b="1" dirty="0"/>
              <a:t>troncal</a:t>
            </a:r>
            <a:r>
              <a:rPr lang="es-ES" sz="2000" dirty="0"/>
              <a:t> es un enlace </a:t>
            </a:r>
            <a:r>
              <a:rPr lang="es-ES" sz="2000" b="1" dirty="0"/>
              <a:t>que transporta los datos de todas las VLANs</a:t>
            </a:r>
            <a:r>
              <a:rPr lang="es-ES" sz="2000" dirty="0"/>
              <a:t> de la red local.</a:t>
            </a:r>
          </a:p>
          <a:p>
            <a:r>
              <a:rPr lang="es-ES" sz="2000" dirty="0"/>
              <a:t>Generalmente, se </a:t>
            </a:r>
            <a:r>
              <a:rPr lang="es-ES" sz="2000" b="1" dirty="0"/>
              <a:t>establece</a:t>
            </a:r>
            <a:r>
              <a:rPr lang="es-ES" sz="2000" dirty="0"/>
              <a:t> entre </a:t>
            </a:r>
            <a:r>
              <a:rPr lang="es-ES" sz="2000" b="1" dirty="0"/>
              <a:t>switches</a:t>
            </a:r>
            <a:r>
              <a:rPr lang="es-ES" sz="2000" dirty="0"/>
              <a:t> para que los dispositivos de una misma red VLAN se puedan comunicar.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3E22109-64E4-46F1-A8CE-8FAC0AFA7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1" y="3680461"/>
            <a:ext cx="5248275" cy="2324100"/>
          </a:xfrm>
          <a:prstGeom prst="rect">
            <a:avLst/>
          </a:prstGeom>
        </p:spPr>
      </p:pic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AE79DB0-D945-494F-928C-97084F32A9E6}"/>
              </a:ext>
            </a:extLst>
          </p:cNvPr>
          <p:cNvSpPr txBox="1">
            <a:spLocks/>
          </p:cNvSpPr>
          <p:nvPr/>
        </p:nvSpPr>
        <p:spPr bwMode="auto">
          <a:xfrm>
            <a:off x="231574" y="2935602"/>
            <a:ext cx="7480667" cy="375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  <a:spAutoFit/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s-ES" sz="2000" kern="0" dirty="0"/>
              <a:t>Un enlace </a:t>
            </a:r>
            <a:r>
              <a:rPr lang="es-ES" sz="2000" b="1" kern="0" dirty="0"/>
              <a:t>troncal</a:t>
            </a:r>
            <a:r>
              <a:rPr lang="es-ES" sz="2000" kern="0" dirty="0"/>
              <a:t> </a:t>
            </a:r>
            <a:r>
              <a:rPr lang="es-ES" sz="2000" b="1" kern="0" dirty="0"/>
              <a:t>no está asociado a ninguna red VLAN</a:t>
            </a:r>
            <a:r>
              <a:rPr lang="es-ES" sz="2000" kern="0" dirty="0"/>
              <a:t>.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C743F6A-41A2-866C-F6CC-9F3B2F056F68}"/>
              </a:ext>
            </a:extLst>
          </p:cNvPr>
          <p:cNvSpPr txBox="1">
            <a:spLocks/>
          </p:cNvSpPr>
          <p:nvPr/>
        </p:nvSpPr>
        <p:spPr bwMode="auto">
          <a:xfrm>
            <a:off x="213111" y="3489152"/>
            <a:ext cx="3059478" cy="27067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  <a:spAutoFit/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s-ES" sz="20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Si queremos que se de el tráfico entre VLANs se deben habilitar los puertos troncales.</a:t>
            </a:r>
          </a:p>
          <a:p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Comunicar VLANs distintas no va a poder ocurrir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ya que el switch no es capa 3 y no puede rutear.</a:t>
            </a:r>
            <a:endParaRPr lang="es-ES" sz="2000" kern="0" dirty="0"/>
          </a:p>
        </p:txBody>
      </p:sp>
    </p:spTree>
    <p:extLst>
      <p:ext uri="{BB962C8B-B14F-4D97-AF65-F5344CB8AC3E}">
        <p14:creationId xmlns:p14="http://schemas.microsoft.com/office/powerpoint/2010/main" val="624581686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02577" y="393251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sz="2800" dirty="0"/>
              <a:t>Las VLANs controlan los dominios de broadcast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95050" y="1660661"/>
            <a:ext cx="7402205" cy="375312"/>
          </a:xfr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" sz="2000" dirty="0"/>
              <a:t>Una </a:t>
            </a:r>
            <a:r>
              <a:rPr lang="es-ES" sz="2000" b="1" dirty="0"/>
              <a:t>VLAN</a:t>
            </a:r>
            <a:r>
              <a:rPr lang="es-ES" sz="2000" dirty="0"/>
              <a:t> es un </a:t>
            </a:r>
            <a:r>
              <a:rPr lang="es-ES" sz="2000" b="1" dirty="0"/>
              <a:t>dominio de broadcast </a:t>
            </a:r>
            <a:r>
              <a:rPr lang="es-ES" sz="2000" dirty="0"/>
              <a:t>por si mismo.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D5117BD-D8FB-476B-9476-CDCAACBE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675" y="3645290"/>
            <a:ext cx="5868649" cy="2598821"/>
          </a:xfrm>
          <a:prstGeom prst="rect">
            <a:avLst/>
          </a:prstGeom>
        </p:spPr>
      </p:pic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BE5210BD-0403-49B7-B32D-2D5C5801C130}"/>
              </a:ext>
            </a:extLst>
          </p:cNvPr>
          <p:cNvSpPr txBox="1">
            <a:spLocks/>
          </p:cNvSpPr>
          <p:nvPr/>
        </p:nvSpPr>
        <p:spPr bwMode="auto">
          <a:xfrm>
            <a:off x="524221" y="2311101"/>
            <a:ext cx="7794420" cy="90161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  <a:spAutoFit/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algn="ctr">
              <a:buNone/>
            </a:pPr>
            <a:r>
              <a:rPr lang="es-ES" sz="2800" kern="0" dirty="0"/>
              <a:t>Cada</a:t>
            </a:r>
            <a:r>
              <a:rPr lang="es-ES" sz="2800" b="1" kern="0" dirty="0"/>
              <a:t> </a:t>
            </a:r>
            <a:r>
              <a:rPr lang="es-ES" sz="2800" b="1" kern="0" dirty="0">
                <a:solidFill>
                  <a:srgbClr val="FF0000"/>
                </a:solidFill>
              </a:rPr>
              <a:t>VLAN </a:t>
            </a:r>
            <a:r>
              <a:rPr lang="es-ES" sz="2800" kern="0" dirty="0"/>
              <a:t>está asociada a una </a:t>
            </a:r>
            <a:r>
              <a:rPr lang="es-ES" sz="2800" b="1" kern="0" dirty="0">
                <a:solidFill>
                  <a:srgbClr val="FF0000"/>
                </a:solidFill>
              </a:rPr>
              <a:t>subred</a:t>
            </a:r>
            <a:r>
              <a:rPr lang="es-ES" sz="2800" kern="0" dirty="0">
                <a:solidFill>
                  <a:srgbClr val="FF0000"/>
                </a:solidFill>
              </a:rPr>
              <a:t> </a:t>
            </a:r>
            <a:r>
              <a:rPr lang="es-ES" sz="2800" kern="0" dirty="0"/>
              <a:t>(dominio de broadcast)</a:t>
            </a:r>
          </a:p>
        </p:txBody>
      </p:sp>
    </p:spTree>
    <p:extLst>
      <p:ext uri="{BB962C8B-B14F-4D97-AF65-F5344CB8AC3E}">
        <p14:creationId xmlns:p14="http://schemas.microsoft.com/office/powerpoint/2010/main" val="4229569453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/>
            <a:r>
              <a:rPr lang="es-ES" dirty="0"/>
              <a:t>Tipos de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58278" y="1470259"/>
            <a:ext cx="8052585" cy="2109120"/>
          </a:xfrm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Existen tres tipos de puertos en un switch:</a:t>
            </a:r>
            <a:endParaRPr lang="es-MX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Puertos de datos o acceso</a:t>
            </a:r>
            <a:endParaRPr lang="es-MX" sz="1800" b="1" dirty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Puertos de telefonía</a:t>
            </a:r>
          </a:p>
          <a:p>
            <a:pPr marL="3429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Puertos troncales</a:t>
            </a:r>
            <a:r>
              <a:rPr lang="es-ES" sz="1800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Transporta tanto 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datos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como 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telefonía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al siguiente switch o al siguiente router.</a:t>
            </a:r>
            <a:endParaRPr lang="es-ES"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58C18DD-7AE7-BBB9-E883-219D5210E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448" y="3817046"/>
            <a:ext cx="5698510" cy="252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274136"/>
      </p:ext>
    </p:extLst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51620" y="186080"/>
            <a:ext cx="8772157" cy="975360"/>
          </a:xfrm>
        </p:spPr>
        <p:txBody>
          <a:bodyPr/>
          <a:lstStyle/>
          <a:p>
            <a:pPr algn="ctr" eaLnBrk="1" hangingPunct="1"/>
            <a:r>
              <a:rPr lang="es-ES" sz="2800" dirty="0"/>
              <a:t>Base de datos de las VLANs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410465" y="1383975"/>
            <a:ext cx="8323070" cy="311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983740" y="4311378"/>
            <a:ext cx="4620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" sz="2000" dirty="0"/>
              <a:t>Situación 1: PC 1 envía un broadcast.</a:t>
            </a:r>
          </a:p>
          <a:p>
            <a:pPr algn="l"/>
            <a:r>
              <a:rPr lang="es-ES" sz="2000" dirty="0"/>
              <a:t>Situación 2: PC 2 envía un broadcast.</a:t>
            </a:r>
          </a:p>
          <a:p>
            <a:pPr algn="l"/>
            <a:r>
              <a:rPr lang="es-ES" sz="2000" dirty="0"/>
              <a:t>Situación 3: PC 3 envía un broadcast.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1DCECF0C-0CED-44D0-B731-E61D6A86B69F}"/>
              </a:ext>
            </a:extLst>
          </p:cNvPr>
          <p:cNvSpPr txBox="1"/>
          <p:nvPr/>
        </p:nvSpPr>
        <p:spPr>
          <a:xfrm>
            <a:off x="1158848" y="5430841"/>
            <a:ext cx="6951980" cy="10895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s-ES" b="1" dirty="0"/>
              <a:t>La base de datos en todos los switches debe ser la misma; de lo contrario, no hay comunicación.</a:t>
            </a:r>
          </a:p>
        </p:txBody>
      </p:sp>
    </p:spTree>
    <p:extLst>
      <p:ext uri="{BB962C8B-B14F-4D97-AF65-F5344CB8AC3E}">
        <p14:creationId xmlns:p14="http://schemas.microsoft.com/office/powerpoint/2010/main" val="704383132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339725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Implementaciones de VLAN</a:t>
            </a:r>
            <a:endParaRPr lang="es-ES" sz="2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5692449"/>
      </p:ext>
    </p:extLst>
  </p:cSld>
  <p:clrMapOvr>
    <a:masterClrMapping/>
  </p:clrMapOvr>
  <p:transition>
    <p:wipe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93868" y="538775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dirty="0"/>
              <a:t>Rangos de VLAN en switches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4073" y="1806462"/>
            <a:ext cx="7766326" cy="2934474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ES" sz="1800" dirty="0"/>
              <a:t>Las redes VLAN se dividen en dos categorías:</a:t>
            </a:r>
          </a:p>
          <a:p>
            <a:pPr marL="579438" indent="-342900"/>
            <a:r>
              <a:rPr lang="es-ES" sz="2200" b="1" dirty="0"/>
              <a:t>VLAN de rango normal</a:t>
            </a:r>
          </a:p>
          <a:p>
            <a:pPr marL="682625" lvl="1" indent="-342900"/>
            <a:r>
              <a:rPr lang="es-ES" sz="1800" dirty="0"/>
              <a:t>Números de VLAN de</a:t>
            </a:r>
            <a:r>
              <a:rPr lang="es-ES" sz="1800" b="1" dirty="0"/>
              <a:t> 1</a:t>
            </a:r>
            <a:r>
              <a:rPr lang="es-ES" sz="1800" dirty="0"/>
              <a:t> a </a:t>
            </a:r>
            <a:r>
              <a:rPr lang="es-ES" sz="1800" b="1" dirty="0"/>
              <a:t>1005</a:t>
            </a:r>
            <a:r>
              <a:rPr lang="es-ES" sz="1800" dirty="0"/>
              <a:t>.</a:t>
            </a:r>
          </a:p>
          <a:p>
            <a:pPr marL="682625" lvl="1" indent="-342900"/>
            <a:r>
              <a:rPr lang="es-ES" sz="1800" dirty="0"/>
              <a:t>Las ID de </a:t>
            </a:r>
            <a:r>
              <a:rPr lang="es-ES" sz="1800" b="1" dirty="0"/>
              <a:t>1002 a 1005 </a:t>
            </a:r>
            <a:r>
              <a:rPr lang="es-ES" sz="1800" dirty="0"/>
              <a:t>se reservan para las redes VLAN de </a:t>
            </a:r>
            <a:r>
              <a:rPr lang="es-ES" sz="1800" b="1" dirty="0"/>
              <a:t>Token Ring </a:t>
            </a:r>
            <a:r>
              <a:rPr lang="es-ES" sz="1800" dirty="0"/>
              <a:t>e </a:t>
            </a:r>
            <a:r>
              <a:rPr lang="es-ES" sz="1800" b="1" dirty="0"/>
              <a:t>Interfaz de datos distribuidos por fibra óptica (FDDI)</a:t>
            </a:r>
            <a:r>
              <a:rPr lang="es-ES" sz="1800" dirty="0"/>
              <a:t>, se crean automáticamente y no se pueden eliminar.</a:t>
            </a:r>
          </a:p>
          <a:p>
            <a:pPr marL="579438" indent="-342900"/>
            <a:r>
              <a:rPr lang="es-ES" sz="2200" b="1" dirty="0"/>
              <a:t>VLAN de rango extendido</a:t>
            </a:r>
          </a:p>
          <a:p>
            <a:pPr marL="682625" lvl="1" indent="-342900"/>
            <a:r>
              <a:rPr lang="es-ES" sz="1800" dirty="0"/>
              <a:t>Números de VLAN de </a:t>
            </a:r>
            <a:r>
              <a:rPr lang="es-ES" sz="1800" b="1" dirty="0"/>
              <a:t>1006 a 4096</a:t>
            </a:r>
            <a:r>
              <a:rPr lang="es-E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1771591"/>
      </p:ext>
    </p:extLst>
  </p:cSld>
  <p:clrMapOvr>
    <a:masterClrMapping/>
  </p:clrMapOvr>
  <p:transition spd="med">
    <p:wipe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93868" y="394392"/>
            <a:ext cx="8697469" cy="838200"/>
          </a:xfrm>
        </p:spPr>
        <p:txBody>
          <a:bodyPr/>
          <a:lstStyle/>
          <a:p>
            <a:pPr algn="ctr" eaLnBrk="1" hangingPunct="1"/>
            <a:r>
              <a:rPr lang="es-ES" dirty="0"/>
              <a:t>Creación de una 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331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 bwMode="auto">
          <a:xfrm>
            <a:off x="2016537" y="1452270"/>
            <a:ext cx="5110926" cy="1819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5" name="Picture 3"/>
          <p:cNvPicPr>
            <a:picLocks noChangeAspect="1" noChangeArrowheads="1"/>
          </p:cNvPicPr>
          <p:nvPr/>
        </p:nvPicPr>
        <p:blipFill>
          <a:blip r:embed="rId4" cstate="print"/>
          <a:stretch>
            <a:fillRect/>
          </a:stretch>
        </p:blipFill>
        <p:spPr bwMode="auto">
          <a:xfrm>
            <a:off x="2197012" y="3152268"/>
            <a:ext cx="4853369" cy="33308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143955"/>
      </p:ext>
    </p:extLst>
  </p:cSld>
  <p:clrMapOvr>
    <a:masterClrMapping/>
  </p:clrMapOvr>
  <p:transition spd="med">
    <p:wipe dir="r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/>
            <a:r>
              <a:rPr lang="es-ES" dirty="0"/>
              <a:t>Asignación de puertos a las VLANs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05740" y="1286509"/>
            <a:ext cx="4994910" cy="33248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4" cstate="print"/>
          <a:stretch>
            <a:fillRect/>
          </a:stretch>
        </p:blipFill>
        <p:spPr bwMode="auto">
          <a:xfrm>
            <a:off x="4572192" y="3789045"/>
            <a:ext cx="4095365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04426902"/>
      </p:ext>
    </p:extLst>
  </p:cSld>
  <p:clrMapOvr>
    <a:masterClrMapping/>
  </p:clrMapOvr>
  <p:transition spd="med">
    <p:wipe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33708" y="394392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dirty="0"/>
              <a:t>Asignación de puertos a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84708" y="1567036"/>
            <a:ext cx="7390476" cy="463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9875"/>
      </p:ext>
    </p:extLst>
  </p:cSld>
  <p:clrMapOvr>
    <a:masterClrMapping/>
  </p:clrMapOvr>
  <p:transition spd="med">
    <p:wipe dir="r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635026"/>
            <a:ext cx="8772157" cy="838200"/>
          </a:xfrm>
        </p:spPr>
        <p:txBody>
          <a:bodyPr/>
          <a:lstStyle/>
          <a:p>
            <a:pPr algn="ctr" eaLnBrk="1" hangingPunct="1"/>
            <a:r>
              <a:rPr lang="es-ES" dirty="0"/>
              <a:t>Asignación de puertos a redes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19CA17B-C511-480E-9D40-40BDE1D9B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875" y="1963903"/>
            <a:ext cx="5505450" cy="364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0347"/>
      </p:ext>
    </p:extLst>
  </p:cSld>
  <p:clrMapOvr>
    <a:masterClrMapping/>
  </p:clrMapOvr>
  <p:transition spd="med">
    <p:wipe dir="r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93869" y="394392"/>
            <a:ext cx="8541058" cy="834331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dirty="0"/>
              <a:t>Verificar la información de una red VLAN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966478" y="1228723"/>
            <a:ext cx="5317724" cy="5491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6029793"/>
      </p:ext>
    </p:extLst>
  </p:cSld>
  <p:clrMapOvr>
    <a:masterClrMapping/>
  </p:clrMapOvr>
  <p:transition spd="med">
    <p:wipe dir="r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57772" y="250008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dirty="0"/>
              <a:t>Configurar enlaces troncales IEEE 802.1q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141952" y="1181893"/>
            <a:ext cx="6677213" cy="4229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484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9550" y="5230223"/>
            <a:ext cx="5229225" cy="149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14380033"/>
      </p:ext>
    </p:extLst>
  </p:cSld>
  <p:clrMapOvr>
    <a:masterClrMapping/>
  </p:clrMapOvr>
  <p:transition spd="med">
    <p:wipe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93868" y="358296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dirty="0"/>
              <a:t>Configurar enlaces troncales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14AB9BC-A6E6-4023-BCAD-BD9339A90A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93868" y="1407322"/>
            <a:ext cx="5339389" cy="5056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699804B-0A3D-426C-AD7F-A2886A0FF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78" y="4397595"/>
            <a:ext cx="4056554" cy="176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584402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45739" y="771559"/>
            <a:ext cx="8840802" cy="838200"/>
          </a:xfrm>
        </p:spPr>
        <p:txBody>
          <a:bodyPr/>
          <a:lstStyle/>
          <a:p>
            <a:pPr algn="ctr" eaLnBrk="1" hangingPunct="1"/>
            <a:r>
              <a:rPr lang="es-ES" dirty="0"/>
              <a:t>Pasos para configurar VLANs en los switches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6C583D6-E51B-15AE-002F-9F07AD80FD88}"/>
              </a:ext>
            </a:extLst>
          </p:cNvPr>
          <p:cNvSpPr txBox="1"/>
          <p:nvPr/>
        </p:nvSpPr>
        <p:spPr>
          <a:xfrm>
            <a:off x="266059" y="2239373"/>
            <a:ext cx="4259593" cy="3411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Crear la base de datos de VLANs:</a:t>
            </a:r>
            <a:r>
              <a:rPr lang="es-ES" sz="1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vlan y name</a:t>
            </a:r>
            <a:endParaRPr lang="es-MX" sz="18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Definir el tipo de puerto:</a:t>
            </a:r>
            <a:r>
              <a:rPr lang="es-ES" sz="1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acceso, troncal o de telefonía.</a:t>
            </a:r>
            <a:endParaRPr lang="es-MX" sz="18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Asociar los puertos a </a:t>
            </a:r>
            <a:r>
              <a:rPr lang="es-ES" sz="1800" b="1" dirty="0">
                <a:solidFill>
                  <a:srgbClr val="FF0000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las</a:t>
            </a:r>
            <a:r>
              <a:rPr lang="es-ES" sz="1800" b="1" dirty="0">
                <a:solidFill>
                  <a:srgbClr val="FF0000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VLANs</a:t>
            </a:r>
            <a:endParaRPr lang="es-MX" sz="1800" dirty="0">
              <a:solidFill>
                <a:srgbClr val="FF0000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ES" sz="1800" b="1" dirty="0">
                <a:solidFill>
                  <a:srgbClr val="FF0000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Identificar el puerto troncal</a:t>
            </a:r>
            <a:r>
              <a:rPr lang="es-ES" sz="1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sz="1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y programarlo.</a:t>
            </a:r>
            <a:endParaRPr lang="es-MX" sz="18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87C071-A696-3FAB-2FE4-681449D4F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4614268" y="1758104"/>
            <a:ext cx="4477523" cy="4240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37027270"/>
      </p:ext>
    </p:extLst>
  </p:cSld>
  <p:clrMapOvr>
    <a:masterClrMapping/>
  </p:clrMapOvr>
  <p:transition spd="med">
    <p:wipe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421005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Ruteo entre redes VLAN con routers</a:t>
            </a:r>
            <a:endParaRPr lang="es-ES" sz="2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013060"/>
      </p:ext>
    </p:extLst>
  </p:cSld>
  <p:clrMapOvr>
    <a:masterClrMapping/>
  </p:clrMapOvr>
  <p:transition>
    <p:wipe dir="r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3751006" y="2829290"/>
            <a:ext cx="5189265" cy="401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58733" y="490643"/>
            <a:ext cx="8772157" cy="838200"/>
          </a:xfrm>
        </p:spPr>
        <p:txBody>
          <a:bodyPr/>
          <a:lstStyle/>
          <a:p>
            <a:pPr algn="ctr" eaLnBrk="1" hangingPunct="1"/>
            <a:r>
              <a:rPr lang="es-MX" dirty="0">
                <a:latin typeface="Arial" charset="0"/>
              </a:rPr>
              <a:t>¿Qué es el ruteo entre </a:t>
            </a:r>
            <a:r>
              <a:rPr lang="es-MX" dirty="0" err="1">
                <a:latin typeface="Arial" charset="0"/>
              </a:rPr>
              <a:t>VLANs</a:t>
            </a:r>
            <a:r>
              <a:rPr lang="es-MX" dirty="0">
                <a:latin typeface="Arial" charset="0"/>
              </a:rPr>
              <a:t>?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52727" y="1651440"/>
            <a:ext cx="7942042" cy="949251"/>
          </a:xfr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ES" sz="2000" dirty="0"/>
              <a:t>Los </a:t>
            </a:r>
            <a:r>
              <a:rPr lang="es-ES" sz="2000" b="1" dirty="0"/>
              <a:t>switches de capa 2 no pueden reenviar tráfico entre VLANs </a:t>
            </a:r>
            <a:r>
              <a:rPr lang="es-ES" sz="2000" dirty="0"/>
              <a:t>sin la ayuda de un router. </a:t>
            </a:r>
            <a:endParaRPr lang="es-ES" sz="2000" b="1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BAF48180-DB01-7AD4-0165-78D94DB01203}"/>
              </a:ext>
            </a:extLst>
          </p:cNvPr>
          <p:cNvSpPr txBox="1">
            <a:spLocks/>
          </p:cNvSpPr>
          <p:nvPr/>
        </p:nvSpPr>
        <p:spPr bwMode="auto">
          <a:xfrm>
            <a:off x="508243" y="2787702"/>
            <a:ext cx="3062284" cy="27959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  <a:spAutoFit/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2000" kern="0" dirty="0"/>
              <a:t>El </a:t>
            </a:r>
            <a:r>
              <a:rPr lang="es-ES" sz="2000" b="1" kern="0" dirty="0"/>
              <a:t>ruteo entre VLANs</a:t>
            </a:r>
            <a:r>
              <a:rPr lang="es-ES" sz="2000" kern="0" dirty="0"/>
              <a:t> es un proceso para </a:t>
            </a:r>
            <a:r>
              <a:rPr lang="es-ES" sz="2000" b="1" kern="0" dirty="0"/>
              <a:t>reenviar tráfico de red</a:t>
            </a:r>
            <a:r>
              <a:rPr lang="es-ES" sz="2000" kern="0" dirty="0"/>
              <a:t> de una </a:t>
            </a:r>
            <a:r>
              <a:rPr lang="es-ES" sz="2000" b="1" kern="0" dirty="0"/>
              <a:t>VLAN</a:t>
            </a:r>
            <a:r>
              <a:rPr lang="es-ES" sz="2000" kern="0" dirty="0"/>
              <a:t> a </a:t>
            </a:r>
            <a:r>
              <a:rPr lang="es-ES" sz="2000" b="1" kern="0" dirty="0"/>
              <a:t>otra</a:t>
            </a:r>
            <a:r>
              <a:rPr lang="es-ES" sz="2000" kern="0" dirty="0"/>
              <a:t> </a:t>
            </a:r>
            <a:r>
              <a:rPr lang="es-ES" sz="2000" u="sng" kern="0" dirty="0"/>
              <a:t>mediante un router.</a:t>
            </a:r>
            <a:endParaRPr lang="es-ES" sz="2000" b="1" kern="0" dirty="0"/>
          </a:p>
        </p:txBody>
      </p:sp>
    </p:spTree>
    <p:extLst>
      <p:ext uri="{BB962C8B-B14F-4D97-AF65-F5344CB8AC3E}">
        <p14:creationId xmlns:p14="http://schemas.microsoft.com/office/powerpoint/2010/main" val="503958385"/>
      </p:ext>
    </p:extLst>
  </p:cSld>
  <p:clrMapOvr>
    <a:masterClrMapping/>
  </p:clrMapOvr>
  <p:transition spd="med">
    <p:wipe dir="r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74626" y="224709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sz="2800" dirty="0">
                <a:latin typeface="Arial" charset="0"/>
              </a:rPr>
              <a:t>Ruteo entre VLANs con router-on-a-stick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5788" y="3659502"/>
            <a:ext cx="2519481" cy="1924967"/>
          </a:xfrm>
        </p:spPr>
        <p:txBody>
          <a:bodyPr wrap="square">
            <a:spAutoFit/>
          </a:bodyPr>
          <a:lstStyle/>
          <a:p>
            <a:r>
              <a:rPr lang="es-ES" sz="1800" dirty="0"/>
              <a:t>Los </a:t>
            </a:r>
            <a:r>
              <a:rPr lang="es-ES" sz="1800" b="1" dirty="0"/>
              <a:t>miembros de las VLAN</a:t>
            </a:r>
            <a:r>
              <a:rPr lang="es-ES" sz="1800" dirty="0"/>
              <a:t> (hosts) se configuran para utilizar la </a:t>
            </a:r>
            <a:r>
              <a:rPr lang="es-ES" sz="1800" b="1" dirty="0"/>
              <a:t>dirección de subinterfaz</a:t>
            </a:r>
            <a:r>
              <a:rPr lang="es-ES" sz="1800" dirty="0"/>
              <a:t> como </a:t>
            </a:r>
            <a:r>
              <a:rPr lang="es-ES" sz="1800" b="1" dirty="0"/>
              <a:t>default gateway</a:t>
            </a:r>
            <a:r>
              <a:rPr lang="es-ES" sz="1800" dirty="0"/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F90873-5935-495E-B09D-7C5560CDB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044" y="3402786"/>
            <a:ext cx="6173968" cy="3281440"/>
          </a:xfrm>
          <a:prstGeom prst="rect">
            <a:avLst/>
          </a:prstGeom>
        </p:spPr>
      </p:pic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1DE12C1-9BBB-4892-B394-8CB2C2E22B23}"/>
              </a:ext>
            </a:extLst>
          </p:cNvPr>
          <p:cNvSpPr txBox="1">
            <a:spLocks/>
          </p:cNvSpPr>
          <p:nvPr/>
        </p:nvSpPr>
        <p:spPr bwMode="auto">
          <a:xfrm>
            <a:off x="165788" y="1235726"/>
            <a:ext cx="8752915" cy="2340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  <a:spAutoFit/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s-ES" sz="1800" kern="0" dirty="0"/>
              <a:t>El concepto de </a:t>
            </a:r>
            <a:r>
              <a:rPr lang="es-ES" sz="1800" b="1" kern="0" dirty="0"/>
              <a:t>router-on-a-stick</a:t>
            </a:r>
            <a:r>
              <a:rPr lang="es-ES" sz="1800" kern="0" dirty="0"/>
              <a:t> utiliza </a:t>
            </a:r>
            <a:r>
              <a:rPr lang="es-ES" sz="1800" b="1" kern="0" dirty="0"/>
              <a:t>solo una</a:t>
            </a:r>
            <a:r>
              <a:rPr lang="es-ES" sz="1800" kern="0" dirty="0"/>
              <a:t> de las </a:t>
            </a:r>
            <a:r>
              <a:rPr lang="es-ES" sz="1800" b="1" kern="0" dirty="0"/>
              <a:t>interfaces físicas del router</a:t>
            </a:r>
            <a:r>
              <a:rPr lang="es-ES" sz="1800" kern="0" dirty="0"/>
              <a:t>.</a:t>
            </a:r>
          </a:p>
          <a:p>
            <a:r>
              <a:rPr lang="es-ES" sz="1800" kern="0" dirty="0"/>
              <a:t>Una de las interfaces físicas del router (ejemplo: g0/0) se </a:t>
            </a:r>
            <a:r>
              <a:rPr lang="es-ES" sz="1800" b="1" kern="0" dirty="0"/>
              <a:t>configura como un puerto troncal </a:t>
            </a:r>
            <a:r>
              <a:rPr lang="es-ES" sz="1800" kern="0" dirty="0"/>
              <a:t>para que pueda comprender las etiquetas de las VLANs.</a:t>
            </a:r>
          </a:p>
          <a:p>
            <a:r>
              <a:rPr lang="es-ES" sz="1800" kern="0" dirty="0"/>
              <a:t>Se crean </a:t>
            </a:r>
            <a:r>
              <a:rPr lang="es-ES" sz="1800" b="1" kern="0" dirty="0"/>
              <a:t>subinterfaces</a:t>
            </a:r>
            <a:r>
              <a:rPr lang="es-ES" sz="1800" kern="0" dirty="0"/>
              <a:t> </a:t>
            </a:r>
            <a:r>
              <a:rPr lang="es-ES" sz="1800" b="1" kern="0" dirty="0"/>
              <a:t>lógicas</a:t>
            </a:r>
            <a:r>
              <a:rPr lang="es-ES" sz="1800" kern="0" dirty="0"/>
              <a:t>, </a:t>
            </a:r>
            <a:r>
              <a:rPr lang="es-ES" sz="1800" b="1" kern="0" dirty="0"/>
              <a:t>una por cada VLAN</a:t>
            </a:r>
            <a:r>
              <a:rPr lang="es-ES" sz="1800" kern="0" dirty="0"/>
              <a:t>.</a:t>
            </a:r>
          </a:p>
          <a:p>
            <a:r>
              <a:rPr lang="es-ES" sz="1800" kern="0" dirty="0"/>
              <a:t>Cada </a:t>
            </a:r>
            <a:r>
              <a:rPr lang="es-ES" sz="1800" b="1" kern="0" dirty="0"/>
              <a:t>subinterfaz</a:t>
            </a:r>
            <a:r>
              <a:rPr lang="es-ES" sz="1800" kern="0" dirty="0"/>
              <a:t> se </a:t>
            </a:r>
            <a:r>
              <a:rPr lang="es-ES" sz="1800" b="1" kern="0" dirty="0"/>
              <a:t>configura</a:t>
            </a:r>
            <a:r>
              <a:rPr lang="es-ES" sz="1800" kern="0" dirty="0"/>
              <a:t> con una </a:t>
            </a:r>
            <a:r>
              <a:rPr lang="es-ES" sz="1800" b="1" kern="0" dirty="0"/>
              <a:t>dirección IP proveniente de la VLAN</a:t>
            </a:r>
            <a:r>
              <a:rPr lang="es-ES" sz="1800" kern="0" dirty="0"/>
              <a:t> que representa.</a:t>
            </a:r>
          </a:p>
        </p:txBody>
      </p:sp>
    </p:spTree>
    <p:extLst>
      <p:ext uri="{BB962C8B-B14F-4D97-AF65-F5344CB8AC3E}">
        <p14:creationId xmlns:p14="http://schemas.microsoft.com/office/powerpoint/2010/main" val="802054690"/>
      </p:ext>
    </p:extLst>
  </p:cSld>
  <p:clrMapOvr>
    <a:masterClrMapping/>
  </p:clrMapOvr>
  <p:transition spd="med">
    <p:wipe dir="r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0"/>
            <a:ext cx="8772157" cy="1232592"/>
          </a:xfrm>
        </p:spPr>
        <p:txBody>
          <a:bodyPr/>
          <a:lstStyle/>
          <a:p>
            <a:pPr algn="ctr" eaLnBrk="1" hangingPunct="1"/>
            <a:r>
              <a:rPr lang="es-ES" dirty="0">
                <a:latin typeface="Arial" charset="0"/>
              </a:rPr>
              <a:t>Configurar router-on-a-stick: Switch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43010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351455" y="1684712"/>
            <a:ext cx="6177807" cy="4721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17411865"/>
      </p:ext>
    </p:extLst>
  </p:cSld>
  <p:clrMapOvr>
    <a:masterClrMapping/>
  </p:clrMapOvr>
  <p:transition spd="med">
    <p:wipe dir="r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39588" y="0"/>
            <a:ext cx="8772157" cy="1232592"/>
          </a:xfrm>
        </p:spPr>
        <p:txBody>
          <a:bodyPr/>
          <a:lstStyle/>
          <a:p>
            <a:pPr algn="ctr" eaLnBrk="1" hangingPunct="1"/>
            <a:r>
              <a:rPr lang="es-ES" dirty="0">
                <a:latin typeface="Arial" charset="0"/>
              </a:rPr>
              <a:t>Configurar router-on-a-stick: Router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43010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32255" y="1583112"/>
            <a:ext cx="4973145" cy="38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385C78B-1C74-499A-8B92-6524B130B3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370" y="2815704"/>
            <a:ext cx="4143375" cy="3886200"/>
          </a:xfrm>
          <a:prstGeom prst="rect">
            <a:avLst/>
          </a:prstGeom>
          <a:effectLst>
            <a:softEdge rad="31750"/>
          </a:effectLst>
          <a:scene3d>
            <a:camera prst="orthographicFront"/>
            <a:lightRig rig="threePt" dir="t"/>
          </a:scene3d>
          <a:sp3d contourW="12700">
            <a:contourClr>
              <a:srgbClr val="FF0000"/>
            </a:contourClr>
          </a:sp3d>
        </p:spPr>
      </p:pic>
    </p:spTree>
    <p:extLst>
      <p:ext uri="{BB962C8B-B14F-4D97-AF65-F5344CB8AC3E}">
        <p14:creationId xmlns:p14="http://schemas.microsoft.com/office/powerpoint/2010/main" val="71133646"/>
      </p:ext>
    </p:extLst>
  </p:cSld>
  <p:clrMapOvr>
    <a:masterClrMapping/>
  </p:clrMapOvr>
  <p:transition spd="med">
    <p:wipe dir="r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421005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Routing entre redes VLAN con switches capa 3</a:t>
            </a:r>
            <a:endParaRPr lang="es-ES" sz="2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16842"/>
      </p:ext>
    </p:extLst>
  </p:cSld>
  <p:clrMapOvr>
    <a:masterClrMapping/>
  </p:clrMapOvr>
  <p:transition>
    <p:wipe dir="r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513467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sz="2800" dirty="0">
                <a:latin typeface="Arial" charset="0"/>
              </a:rPr>
              <a:t>Routing entre VLANs en un switch capa 3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0E7250C-74CC-5938-9656-C4BF33E10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706" y="1771065"/>
            <a:ext cx="8298585" cy="3315870"/>
          </a:xfrm>
        </p:spPr>
        <p:txBody>
          <a:bodyPr/>
          <a:lstStyle/>
          <a:p>
            <a:pPr marL="0" indent="0" rtl="0">
              <a:lnSpc>
                <a:spcPct val="150000"/>
              </a:lnSpc>
              <a:spcBef>
                <a:spcPts val="1200"/>
              </a:spcBef>
              <a:buNone/>
            </a:pPr>
            <a:r>
              <a:rPr lang="es-419" sz="1800" dirty="0">
                <a:solidFill>
                  <a:srgbClr val="000000"/>
                </a:solidFill>
              </a:rPr>
              <a:t>Otro método para realizar ruteo entre VLANs es utilizar </a:t>
            </a:r>
            <a:r>
              <a:rPr lang="es-419" sz="1800" b="1" dirty="0">
                <a:solidFill>
                  <a:srgbClr val="FF0000"/>
                </a:solidFill>
              </a:rPr>
              <a:t>switches de capa 3 </a:t>
            </a:r>
            <a:r>
              <a:rPr lang="es-419" sz="1800" dirty="0">
                <a:solidFill>
                  <a:srgbClr val="000000"/>
                </a:solidFill>
              </a:rPr>
              <a:t>y las </a:t>
            </a:r>
            <a:r>
              <a:rPr lang="es-419" sz="1800" b="1" dirty="0">
                <a:solidFill>
                  <a:srgbClr val="FF0000"/>
                </a:solidFill>
              </a:rPr>
              <a:t>interfaces virtuales del switch</a:t>
            </a: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9467E7-B338-C59B-51C2-9A109D6DB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022" y="2845404"/>
            <a:ext cx="5879248" cy="3499129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50FFD0C5-5905-AC67-C3E3-82D7FC3D65A9}"/>
              </a:ext>
            </a:extLst>
          </p:cNvPr>
          <p:cNvSpPr txBox="1">
            <a:spLocks/>
          </p:cNvSpPr>
          <p:nvPr/>
        </p:nvSpPr>
        <p:spPr bwMode="auto">
          <a:xfrm>
            <a:off x="434738" y="3046825"/>
            <a:ext cx="2043768" cy="2451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1200"/>
              </a:spcBef>
              <a:buFont typeface="Wingdings" charset="0"/>
              <a:buNone/>
            </a:pPr>
            <a:r>
              <a:rPr lang="es-419" sz="1600" b="1" kern="0" dirty="0">
                <a:solidFill>
                  <a:srgbClr val="000000"/>
                </a:solidFill>
              </a:rPr>
              <a:t>Nota</a:t>
            </a:r>
            <a:r>
              <a:rPr lang="es-419" sz="1600" kern="0" dirty="0">
                <a:solidFill>
                  <a:srgbClr val="000000"/>
                </a:solidFill>
              </a:rPr>
              <a:t>: Un switch de capa 3 también se le denomina </a:t>
            </a:r>
            <a:r>
              <a:rPr lang="es-419" sz="1600" b="1" kern="0" dirty="0">
                <a:solidFill>
                  <a:srgbClr val="000000"/>
                </a:solidFill>
              </a:rPr>
              <a:t>switch multicapa </a:t>
            </a:r>
            <a:r>
              <a:rPr lang="es-419" sz="1600" kern="0" dirty="0">
                <a:solidFill>
                  <a:srgbClr val="000000"/>
                </a:solidFill>
              </a:rPr>
              <a:t>ya que funciona en la capa 2 y la capa 3. </a:t>
            </a:r>
            <a:endParaRPr lang="en-US" sz="1600" kern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8986309"/>
      </p:ext>
    </p:extLst>
  </p:cSld>
  <p:clrMapOvr>
    <a:masterClrMapping/>
  </p:clrMapOvr>
  <p:transition spd="med">
    <p:wipe dir="r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74627" y="224709"/>
            <a:ext cx="8692648" cy="1002512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sz="2800" dirty="0">
                <a:latin typeface="Arial" charset="0"/>
              </a:rPr>
              <a:t>Ruteo entre VLANs en un switch capa 3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9467E7-B338-C59B-51C2-9A109D6DB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8407" y="3108812"/>
            <a:ext cx="5428981" cy="3231145"/>
          </a:xfrm>
          <a:prstGeom prst="rect">
            <a:avLst/>
          </a:prstGeom>
        </p:spPr>
      </p:pic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61E1A8CE-86EB-0D05-5F9B-8EAAC0C786DC}"/>
              </a:ext>
            </a:extLst>
          </p:cNvPr>
          <p:cNvSpPr txBox="1">
            <a:spLocks/>
          </p:cNvSpPr>
          <p:nvPr/>
        </p:nvSpPr>
        <p:spPr bwMode="auto">
          <a:xfrm>
            <a:off x="554415" y="1604870"/>
            <a:ext cx="8035169" cy="1282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algn="just">
              <a:lnSpc>
                <a:spcPct val="150000"/>
              </a:lnSpc>
              <a:buNone/>
            </a:pPr>
            <a:r>
              <a:rPr lang="es-419" sz="2000" kern="0" dirty="0">
                <a:solidFill>
                  <a:srgbClr val="000000"/>
                </a:solidFill>
              </a:rPr>
              <a:t>Los </a:t>
            </a:r>
            <a:r>
              <a:rPr lang="es-419" sz="2000" b="1" kern="0" dirty="0">
                <a:solidFill>
                  <a:srgbClr val="000000"/>
                </a:solidFill>
              </a:rPr>
              <a:t>switches de capa 3 </a:t>
            </a:r>
            <a:r>
              <a:rPr lang="es-419" sz="2000" kern="0" dirty="0">
                <a:solidFill>
                  <a:srgbClr val="000000"/>
                </a:solidFill>
              </a:rPr>
              <a:t>utilizan switching basado en hardware para lograr velocidades de procesamiento de paquetes más altas que los routers. </a:t>
            </a:r>
            <a:endParaRPr lang="en-US" sz="2000" kern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470145"/>
      </p:ext>
    </p:extLst>
  </p:cSld>
  <p:clrMapOvr>
    <a:masterClrMapping/>
  </p:clrMapOvr>
  <p:transition spd="med">
    <p:wipe dir="r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777339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sz="2800" dirty="0">
                <a:latin typeface="Arial" charset="0"/>
              </a:rPr>
              <a:t>Enrutamiento entre VLANs mediante switches capa 3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227152D4-B791-FBEC-8F0D-C7BF994B60D2}"/>
              </a:ext>
            </a:extLst>
          </p:cNvPr>
          <p:cNvSpPr/>
          <p:nvPr/>
        </p:nvSpPr>
        <p:spPr>
          <a:xfrm>
            <a:off x="294369" y="1944234"/>
            <a:ext cx="3543705" cy="40882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 rtl="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800" dirty="0">
                <a:solidFill>
                  <a:srgbClr val="000000"/>
                </a:solidFill>
                <a:latin typeface="+mn-lt"/>
              </a:rPr>
              <a:t>En la figura, el switch de capa 3, </a:t>
            </a:r>
            <a:r>
              <a:rPr lang="es-419" sz="1800" b="1" dirty="0">
                <a:solidFill>
                  <a:srgbClr val="FF0000"/>
                </a:solidFill>
                <a:latin typeface="+mn-lt"/>
              </a:rPr>
              <a:t>D1</a:t>
            </a:r>
            <a:r>
              <a:rPr lang="es-419" sz="1800" dirty="0">
                <a:solidFill>
                  <a:srgbClr val="000000"/>
                </a:solidFill>
                <a:latin typeface="+mn-lt"/>
              </a:rPr>
              <a:t>, está conectado a dos hosts en diferentes VLAN. </a:t>
            </a:r>
          </a:p>
          <a:p>
            <a:pPr marL="285750" indent="-285750" algn="l" rtl="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800" b="1" dirty="0">
                <a:solidFill>
                  <a:srgbClr val="000000"/>
                </a:solidFill>
                <a:latin typeface="+mn-lt"/>
              </a:rPr>
              <a:t>PC1 </a:t>
            </a:r>
            <a:r>
              <a:rPr lang="es-419" sz="1800" dirty="0">
                <a:solidFill>
                  <a:srgbClr val="000000"/>
                </a:solidFill>
                <a:latin typeface="+mn-lt"/>
              </a:rPr>
              <a:t>está en </a:t>
            </a:r>
            <a:r>
              <a:rPr lang="es-419" sz="1800" b="1" dirty="0">
                <a:solidFill>
                  <a:srgbClr val="000000"/>
                </a:solidFill>
                <a:latin typeface="+mn-lt"/>
              </a:rPr>
              <a:t>VLAN 10</a:t>
            </a:r>
            <a:r>
              <a:rPr lang="es-419" sz="1800" dirty="0">
                <a:solidFill>
                  <a:srgbClr val="000000"/>
                </a:solidFill>
                <a:latin typeface="+mn-lt"/>
              </a:rPr>
              <a:t> y </a:t>
            </a:r>
            <a:r>
              <a:rPr lang="es-419" sz="1800" b="1" dirty="0">
                <a:solidFill>
                  <a:srgbClr val="000000"/>
                </a:solidFill>
                <a:latin typeface="+mn-lt"/>
              </a:rPr>
              <a:t>PC2</a:t>
            </a:r>
            <a:r>
              <a:rPr lang="es-419" sz="1800" dirty="0">
                <a:solidFill>
                  <a:srgbClr val="000000"/>
                </a:solidFill>
                <a:latin typeface="+mn-lt"/>
              </a:rPr>
              <a:t> está en </a:t>
            </a:r>
            <a:r>
              <a:rPr lang="es-419" sz="1800" b="1" dirty="0">
                <a:solidFill>
                  <a:srgbClr val="000000"/>
                </a:solidFill>
                <a:latin typeface="+mn-lt"/>
              </a:rPr>
              <a:t>VLAN 20</a:t>
            </a:r>
            <a:r>
              <a:rPr lang="es-419" sz="1800" dirty="0">
                <a:solidFill>
                  <a:srgbClr val="000000"/>
                </a:solidFill>
                <a:latin typeface="+mn-lt"/>
              </a:rPr>
              <a:t>. </a:t>
            </a:r>
          </a:p>
          <a:p>
            <a:pPr marL="285750" indent="-285750" algn="l" rtl="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800" dirty="0">
                <a:solidFill>
                  <a:srgbClr val="000000"/>
                </a:solidFill>
                <a:latin typeface="+mn-lt"/>
              </a:rPr>
              <a:t>El switch de capa 3 proporcionará servicios de ruteo entre VLANs a los dos hosts.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C5C2AD6E-2EFF-232B-DAD5-90AE170E1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838074" y="2205992"/>
            <a:ext cx="4775718" cy="3689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</p:pic>
    </p:spTree>
    <p:extLst>
      <p:ext uri="{BB962C8B-B14F-4D97-AF65-F5344CB8AC3E}">
        <p14:creationId xmlns:p14="http://schemas.microsoft.com/office/powerpoint/2010/main" val="2570991339"/>
      </p:ext>
    </p:extLst>
  </p:cSld>
  <p:clrMapOvr>
    <a:masterClrMapping/>
  </p:clrMapOvr>
  <p:transition spd="med">
    <p:wipe dir="r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82823" y="689089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sz="2800" dirty="0">
                <a:latin typeface="Arial" charset="0"/>
              </a:rPr>
              <a:t>Enrutamiento entre VLANs mediante switches capa 3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C5C2AD6E-2EFF-232B-DAD5-90AE170E1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286302" y="3248520"/>
            <a:ext cx="4289715" cy="3313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414FB045-60AC-9791-10AD-DD3D24F94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626" y="1572523"/>
            <a:ext cx="8887049" cy="4214359"/>
          </a:xfrm>
        </p:spPr>
        <p:txBody>
          <a:bodyPr/>
          <a:lstStyle/>
          <a:p>
            <a:pPr marL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419" sz="2000" dirty="0">
                <a:solidFill>
                  <a:srgbClr val="000000"/>
                </a:solidFill>
              </a:rPr>
              <a:t>Pasos para configurar el switch multicapa </a:t>
            </a:r>
            <a:r>
              <a:rPr lang="es-419" sz="2000" b="1" dirty="0">
                <a:solidFill>
                  <a:srgbClr val="FF0000"/>
                </a:solidFill>
              </a:rPr>
              <a:t>D1</a:t>
            </a:r>
            <a:r>
              <a:rPr lang="es-419" sz="2000" dirty="0">
                <a:solidFill>
                  <a:srgbClr val="000000"/>
                </a:solidFill>
              </a:rPr>
              <a:t>:</a:t>
            </a:r>
          </a:p>
          <a:p>
            <a:pPr marL="342900" indent="-34290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419" sz="2000" b="1" dirty="0">
                <a:solidFill>
                  <a:srgbClr val="000000"/>
                </a:solidFill>
              </a:rPr>
              <a:t>Paso 1</a:t>
            </a:r>
            <a:r>
              <a:rPr lang="es-419" sz="2000" dirty="0">
                <a:solidFill>
                  <a:srgbClr val="000000"/>
                </a:solidFill>
              </a:rPr>
              <a:t>. </a:t>
            </a:r>
            <a:r>
              <a:rPr lang="es-419" sz="2000" b="1" dirty="0">
                <a:solidFill>
                  <a:srgbClr val="000000"/>
                </a:solidFill>
              </a:rPr>
              <a:t>Cree las VLAN</a:t>
            </a:r>
            <a:r>
              <a:rPr lang="es-419" sz="2000" dirty="0">
                <a:solidFill>
                  <a:srgbClr val="000000"/>
                </a:solidFill>
              </a:rPr>
              <a:t>. En el ejemplo, se utilizan VLAN 10 y 20. </a:t>
            </a:r>
          </a:p>
          <a:p>
            <a:pPr marL="342900" indent="-34290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419" sz="2000" b="1" dirty="0">
                <a:solidFill>
                  <a:srgbClr val="000000"/>
                </a:solidFill>
              </a:rPr>
              <a:t>Paso 2</a:t>
            </a:r>
            <a:r>
              <a:rPr lang="es-419" sz="2000" dirty="0">
                <a:solidFill>
                  <a:srgbClr val="000000"/>
                </a:solidFill>
              </a:rPr>
              <a:t>. </a:t>
            </a:r>
            <a:r>
              <a:rPr lang="es-419" sz="2000" b="1" dirty="0">
                <a:solidFill>
                  <a:srgbClr val="000000"/>
                </a:solidFill>
              </a:rPr>
              <a:t>Cree las interfaces VLAN</a:t>
            </a:r>
            <a:r>
              <a:rPr lang="es-419" sz="2000" dirty="0">
                <a:solidFill>
                  <a:srgbClr val="000000"/>
                </a:solidFill>
              </a:rPr>
              <a:t>. La dirección IP configurada servirá como puerta de enlace predeterminada para los hosts de la VLAN respectiva. 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008F7F-5DB7-DCBF-C839-A922C4D45773}"/>
              </a:ext>
            </a:extLst>
          </p:cNvPr>
          <p:cNvSpPr txBox="1"/>
          <p:nvPr/>
        </p:nvSpPr>
        <p:spPr>
          <a:xfrm>
            <a:off x="294943" y="3689200"/>
            <a:ext cx="3296095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MX" sz="1400" dirty="0"/>
              <a:t>int </a:t>
            </a:r>
            <a:r>
              <a:rPr lang="es-MX" sz="1400" b="1" dirty="0"/>
              <a:t>vlan 10</a:t>
            </a:r>
          </a:p>
          <a:p>
            <a:pPr algn="l"/>
            <a:r>
              <a:rPr lang="es-MX" sz="1400" dirty="0"/>
              <a:t>ip address 192.168.10.1 255.255.255.0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0430DF9-9804-F43B-6420-3B9AEC7BCC5C}"/>
              </a:ext>
            </a:extLst>
          </p:cNvPr>
          <p:cNvSpPr txBox="1"/>
          <p:nvPr/>
        </p:nvSpPr>
        <p:spPr>
          <a:xfrm>
            <a:off x="5552963" y="3643601"/>
            <a:ext cx="3296095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MX" sz="1400" dirty="0"/>
              <a:t>int </a:t>
            </a:r>
            <a:r>
              <a:rPr lang="es-MX" sz="1400" b="1" dirty="0"/>
              <a:t>vlan 20</a:t>
            </a:r>
          </a:p>
          <a:p>
            <a:pPr algn="l"/>
            <a:r>
              <a:rPr lang="es-MX" sz="1400" dirty="0"/>
              <a:t>ip address 192.168.20.1 255.255.255.0</a:t>
            </a:r>
          </a:p>
        </p:txBody>
      </p:sp>
    </p:spTree>
    <p:extLst>
      <p:ext uri="{BB962C8B-B14F-4D97-AF65-F5344CB8AC3E}">
        <p14:creationId xmlns:p14="http://schemas.microsoft.com/office/powerpoint/2010/main" val="1426920317"/>
      </p:ext>
    </p:extLst>
  </p:cSld>
  <p:clrMapOvr>
    <a:masterClrMapping/>
  </p:clrMapOvr>
  <p:transition spd="med">
    <p:wipe dir="r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C5C2AD6E-2EFF-232B-DAD5-90AE170E1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11840" y="2630606"/>
            <a:ext cx="4289715" cy="3313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</p:pic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74626" y="629921"/>
            <a:ext cx="8772157" cy="838200"/>
          </a:xfrm>
        </p:spPr>
        <p:txBody>
          <a:bodyPr/>
          <a:lstStyle/>
          <a:p>
            <a:pPr algn="ctr" eaLnBrk="1" hangingPunct="1"/>
            <a:r>
              <a:rPr lang="en-US" sz="1800" dirty="0"/>
              <a:t>
</a:t>
            </a:r>
            <a:r>
              <a:rPr lang="es-ES" sz="2800" dirty="0">
                <a:latin typeface="Arial" charset="0"/>
              </a:rPr>
              <a:t>Enrutamiento entre VLANs mediante switches capa 3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414FB045-60AC-9791-10AD-DD3D24F94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37" y="1679681"/>
            <a:ext cx="8377789" cy="1111651"/>
          </a:xfrm>
        </p:spPr>
        <p:txBody>
          <a:bodyPr/>
          <a:lstStyle/>
          <a:p>
            <a:pPr marL="342900" indent="-342900" algn="just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419" sz="2000" b="1" dirty="0">
                <a:solidFill>
                  <a:srgbClr val="000000"/>
                </a:solidFill>
              </a:rPr>
              <a:t>Paso 3</a:t>
            </a:r>
            <a:r>
              <a:rPr lang="es-419" sz="2000" dirty="0">
                <a:solidFill>
                  <a:srgbClr val="000000"/>
                </a:solidFill>
              </a:rPr>
              <a:t>.</a:t>
            </a:r>
            <a:r>
              <a:rPr lang="es-419" sz="2000" b="1" dirty="0">
                <a:solidFill>
                  <a:srgbClr val="000000"/>
                </a:solidFill>
              </a:rPr>
              <a:t> Configure los puertos de acceso.</a:t>
            </a:r>
            <a:r>
              <a:rPr lang="es-419" sz="2000" dirty="0">
                <a:solidFill>
                  <a:srgbClr val="000000"/>
                </a:solidFill>
              </a:rPr>
              <a:t> Asigne el puerto apropiado a la VLAN requerida.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F2923057-A2A3-50AD-2379-0C075FC58263}"/>
              </a:ext>
            </a:extLst>
          </p:cNvPr>
          <p:cNvSpPr txBox="1">
            <a:spLocks/>
          </p:cNvSpPr>
          <p:nvPr/>
        </p:nvSpPr>
        <p:spPr bwMode="auto">
          <a:xfrm>
            <a:off x="128537" y="2726860"/>
            <a:ext cx="4289715" cy="31608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-2286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419" sz="2000" b="1" kern="0" dirty="0">
                <a:solidFill>
                  <a:srgbClr val="000000"/>
                </a:solidFill>
              </a:rPr>
              <a:t>Paso 4</a:t>
            </a:r>
            <a:r>
              <a:rPr lang="es-419" sz="2000" kern="0" dirty="0">
                <a:solidFill>
                  <a:srgbClr val="000000"/>
                </a:solidFill>
              </a:rPr>
              <a:t>. </a:t>
            </a:r>
            <a:r>
              <a:rPr lang="es-419" sz="2000" b="1" kern="0" dirty="0">
                <a:solidFill>
                  <a:srgbClr val="000000"/>
                </a:solidFill>
              </a:rPr>
              <a:t>Habilite el ruteo IP.</a:t>
            </a:r>
            <a:r>
              <a:rPr lang="es-419" sz="2000" kern="0" dirty="0">
                <a:solidFill>
                  <a:srgbClr val="000000"/>
                </a:solidFill>
              </a:rPr>
              <a:t> Ejecute el comando </a:t>
            </a:r>
            <a:r>
              <a:rPr lang="es-419" sz="2000" b="1" kern="0" dirty="0">
                <a:solidFill>
                  <a:srgbClr val="FF0000"/>
                </a:solidFill>
              </a:rPr>
              <a:t>ip </a:t>
            </a:r>
            <a:r>
              <a:rPr lang="es-419" sz="2000" b="1" kern="0" dirty="0" err="1">
                <a:solidFill>
                  <a:srgbClr val="FF0000"/>
                </a:solidFill>
              </a:rPr>
              <a:t>routing</a:t>
            </a:r>
            <a:r>
              <a:rPr lang="es-419" sz="2000" b="1" kern="0" dirty="0">
                <a:solidFill>
                  <a:srgbClr val="FF0000"/>
                </a:solidFill>
              </a:rPr>
              <a:t> </a:t>
            </a:r>
            <a:r>
              <a:rPr lang="es-419" sz="2000" kern="0" dirty="0">
                <a:solidFill>
                  <a:srgbClr val="000000"/>
                </a:solidFill>
              </a:rPr>
              <a:t>para permitir el intercambio de tráfico entre las VLANs. Este comando debe configurarse para habilitar el ruteo entre VLANs en un switch de capa 3.</a:t>
            </a:r>
            <a:endParaRPr lang="en-US" sz="2000" kern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9237740"/>
      </p:ext>
    </p:extLst>
  </p:cSld>
  <p:clrMapOvr>
    <a:masterClrMapping/>
  </p:clrMapOvr>
  <p:transition spd="med">
    <p:wipe dir="r"/>
  </p:transition>
</p:sld>
</file>

<file path=ppt/theme/theme1.xml><?xml version="1.0" encoding="utf-8"?>
<a:theme xmlns:a="http://schemas.openxmlformats.org/drawingml/2006/main" name="PPT-TMPLT-WHT_C">
  <a:themeElements>
    <a:clrScheme name="PPT-TMPLT-WHT_C 1">
      <a:dk1>
        <a:srgbClr val="000000"/>
      </a:dk1>
      <a:lt1>
        <a:srgbClr val="FFFFFF"/>
      </a:lt1>
      <a:dk2>
        <a:srgbClr val="0183B7"/>
      </a:dk2>
      <a:lt2>
        <a:srgbClr val="000000"/>
      </a:lt2>
      <a:accent1>
        <a:srgbClr val="0183B7"/>
      </a:accent1>
      <a:accent2>
        <a:srgbClr val="B21A1A"/>
      </a:accent2>
      <a:accent3>
        <a:srgbClr val="FFFFFF"/>
      </a:accent3>
      <a:accent4>
        <a:srgbClr val="000000"/>
      </a:accent4>
      <a:accent5>
        <a:srgbClr val="AAC1D8"/>
      </a:accent5>
      <a:accent6>
        <a:srgbClr val="A11616"/>
      </a:accent6>
      <a:hlink>
        <a:srgbClr val="83A2CF"/>
      </a:hlink>
      <a:folHlink>
        <a:srgbClr val="EFB525"/>
      </a:folHlink>
    </a:clrScheme>
    <a:fontScheme name="PPT-TMPLT-WHT_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PT-TMPLT-WHT_C 1">
        <a:dk1>
          <a:srgbClr val="000000"/>
        </a:dk1>
        <a:lt1>
          <a:srgbClr val="FFFFFF"/>
        </a:lt1>
        <a:dk2>
          <a:srgbClr val="0183B7"/>
        </a:dk2>
        <a:lt2>
          <a:srgbClr val="000000"/>
        </a:lt2>
        <a:accent1>
          <a:srgbClr val="0183B7"/>
        </a:accent1>
        <a:accent2>
          <a:srgbClr val="B21A1A"/>
        </a:accent2>
        <a:accent3>
          <a:srgbClr val="FFFFFF"/>
        </a:accent3>
        <a:accent4>
          <a:srgbClr val="000000"/>
        </a:accent4>
        <a:accent5>
          <a:srgbClr val="AAC1D8"/>
        </a:accent5>
        <a:accent6>
          <a:srgbClr val="A11616"/>
        </a:accent6>
        <a:hlink>
          <a:srgbClr val="83A2CF"/>
        </a:hlink>
        <a:folHlink>
          <a:srgbClr val="EFB52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NetAcad-4F_PPT-WHT_060408">
  <a:themeElements>
    <a:clrScheme name="Oct_2006_Cisco White Template 1">
      <a:dk1>
        <a:srgbClr val="000000"/>
      </a:dk1>
      <a:lt1>
        <a:srgbClr val="FFFFFF"/>
      </a:lt1>
      <a:dk2>
        <a:srgbClr val="0183B7"/>
      </a:dk2>
      <a:lt2>
        <a:srgbClr val="000000"/>
      </a:lt2>
      <a:accent1>
        <a:srgbClr val="0183B7"/>
      </a:accent1>
      <a:accent2>
        <a:srgbClr val="B21A1A"/>
      </a:accent2>
      <a:accent3>
        <a:srgbClr val="FFFFFF"/>
      </a:accent3>
      <a:accent4>
        <a:srgbClr val="000000"/>
      </a:accent4>
      <a:accent5>
        <a:srgbClr val="AAC1D8"/>
      </a:accent5>
      <a:accent6>
        <a:srgbClr val="A11616"/>
      </a:accent6>
      <a:hlink>
        <a:srgbClr val="83A2CF"/>
      </a:hlink>
      <a:folHlink>
        <a:srgbClr val="EFB525"/>
      </a:folHlink>
    </a:clrScheme>
    <a:fontScheme name="Oct_2006_Cisco White 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Oct_2006_Cisco White Template 1">
        <a:dk1>
          <a:srgbClr val="000000"/>
        </a:dk1>
        <a:lt1>
          <a:srgbClr val="FFFFFF"/>
        </a:lt1>
        <a:dk2>
          <a:srgbClr val="0183B7"/>
        </a:dk2>
        <a:lt2>
          <a:srgbClr val="000000"/>
        </a:lt2>
        <a:accent1>
          <a:srgbClr val="0183B7"/>
        </a:accent1>
        <a:accent2>
          <a:srgbClr val="B21A1A"/>
        </a:accent2>
        <a:accent3>
          <a:srgbClr val="FFFFFF"/>
        </a:accent3>
        <a:accent4>
          <a:srgbClr val="000000"/>
        </a:accent4>
        <a:accent5>
          <a:srgbClr val="AAC1D8"/>
        </a:accent5>
        <a:accent6>
          <a:srgbClr val="A11616"/>
        </a:accent6>
        <a:hlink>
          <a:srgbClr val="83A2CF"/>
        </a:hlink>
        <a:folHlink>
          <a:srgbClr val="EFB52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31225</TotalTime>
  <Pages>28</Pages>
  <Words>1246</Words>
  <Application>Microsoft Office PowerPoint</Application>
  <PresentationFormat>On-screen Show (4:3)</PresentationFormat>
  <Paragraphs>144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Wingdings</vt:lpstr>
      <vt:lpstr>PPT-TMPLT-WHT_C</vt:lpstr>
      <vt:lpstr>NetAcad-4F_PPT-WHT_060408</vt:lpstr>
      <vt:lpstr>VLANs</vt:lpstr>
      <vt:lpstr>Características de las VLANs</vt:lpstr>
      <vt:lpstr>Segmentación de VLAN</vt:lpstr>
      <vt:lpstr>Características de las VLANs</vt:lpstr>
      <vt:lpstr>Definiciones de una red VLAN</vt:lpstr>
      <vt:lpstr>Definiciones de una red VLAN</vt:lpstr>
      <vt:lpstr>Beneficios de las redes VLAN</vt:lpstr>
      <vt:lpstr>Beneficios de las redes VLAN</vt:lpstr>
      <vt:lpstr>Beneficios de las redes VLAN</vt:lpstr>
      <vt:lpstr>Tipos de redes VLAN</vt:lpstr>
      <vt:lpstr>Tipos de redes VLAN</vt:lpstr>
      <vt:lpstr>Redes VLAN de voz</vt:lpstr>
      <vt:lpstr>Redes VLAN
Enlaces troncales</vt:lpstr>
      <vt:lpstr>Redes VLAN
Enlaces troncales</vt:lpstr>
      <vt:lpstr>Las VLANs controlan los dominios de broadcast</vt:lpstr>
      <vt:lpstr>Tipos de redes VLAN</vt:lpstr>
      <vt:lpstr>Base de datos de las VLANs</vt:lpstr>
      <vt:lpstr>Implementaciones de VLAN</vt:lpstr>
      <vt:lpstr>
Rangos de VLAN en switches</vt:lpstr>
      <vt:lpstr>Creación de una VLAN</vt:lpstr>
      <vt:lpstr>Asignación de puertos a las VLANs</vt:lpstr>
      <vt:lpstr>
Asignación de puertos a redes VLAN</vt:lpstr>
      <vt:lpstr>Asignación de puertos a redes VLAN</vt:lpstr>
      <vt:lpstr>
Verificar la información de una red VLAN</vt:lpstr>
      <vt:lpstr>
Configurar enlaces troncales IEEE 802.1q</vt:lpstr>
      <vt:lpstr>
Configurar enlaces troncales</vt:lpstr>
      <vt:lpstr>Pasos para configurar VLANs en los switches</vt:lpstr>
      <vt:lpstr>Ruteo entre redes VLAN con routers</vt:lpstr>
      <vt:lpstr>¿Qué es el ruteo entre VLANs?</vt:lpstr>
      <vt:lpstr>
Ruteo entre VLANs con router-on-a-stick</vt:lpstr>
      <vt:lpstr>Configurar router-on-a-stick: Switch</vt:lpstr>
      <vt:lpstr>Configurar router-on-a-stick: Router</vt:lpstr>
      <vt:lpstr>Routing entre redes VLAN con switches capa 3</vt:lpstr>
      <vt:lpstr>
Routing entre VLANs en un switch capa 3</vt:lpstr>
      <vt:lpstr>
Ruteo entre VLANs en un switch capa 3</vt:lpstr>
      <vt:lpstr>
Enrutamiento entre VLANs mediante switches capa 3</vt:lpstr>
      <vt:lpstr>
Enrutamiento entre VLANs mediante switches capa 3</vt:lpstr>
      <vt:lpstr>
Enrutamiento entre VLANs mediante switches capa 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 PC v4.0 Chapter 1</dc:title>
  <dc:creator>Karen Alderson</dc:creator>
  <cp:lastModifiedBy>Lizethe Pérez Fuertes</cp:lastModifiedBy>
  <cp:revision>1104</cp:revision>
  <cp:lastPrinted>1999-01-27T00:54:54Z</cp:lastPrinted>
  <dcterms:created xsi:type="dcterms:W3CDTF">2006-10-23T15:07:30Z</dcterms:created>
  <dcterms:modified xsi:type="dcterms:W3CDTF">2025-03-20T20:13:21Z</dcterms:modified>
</cp:coreProperties>
</file>