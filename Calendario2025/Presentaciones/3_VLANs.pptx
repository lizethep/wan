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41"/>
  </p:notesMasterIdLst>
  <p:handoutMasterIdLst>
    <p:handoutMasterId r:id="rId42"/>
  </p:handoutMasterIdLst>
  <p:sldIdLst>
    <p:sldId id="500" r:id="rId3"/>
    <p:sldId id="991" r:id="rId4"/>
    <p:sldId id="791" r:id="rId5"/>
    <p:sldId id="1065" r:id="rId6"/>
    <p:sldId id="1064" r:id="rId7"/>
    <p:sldId id="1066" r:id="rId8"/>
    <p:sldId id="1067" r:id="rId9"/>
    <p:sldId id="992" r:id="rId10"/>
    <p:sldId id="1068" r:id="rId11"/>
    <p:sldId id="993" r:id="rId12"/>
    <p:sldId id="994" r:id="rId13"/>
    <p:sldId id="996" r:id="rId14"/>
    <p:sldId id="998" r:id="rId15"/>
    <p:sldId id="997" r:id="rId16"/>
    <p:sldId id="999" r:id="rId17"/>
    <p:sldId id="1069" r:id="rId18"/>
    <p:sldId id="1006" r:id="rId19"/>
    <p:sldId id="913" r:id="rId20"/>
    <p:sldId id="980" r:id="rId21"/>
    <p:sldId id="1007" r:id="rId22"/>
    <p:sldId id="1008" r:id="rId23"/>
    <p:sldId id="1051" r:id="rId24"/>
    <p:sldId id="1052" r:id="rId25"/>
    <p:sldId id="1011" r:id="rId26"/>
    <p:sldId id="1018" r:id="rId27"/>
    <p:sldId id="1053" r:id="rId28"/>
    <p:sldId id="1070" r:id="rId29"/>
    <p:sldId id="914" r:id="rId30"/>
    <p:sldId id="982" r:id="rId31"/>
    <p:sldId id="1033" r:id="rId32"/>
    <p:sldId id="1045" r:id="rId33"/>
    <p:sldId id="1054" r:id="rId34"/>
    <p:sldId id="1060" r:id="rId35"/>
    <p:sldId id="1056" r:id="rId36"/>
    <p:sldId id="1061" r:id="rId37"/>
    <p:sldId id="1062" r:id="rId38"/>
    <p:sldId id="1063" r:id="rId39"/>
    <p:sldId id="1071" r:id="rId40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352" autoAdjust="0"/>
    <p:restoredTop sz="89302" autoAdjust="0"/>
  </p:normalViewPr>
  <p:slideViewPr>
    <p:cSldViewPr snapToGrid="0">
      <p:cViewPr varScale="1">
        <p:scale>
          <a:sx n="95" d="100"/>
          <a:sy n="95" d="100"/>
        </p:scale>
        <p:origin x="26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242"/>
    </p:cViewPr>
  </p:sorterViewPr>
  <p:notesViewPr>
    <p:cSldViewPr snapToGrid="0">
      <p:cViewPr>
        <p:scale>
          <a:sx n="100" d="100"/>
          <a:sy n="100" d="100"/>
        </p:scale>
        <p:origin x="-942" y="4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5.xml"/><Relationship Id="rId18" Type="http://schemas.openxmlformats.org/officeDocument/2006/relationships/slide" Target="slides/slide21.xml"/><Relationship Id="rId26" Type="http://schemas.openxmlformats.org/officeDocument/2006/relationships/slide" Target="slides/slide30.xml"/><Relationship Id="rId3" Type="http://schemas.openxmlformats.org/officeDocument/2006/relationships/slide" Target="slides/slide5.xml"/><Relationship Id="rId21" Type="http://schemas.openxmlformats.org/officeDocument/2006/relationships/slide" Target="slides/slide24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20.xml"/><Relationship Id="rId25" Type="http://schemas.openxmlformats.org/officeDocument/2006/relationships/slide" Target="slides/slide29.xml"/><Relationship Id="rId33" Type="http://schemas.openxmlformats.org/officeDocument/2006/relationships/slide" Target="slides/slide38.xml"/><Relationship Id="rId2" Type="http://schemas.openxmlformats.org/officeDocument/2006/relationships/slide" Target="slides/slide4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29" Type="http://schemas.openxmlformats.org/officeDocument/2006/relationships/slide" Target="slides/slide34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27.xml"/><Relationship Id="rId32" Type="http://schemas.openxmlformats.org/officeDocument/2006/relationships/slide" Target="slides/slide37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23" Type="http://schemas.openxmlformats.org/officeDocument/2006/relationships/slide" Target="slides/slide26.xml"/><Relationship Id="rId28" Type="http://schemas.openxmlformats.org/officeDocument/2006/relationships/slide" Target="slides/slide32.xml"/><Relationship Id="rId10" Type="http://schemas.openxmlformats.org/officeDocument/2006/relationships/slide" Target="slides/slide12.xml"/><Relationship Id="rId19" Type="http://schemas.openxmlformats.org/officeDocument/2006/relationships/slide" Target="slides/slide22.xml"/><Relationship Id="rId31" Type="http://schemas.openxmlformats.org/officeDocument/2006/relationships/slide" Target="slides/slide36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Relationship Id="rId22" Type="http://schemas.openxmlformats.org/officeDocument/2006/relationships/slide" Target="slides/slide25.xml"/><Relationship Id="rId27" Type="http://schemas.openxmlformats.org/officeDocument/2006/relationships/slide" Target="slides/slide31.xml"/><Relationship Id="rId30" Type="http://schemas.openxmlformats.org/officeDocument/2006/relationships/slide" Target="slides/slide35.xml"/><Relationship Id="rId8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s-E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3295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</a:t>
            </a:r>
            <a:r>
              <a:rPr lang="es-ES" sz="800" dirty="0" err="1"/>
              <a:t>Systems</a:t>
            </a:r>
            <a:r>
              <a:rPr lang="es-ES" sz="800" dirty="0"/>
              <a:t>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s-E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s-E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6773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895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4728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7075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87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2740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0720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18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196270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306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23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9880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22365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70934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4100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28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1388080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29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30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31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0857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29503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33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3462956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6629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35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99884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36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972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37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022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055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>
                <a:latin typeface="Arial" charset="0"/>
              </a:rPr>
              <a:t>VLANs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s-ES" dirty="0"/>
              <a:t>Routing and </a:t>
            </a:r>
            <a:r>
              <a:rPr lang="es-ES" dirty="0" err="1"/>
              <a:t>Switching</a:t>
            </a:r>
            <a:r>
              <a:rPr lang="es-ES" dirty="0"/>
              <a:t> Essentials v6.0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Características de las 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798787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185921" y="1712280"/>
            <a:ext cx="2712720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VLANs (redes virtuales) nos permiten </a:t>
            </a: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implementar de forma eficiente el tráfico dentro de una red de cobertura local</a:t>
            </a:r>
            <a:r>
              <a:rPr lang="es-ES" sz="1800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Las VLANs se pueden instalar tanto en el router como en el switch.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522053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30657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Segmentación de VLAN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Características de las 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798787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185920" y="1712280"/>
            <a:ext cx="2905623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Las VLANs nos permiten </a:t>
            </a: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segmentar el tráfico cuando tenemos la necesidad de dividir de forma lógica distintos segmentos</a:t>
            </a:r>
            <a:r>
              <a:rPr lang="es-ES" sz="1800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Cada VLAN corresponde a un dominio de broadcast, es decir, a una misma subred. </a:t>
            </a:r>
          </a:p>
        </p:txBody>
      </p:sp>
    </p:spTree>
    <p:extLst>
      <p:ext uri="{BB962C8B-B14F-4D97-AF65-F5344CB8AC3E}">
        <p14:creationId xmlns:p14="http://schemas.microsoft.com/office/powerpoint/2010/main" val="965961236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Definiciones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883172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274320" y="1650410"/>
            <a:ext cx="2712720" cy="2247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puertos de cada switch están asignados a VLANs distintas.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Los tres tipos de tráfico circulan por el mismo switch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9E81F8-3791-BF7C-FAFF-2DFAD18F8419}"/>
              </a:ext>
            </a:extLst>
          </p:cNvPr>
          <p:cNvSpPr/>
          <p:nvPr/>
        </p:nvSpPr>
        <p:spPr bwMode="auto">
          <a:xfrm>
            <a:off x="5939246" y="2002971"/>
            <a:ext cx="2847704" cy="940526"/>
          </a:xfrm>
          <a:prstGeom prst="rect">
            <a:avLst/>
          </a:prstGeom>
          <a:noFill/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447812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Definiciones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883172" y="1484947"/>
            <a:ext cx="6159291" cy="491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B8A3717-9631-7614-A21F-A30A45FFE4AD}"/>
              </a:ext>
            </a:extLst>
          </p:cNvPr>
          <p:cNvSpPr txBox="1"/>
          <p:nvPr/>
        </p:nvSpPr>
        <p:spPr>
          <a:xfrm>
            <a:off x="310414" y="1768206"/>
            <a:ext cx="2712720" cy="3729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la comunicación entre los </a:t>
            </a: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switches hay una conexión de todas las redes virtuales que es identificado como de tipo </a:t>
            </a:r>
            <a:r>
              <a:rPr lang="es-ES" sz="1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troncal</a:t>
            </a: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formar los enlaces de tipo troncal, el puerto en el switch se configura como de tipo</a:t>
            </a:r>
            <a:r>
              <a:rPr lang="es-E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troncal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9E81F8-3791-BF7C-FAFF-2DFAD18F8419}"/>
              </a:ext>
            </a:extLst>
          </p:cNvPr>
          <p:cNvSpPr/>
          <p:nvPr/>
        </p:nvSpPr>
        <p:spPr bwMode="auto">
          <a:xfrm>
            <a:off x="4572000" y="2334986"/>
            <a:ext cx="685800" cy="2596244"/>
          </a:xfrm>
          <a:prstGeom prst="rect">
            <a:avLst/>
          </a:prstGeom>
          <a:noFill/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45468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303115" y="1860461"/>
            <a:ext cx="2272919" cy="313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Mejora la seguridad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Los switches se pueden programar y cada uno de los puertos estar asociados únicamente con una MAC específica que se puede conectar. 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32150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303115" y="1765110"/>
            <a:ext cx="2135285" cy="284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Reduce costos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No necesitamos varios routers para segmentar el tráfico, puedo tener un router y varios switches para segmentar el tráfico.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886649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37820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Beneficios de las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64805" y="1379538"/>
            <a:ext cx="6176080" cy="514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B72FB-3BE2-C451-F59E-E197D093EE49}"/>
              </a:ext>
            </a:extLst>
          </p:cNvPr>
          <p:cNvSpPr txBox="1"/>
          <p:nvPr/>
        </p:nvSpPr>
        <p:spPr>
          <a:xfrm>
            <a:off x="411399" y="1885426"/>
            <a:ext cx="2135285" cy="2247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Mejor desempeño</a:t>
            </a:r>
            <a:r>
              <a:rPr lang="es-ES" sz="1800" b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dirty="0">
              <a:solidFill>
                <a:srgbClr val="FF00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 segmentar el tráfico podemos conseguir un mejor desempeño por cada segmento.</a:t>
            </a:r>
            <a:endParaRPr lang="es-MX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040580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554480"/>
            <a:ext cx="8930890" cy="2591303"/>
          </a:xfrm>
        </p:spPr>
        <p:txBody>
          <a:bodyPr wrap="square">
            <a:spAutoFit/>
          </a:bodyPr>
          <a:lstStyle/>
          <a:p>
            <a:r>
              <a:rPr lang="es-ES" sz="2000" b="1" dirty="0"/>
              <a:t>VLAN de datos</a:t>
            </a:r>
            <a:r>
              <a:rPr lang="es-ES" sz="2000" dirty="0"/>
              <a:t>: Tráfico generado por el usuario</a:t>
            </a:r>
          </a:p>
          <a:p>
            <a:r>
              <a:rPr lang="es-ES" sz="2000" b="1" dirty="0"/>
              <a:t>VLAN por default:</a:t>
            </a:r>
            <a:r>
              <a:rPr lang="es-ES" sz="2000" dirty="0"/>
              <a:t> Antes de que un switch sea configurado, todos los puertos pertenecen a la </a:t>
            </a:r>
            <a:r>
              <a:rPr lang="es-ES" sz="2000" u="sng" dirty="0"/>
              <a:t>VLAN 1</a:t>
            </a:r>
            <a:r>
              <a:rPr lang="es-ES" sz="2000" dirty="0"/>
              <a:t>,</a:t>
            </a:r>
            <a:r>
              <a:rPr lang="es-ES" sz="2000" b="1" dirty="0">
                <a:latin typeface="Courier New" panose="02070309020205020404" pitchFamily="49" charset="0"/>
              </a:rPr>
              <a:t> show vlan brief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2000" b="1" dirty="0"/>
              <a:t>VLAN nativa:</a:t>
            </a:r>
            <a:r>
              <a:rPr lang="es-ES" sz="2000" dirty="0"/>
              <a:t> La VLAN 1 se utiliza para tráfico no etiquetado en una VLAN.</a:t>
            </a:r>
          </a:p>
          <a:p>
            <a:r>
              <a:rPr lang="es-ES" sz="2000" b="1" dirty="0"/>
              <a:t>VLAN administrativa:</a:t>
            </a:r>
            <a:r>
              <a:rPr lang="es-ES" sz="2000" dirty="0"/>
              <a:t> Se utiliza para acceder a las capacidades de administración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CC3C72A-BB40-4D14-B3D2-56FED7F1AE5D}"/>
              </a:ext>
            </a:extLst>
          </p:cNvPr>
          <p:cNvSpPr txBox="1">
            <a:spLocks/>
          </p:cNvSpPr>
          <p:nvPr/>
        </p:nvSpPr>
        <p:spPr bwMode="auto">
          <a:xfrm>
            <a:off x="931118" y="4345123"/>
            <a:ext cx="7062812" cy="148638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s-ES" sz="3200" kern="0" dirty="0"/>
              <a:t>La</a:t>
            </a:r>
            <a:r>
              <a:rPr lang="es-ES" sz="3200" b="1" kern="0" dirty="0"/>
              <a:t> </a:t>
            </a:r>
            <a:r>
              <a:rPr lang="es-ES" sz="3200" b="1" kern="0" dirty="0">
                <a:solidFill>
                  <a:srgbClr val="FF0000"/>
                </a:solidFill>
              </a:rPr>
              <a:t>VLAN 1</a:t>
            </a:r>
            <a:r>
              <a:rPr lang="es-ES" sz="3200" b="1" kern="0" dirty="0"/>
              <a:t> </a:t>
            </a:r>
            <a:r>
              <a:rPr lang="es-ES" sz="3200" kern="0" dirty="0"/>
              <a:t>es por default la VLAN </a:t>
            </a:r>
            <a:r>
              <a:rPr lang="es-ES" sz="3200" b="1" kern="0" dirty="0"/>
              <a:t>administrativa</a:t>
            </a:r>
            <a:r>
              <a:rPr lang="es-ES" sz="3200" kern="0" dirty="0"/>
              <a:t>, la VLAN</a:t>
            </a:r>
            <a:r>
              <a:rPr lang="es-ES" sz="3200" b="1" kern="0" dirty="0"/>
              <a:t> nativa</a:t>
            </a:r>
            <a:r>
              <a:rPr lang="es-ES" sz="3200" kern="0" dirty="0"/>
              <a:t> y la VLAN por</a:t>
            </a:r>
            <a:r>
              <a:rPr lang="es-ES" sz="3200" b="1" kern="0" dirty="0"/>
              <a:t> default.</a:t>
            </a:r>
            <a:endParaRPr lang="es-ES" sz="3200" kern="0" dirty="0"/>
          </a:p>
        </p:txBody>
      </p:sp>
    </p:spTree>
    <p:extLst>
      <p:ext uri="{BB962C8B-B14F-4D97-AF65-F5344CB8AC3E}">
        <p14:creationId xmlns:p14="http://schemas.microsoft.com/office/powerpoint/2010/main" val="418990579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490236" y="1353060"/>
            <a:ext cx="6443138" cy="497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388934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343592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Redes VLAN de voz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88793" y="1400174"/>
            <a:ext cx="7260344" cy="525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386598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Redes VLAN</a:t>
            </a:r>
            <a:r>
              <a:rPr lang="en-US" sz="1800" dirty="0"/>
              <a:t>
</a:t>
            </a:r>
            <a:r>
              <a:rPr lang="es-ES" dirty="0"/>
              <a:t>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03960" y="5593079"/>
            <a:ext cx="7238999" cy="78465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s-ES" sz="1600" dirty="0"/>
              <a:t>Los enlaces entre los switches S1 y S2, y entre S1 y S3, se configuraron para transmitir tráfico proveniente de las redes VLAN 10, 20, 30 y 99 a través de la red. Esta red no podría funcionar sin los enlaces troncales de VLAN.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47737" y="1247301"/>
            <a:ext cx="5907989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4825791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Redes VLAN</a:t>
            </a:r>
            <a:r>
              <a:rPr lang="en-US" sz="1800" dirty="0"/>
              <a:t>
</a:t>
            </a:r>
            <a:r>
              <a:rPr lang="es-ES" dirty="0"/>
              <a:t>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74000"/>
            <a:ext cx="8752915" cy="1406363"/>
          </a:xfrm>
        </p:spPr>
        <p:txBody>
          <a:bodyPr>
            <a:spAutoFit/>
          </a:bodyPr>
          <a:lstStyle/>
          <a:p>
            <a:r>
              <a:rPr lang="es-ES" sz="2000" dirty="0"/>
              <a:t>Un enlace </a:t>
            </a:r>
            <a:r>
              <a:rPr lang="es-ES" sz="2000" b="1" dirty="0"/>
              <a:t>troncal</a:t>
            </a:r>
            <a:r>
              <a:rPr lang="es-ES" sz="2000" dirty="0"/>
              <a:t> es un enlace </a:t>
            </a:r>
            <a:r>
              <a:rPr lang="es-ES" sz="2000" b="1" dirty="0"/>
              <a:t>que transporta los datos de todas las VLANs</a:t>
            </a:r>
            <a:r>
              <a:rPr lang="es-ES" sz="2000" dirty="0"/>
              <a:t> de la red local.</a:t>
            </a:r>
          </a:p>
          <a:p>
            <a:r>
              <a:rPr lang="es-ES" sz="2000" dirty="0"/>
              <a:t>Generalmente, se </a:t>
            </a:r>
            <a:r>
              <a:rPr lang="es-ES" sz="2000" b="1" dirty="0"/>
              <a:t>establece</a:t>
            </a:r>
            <a:r>
              <a:rPr lang="es-ES" sz="2000" dirty="0"/>
              <a:t> entre </a:t>
            </a:r>
            <a:r>
              <a:rPr lang="es-ES" sz="2000" b="1" dirty="0"/>
              <a:t>switches</a:t>
            </a:r>
            <a:r>
              <a:rPr lang="es-ES" sz="2000" dirty="0"/>
              <a:t> para que los dispositivos de una misma red VLAN se puedan comunicar.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E22109-64E4-46F1-A8CE-8FAC0AFA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3680461"/>
            <a:ext cx="5248275" cy="2324100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AE79DB0-D945-494F-928C-97084F32A9E6}"/>
              </a:ext>
            </a:extLst>
          </p:cNvPr>
          <p:cNvSpPr txBox="1">
            <a:spLocks/>
          </p:cNvSpPr>
          <p:nvPr/>
        </p:nvSpPr>
        <p:spPr bwMode="auto">
          <a:xfrm>
            <a:off x="231574" y="2935602"/>
            <a:ext cx="7480667" cy="37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2000" kern="0" dirty="0"/>
              <a:t>Un enlace </a:t>
            </a:r>
            <a:r>
              <a:rPr lang="es-ES" sz="2000" b="1" kern="0" dirty="0"/>
              <a:t>troncal</a:t>
            </a:r>
            <a:r>
              <a:rPr lang="es-ES" sz="2000" kern="0" dirty="0"/>
              <a:t> </a:t>
            </a:r>
            <a:r>
              <a:rPr lang="es-ES" sz="2000" b="1" kern="0" dirty="0"/>
              <a:t>no está asociado a ninguna red VLAN</a:t>
            </a:r>
            <a:r>
              <a:rPr lang="es-ES" sz="2000" kern="0" dirty="0"/>
              <a:t>.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C743F6A-41A2-866C-F6CC-9F3B2F056F68}"/>
              </a:ext>
            </a:extLst>
          </p:cNvPr>
          <p:cNvSpPr txBox="1">
            <a:spLocks/>
          </p:cNvSpPr>
          <p:nvPr/>
        </p:nvSpPr>
        <p:spPr bwMode="auto">
          <a:xfrm>
            <a:off x="213111" y="3489152"/>
            <a:ext cx="3059478" cy="270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 queremos que se de el tráfico entre VLANs se deben habilitar los puertos troncales.</a:t>
            </a:r>
          </a:p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Comunicar VLANs distintas no va a poder ocurrir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ya que el switch no es capa 3 y no puede rutear.</a:t>
            </a:r>
            <a:endParaRPr lang="es-ES" sz="2000" kern="0" dirty="0"/>
          </a:p>
        </p:txBody>
      </p:sp>
    </p:spTree>
    <p:extLst>
      <p:ext uri="{BB962C8B-B14F-4D97-AF65-F5344CB8AC3E}">
        <p14:creationId xmlns:p14="http://schemas.microsoft.com/office/powerpoint/2010/main" val="624581686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02577" y="393251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sz="2800" dirty="0"/>
              <a:t>Las VLANs controlan los dominios de broadcast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050" y="1660661"/>
            <a:ext cx="7402205" cy="375312"/>
          </a:xfr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2000" dirty="0"/>
              <a:t>Una </a:t>
            </a:r>
            <a:r>
              <a:rPr lang="es-ES" sz="2000" b="1" dirty="0"/>
              <a:t>VLAN</a:t>
            </a:r>
            <a:r>
              <a:rPr lang="es-ES" sz="2000" dirty="0"/>
              <a:t> es un </a:t>
            </a:r>
            <a:r>
              <a:rPr lang="es-ES" sz="2000" b="1" dirty="0"/>
              <a:t>dominio de broadcast </a:t>
            </a:r>
            <a:r>
              <a:rPr lang="es-ES" sz="2000" dirty="0"/>
              <a:t>por si mismo.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5117BD-D8FB-476B-9476-CDCAACBE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75" y="3645290"/>
            <a:ext cx="5868649" cy="2598821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E5210BD-0403-49B7-B32D-2D5C5801C130}"/>
              </a:ext>
            </a:extLst>
          </p:cNvPr>
          <p:cNvSpPr txBox="1">
            <a:spLocks/>
          </p:cNvSpPr>
          <p:nvPr/>
        </p:nvSpPr>
        <p:spPr bwMode="auto">
          <a:xfrm>
            <a:off x="524221" y="2311101"/>
            <a:ext cx="7794420" cy="9016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s-ES" sz="2800" kern="0" dirty="0"/>
              <a:t>Cada</a:t>
            </a:r>
            <a:r>
              <a:rPr lang="es-ES" sz="2800" b="1" kern="0" dirty="0"/>
              <a:t> </a:t>
            </a:r>
            <a:r>
              <a:rPr lang="es-ES" sz="2800" b="1" kern="0" dirty="0">
                <a:solidFill>
                  <a:srgbClr val="FF0000"/>
                </a:solidFill>
              </a:rPr>
              <a:t>VLAN </a:t>
            </a:r>
            <a:r>
              <a:rPr lang="es-ES" sz="2800" kern="0" dirty="0"/>
              <a:t>está asociada a una </a:t>
            </a:r>
            <a:r>
              <a:rPr lang="es-ES" sz="2800" b="1" kern="0" dirty="0">
                <a:solidFill>
                  <a:srgbClr val="FF0000"/>
                </a:solidFill>
              </a:rPr>
              <a:t>subred</a:t>
            </a:r>
            <a:r>
              <a:rPr lang="es-ES" sz="2800" kern="0" dirty="0">
                <a:solidFill>
                  <a:srgbClr val="FF0000"/>
                </a:solidFill>
              </a:rPr>
              <a:t> </a:t>
            </a:r>
            <a:r>
              <a:rPr lang="es-ES" sz="2800" kern="0" dirty="0"/>
              <a:t>(dominio de broadcast)</a:t>
            </a:r>
          </a:p>
        </p:txBody>
      </p:sp>
    </p:spTree>
    <p:extLst>
      <p:ext uri="{BB962C8B-B14F-4D97-AF65-F5344CB8AC3E}">
        <p14:creationId xmlns:p14="http://schemas.microsoft.com/office/powerpoint/2010/main" val="422956945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Tipos de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8278" y="1470259"/>
            <a:ext cx="8052585" cy="210912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Existen tres tipos de puertos en un switch: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Puertos de datos o acceso</a:t>
            </a:r>
            <a:endParaRPr lang="es-MX" sz="18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Puertos de telefonía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Puertos troncales</a:t>
            </a:r>
            <a:r>
              <a:rPr lang="es-E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Transporta tanto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datos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como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telefonía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al siguiente switch o al siguiente router.</a:t>
            </a:r>
            <a:endParaRPr lang="es-ES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C18DD-7AE7-BBB9-E883-219D5210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448" y="3817046"/>
            <a:ext cx="5698510" cy="25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4136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620" y="186080"/>
            <a:ext cx="8772157" cy="975360"/>
          </a:xfrm>
        </p:spPr>
        <p:txBody>
          <a:bodyPr/>
          <a:lstStyle/>
          <a:p>
            <a:pPr algn="ctr" eaLnBrk="1" hangingPunct="1"/>
            <a:r>
              <a:rPr lang="es-ES" sz="2800" dirty="0"/>
              <a:t>Base de datos de las VLANs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10465" y="1383975"/>
            <a:ext cx="832307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83740" y="4311378"/>
            <a:ext cx="4620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dirty="0"/>
              <a:t>Situación 1: PC 1 envía un broadcast.</a:t>
            </a:r>
          </a:p>
          <a:p>
            <a:pPr algn="l"/>
            <a:r>
              <a:rPr lang="es-ES" sz="2000" dirty="0"/>
              <a:t>Situación 2: PC 2 envía un broadcast.</a:t>
            </a:r>
          </a:p>
          <a:p>
            <a:pPr algn="l"/>
            <a:r>
              <a:rPr lang="es-ES" sz="2000" dirty="0"/>
              <a:t>Situación 3: PC 3 envía un broadcast.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DCECF0C-0CED-44D0-B731-E61D6A86B69F}"/>
              </a:ext>
            </a:extLst>
          </p:cNvPr>
          <p:cNvSpPr txBox="1"/>
          <p:nvPr/>
        </p:nvSpPr>
        <p:spPr>
          <a:xfrm>
            <a:off x="1158848" y="5430841"/>
            <a:ext cx="6951980" cy="1089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/>
              <a:t>La base de datos en todos los switches debe ser la misma; de lo contrario, no hay comunicación.</a:t>
            </a:r>
          </a:p>
        </p:txBody>
      </p:sp>
    </p:spTree>
    <p:extLst>
      <p:ext uri="{BB962C8B-B14F-4D97-AF65-F5344CB8AC3E}">
        <p14:creationId xmlns:p14="http://schemas.microsoft.com/office/powerpoint/2010/main" val="70438313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3972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Implementaciones de VLAN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2449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538775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Rangos de VLAN en switches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4073" y="1806462"/>
            <a:ext cx="7766326" cy="2934474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800" dirty="0"/>
              <a:t>Las redes VLAN se dividen en dos categorías:</a:t>
            </a:r>
          </a:p>
          <a:p>
            <a:pPr marL="579438" indent="-342900"/>
            <a:r>
              <a:rPr lang="es-ES" sz="2200" b="1" dirty="0"/>
              <a:t>VLAN de rango normal</a:t>
            </a:r>
          </a:p>
          <a:p>
            <a:pPr marL="682625" lvl="1" indent="-342900"/>
            <a:r>
              <a:rPr lang="es-ES" sz="1800" dirty="0"/>
              <a:t>Números de VLAN de</a:t>
            </a:r>
            <a:r>
              <a:rPr lang="es-ES" sz="1800" b="1" dirty="0"/>
              <a:t> 1</a:t>
            </a:r>
            <a:r>
              <a:rPr lang="es-ES" sz="1800" dirty="0"/>
              <a:t> a </a:t>
            </a:r>
            <a:r>
              <a:rPr lang="es-ES" sz="1800" b="1" dirty="0"/>
              <a:t>1005</a:t>
            </a:r>
            <a:r>
              <a:rPr lang="es-ES" sz="1800" dirty="0"/>
              <a:t>.</a:t>
            </a:r>
          </a:p>
          <a:p>
            <a:pPr marL="682625" lvl="1" indent="-342900"/>
            <a:r>
              <a:rPr lang="es-ES" sz="1800" dirty="0"/>
              <a:t>Las ID de </a:t>
            </a:r>
            <a:r>
              <a:rPr lang="es-ES" sz="1800" b="1" dirty="0"/>
              <a:t>1002 a 1005 </a:t>
            </a:r>
            <a:r>
              <a:rPr lang="es-ES" sz="1800" dirty="0"/>
              <a:t>se reservan para las redes VLAN de </a:t>
            </a:r>
            <a:r>
              <a:rPr lang="es-ES" sz="1800" b="1" dirty="0"/>
              <a:t>Token Ring </a:t>
            </a:r>
            <a:r>
              <a:rPr lang="es-ES" sz="1800" dirty="0"/>
              <a:t>e </a:t>
            </a:r>
            <a:r>
              <a:rPr lang="es-ES" sz="1800" b="1" dirty="0"/>
              <a:t>Interfaz de datos distribuidos por fibra óptica (FDDI)</a:t>
            </a:r>
            <a:r>
              <a:rPr lang="es-ES" sz="1800" dirty="0"/>
              <a:t>, se crean automáticamente y no se pueden eliminar.</a:t>
            </a:r>
          </a:p>
          <a:p>
            <a:pPr marL="579438" indent="-342900"/>
            <a:r>
              <a:rPr lang="es-ES" sz="2200" b="1" dirty="0"/>
              <a:t>VLAN de rango extendido</a:t>
            </a:r>
          </a:p>
          <a:p>
            <a:pPr marL="682625" lvl="1" indent="-342900"/>
            <a:r>
              <a:rPr lang="es-ES" sz="1800" dirty="0"/>
              <a:t>Números de VLAN de </a:t>
            </a:r>
            <a:r>
              <a:rPr lang="es-ES" sz="1800" b="1" dirty="0"/>
              <a:t>1006 a 4096</a:t>
            </a:r>
            <a:r>
              <a:rPr lang="es-E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771591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697469" cy="838200"/>
          </a:xfrm>
        </p:spPr>
        <p:txBody>
          <a:bodyPr/>
          <a:lstStyle/>
          <a:p>
            <a:pPr algn="ctr" eaLnBrk="1" hangingPunct="1"/>
            <a:r>
              <a:rPr lang="es-ES" dirty="0"/>
              <a:t>Creación de una 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016537" y="1452270"/>
            <a:ext cx="5110926" cy="1819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2197012" y="3152268"/>
            <a:ext cx="4853369" cy="333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143955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dirty="0"/>
              <a:t>Asignación de puertos a las VLANs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05740" y="1286509"/>
            <a:ext cx="4994910" cy="332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572192" y="3789045"/>
            <a:ext cx="409536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426902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3708" y="394392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Asignación de puertos a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4708" y="1567036"/>
            <a:ext cx="7390476" cy="46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59875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635026"/>
            <a:ext cx="8772157" cy="838200"/>
          </a:xfrm>
        </p:spPr>
        <p:txBody>
          <a:bodyPr/>
          <a:lstStyle/>
          <a:p>
            <a:pPr algn="ctr" eaLnBrk="1" hangingPunct="1"/>
            <a:r>
              <a:rPr lang="es-ES" dirty="0"/>
              <a:t>Asignación de puertos a redes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9CA17B-C511-480E-9D40-40BDE1D9B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1963903"/>
            <a:ext cx="55054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0347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9" y="394392"/>
            <a:ext cx="8541058" cy="834331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Verificar la información de una red VLAN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966478" y="1228723"/>
            <a:ext cx="5317724" cy="5491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029793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772" y="250008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Configurar enlaces troncales IEEE 802.1q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141952" y="1181893"/>
            <a:ext cx="6677213" cy="422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50" y="5230223"/>
            <a:ext cx="52292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380033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58296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dirty="0"/>
              <a:t>Configurar enlaces troncales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4AB9BC-A6E6-4023-BCAD-BD9339A90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93868" y="1407322"/>
            <a:ext cx="5339389" cy="505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699804B-0A3D-426C-AD7F-A2886A0FF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578" y="4397595"/>
            <a:ext cx="4056554" cy="17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8440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9" y="771559"/>
            <a:ext cx="8840802" cy="838200"/>
          </a:xfrm>
        </p:spPr>
        <p:txBody>
          <a:bodyPr/>
          <a:lstStyle/>
          <a:p>
            <a:pPr algn="ctr" eaLnBrk="1" hangingPunct="1"/>
            <a:r>
              <a:rPr lang="es-ES" dirty="0"/>
              <a:t>Pasos para configurar VLANs en los switches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C583D6-E51B-15AE-002F-9F07AD80FD88}"/>
              </a:ext>
            </a:extLst>
          </p:cNvPr>
          <p:cNvSpPr txBox="1"/>
          <p:nvPr/>
        </p:nvSpPr>
        <p:spPr>
          <a:xfrm>
            <a:off x="266059" y="2239373"/>
            <a:ext cx="4259593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Crear la base de datos de VLANs: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vlan y name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Definir el tipo de puerto: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acceso, troncal o de telefonía.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Asociar los puertos a </a:t>
            </a:r>
            <a:r>
              <a:rPr lang="es-ES" sz="18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las</a:t>
            </a: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VLANs</a:t>
            </a:r>
            <a:endParaRPr lang="es-MX" sz="1800" dirty="0">
              <a:solidFill>
                <a:srgbClr val="FF0000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ES" sz="1800" b="1" dirty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Identificar el puerto troncal</a:t>
            </a:r>
            <a:r>
              <a:rPr lang="es-ES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y programarlo.</a:t>
            </a:r>
            <a:endParaRPr lang="es-MX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7C071-A696-3FAB-2FE4-681449D4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614268" y="1758104"/>
            <a:ext cx="4477523" cy="4240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027270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2100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Ruteo entre redes VLAN con routers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013060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751006" y="2829290"/>
            <a:ext cx="518926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33" y="490643"/>
            <a:ext cx="8772157" cy="838200"/>
          </a:xfrm>
        </p:spPr>
        <p:txBody>
          <a:bodyPr/>
          <a:lstStyle/>
          <a:p>
            <a:pPr algn="ctr" eaLnBrk="1" hangingPunct="1"/>
            <a:r>
              <a:rPr lang="es-MX" dirty="0">
                <a:latin typeface="Arial" charset="0"/>
              </a:rPr>
              <a:t>¿Qué es el ruteo entre </a:t>
            </a:r>
            <a:r>
              <a:rPr lang="es-MX" dirty="0" err="1">
                <a:latin typeface="Arial" charset="0"/>
              </a:rPr>
              <a:t>VLANs</a:t>
            </a:r>
            <a:r>
              <a:rPr lang="es-MX" dirty="0">
                <a:latin typeface="Arial" charset="0"/>
              </a:rPr>
              <a:t>?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2727" y="1651440"/>
            <a:ext cx="7942042" cy="949251"/>
          </a:xfr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/>
              <a:t>Los </a:t>
            </a:r>
            <a:r>
              <a:rPr lang="es-ES" sz="2000" b="1" dirty="0"/>
              <a:t>switches de capa 2 no pueden reenviar tráfico entre VLANs </a:t>
            </a:r>
            <a:r>
              <a:rPr lang="es-ES" sz="2000" dirty="0"/>
              <a:t>sin la ayuda de un router. </a:t>
            </a:r>
            <a:endParaRPr lang="es-ES" sz="2000" b="1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AF48180-DB01-7AD4-0165-78D94DB01203}"/>
              </a:ext>
            </a:extLst>
          </p:cNvPr>
          <p:cNvSpPr txBox="1">
            <a:spLocks/>
          </p:cNvSpPr>
          <p:nvPr/>
        </p:nvSpPr>
        <p:spPr bwMode="auto">
          <a:xfrm>
            <a:off x="508243" y="2787702"/>
            <a:ext cx="3062284" cy="2795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2000" kern="0" dirty="0"/>
              <a:t>El </a:t>
            </a:r>
            <a:r>
              <a:rPr lang="es-ES" sz="2000" b="1" kern="0" dirty="0"/>
              <a:t>ruteo entre VLANs</a:t>
            </a:r>
            <a:r>
              <a:rPr lang="es-ES" sz="2000" kern="0" dirty="0"/>
              <a:t> es un proceso para </a:t>
            </a:r>
            <a:r>
              <a:rPr lang="es-ES" sz="2000" b="1" kern="0" dirty="0"/>
              <a:t>reenviar tráfico de red</a:t>
            </a:r>
            <a:r>
              <a:rPr lang="es-ES" sz="2000" kern="0" dirty="0"/>
              <a:t> de una </a:t>
            </a:r>
            <a:r>
              <a:rPr lang="es-ES" sz="2000" b="1" kern="0" dirty="0"/>
              <a:t>VLAN</a:t>
            </a:r>
            <a:r>
              <a:rPr lang="es-ES" sz="2000" kern="0" dirty="0"/>
              <a:t> a </a:t>
            </a:r>
            <a:r>
              <a:rPr lang="es-ES" sz="2000" b="1" kern="0" dirty="0"/>
              <a:t>otra</a:t>
            </a:r>
            <a:r>
              <a:rPr lang="es-ES" sz="2000" kern="0" dirty="0"/>
              <a:t> </a:t>
            </a:r>
            <a:r>
              <a:rPr lang="es-ES" sz="2000" u="sng" kern="0" dirty="0"/>
              <a:t>mediante un router.</a:t>
            </a:r>
            <a:endParaRPr lang="es-ES" sz="2000" b="1" kern="0" dirty="0"/>
          </a:p>
        </p:txBody>
      </p:sp>
    </p:spTree>
    <p:extLst>
      <p:ext uri="{BB962C8B-B14F-4D97-AF65-F5344CB8AC3E}">
        <p14:creationId xmlns:p14="http://schemas.microsoft.com/office/powerpoint/2010/main" val="503958385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6" y="22470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Ruteo entre VLANs con router-on-a-stick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5788" y="3659502"/>
            <a:ext cx="2519481" cy="1924967"/>
          </a:xfrm>
        </p:spPr>
        <p:txBody>
          <a:bodyPr wrap="square">
            <a:spAutoFit/>
          </a:bodyPr>
          <a:lstStyle/>
          <a:p>
            <a:r>
              <a:rPr lang="es-ES" sz="1800" dirty="0"/>
              <a:t>Los </a:t>
            </a:r>
            <a:r>
              <a:rPr lang="es-ES" sz="1800" b="1" dirty="0"/>
              <a:t>miembros de las VLAN</a:t>
            </a:r>
            <a:r>
              <a:rPr lang="es-ES" sz="1800" dirty="0"/>
              <a:t> (hosts) se configuran para utilizar la </a:t>
            </a:r>
            <a:r>
              <a:rPr lang="es-ES" sz="1800" b="1" dirty="0"/>
              <a:t>dirección de subinterfaz</a:t>
            </a:r>
            <a:r>
              <a:rPr lang="es-ES" sz="1800" dirty="0"/>
              <a:t> como </a:t>
            </a:r>
            <a:r>
              <a:rPr lang="es-ES" sz="1800" b="1" dirty="0"/>
              <a:t>default gateway</a:t>
            </a:r>
            <a:r>
              <a:rPr lang="es-ES" sz="18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F90873-5935-495E-B09D-7C5560CDB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44" y="3402786"/>
            <a:ext cx="6173968" cy="3281440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1DE12C1-9BBB-4892-B394-8CB2C2E22B23}"/>
              </a:ext>
            </a:extLst>
          </p:cNvPr>
          <p:cNvSpPr txBox="1">
            <a:spLocks/>
          </p:cNvSpPr>
          <p:nvPr/>
        </p:nvSpPr>
        <p:spPr bwMode="auto">
          <a:xfrm>
            <a:off x="165788" y="1235726"/>
            <a:ext cx="8752915" cy="2340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  <a:spAutoFit/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s-ES" sz="1800" kern="0" dirty="0"/>
              <a:t>El concepto de </a:t>
            </a:r>
            <a:r>
              <a:rPr lang="es-ES" sz="1800" b="1" kern="0" dirty="0"/>
              <a:t>router-on-a-stick</a:t>
            </a:r>
            <a:r>
              <a:rPr lang="es-ES" sz="1800" kern="0" dirty="0"/>
              <a:t> utiliza </a:t>
            </a:r>
            <a:r>
              <a:rPr lang="es-ES" sz="1800" b="1" kern="0" dirty="0"/>
              <a:t>solo una</a:t>
            </a:r>
            <a:r>
              <a:rPr lang="es-ES" sz="1800" kern="0" dirty="0"/>
              <a:t> de las </a:t>
            </a:r>
            <a:r>
              <a:rPr lang="es-ES" sz="1800" b="1" kern="0" dirty="0"/>
              <a:t>interfaces físicas del router</a:t>
            </a:r>
            <a:r>
              <a:rPr lang="es-ES" sz="1800" kern="0" dirty="0"/>
              <a:t>.</a:t>
            </a:r>
          </a:p>
          <a:p>
            <a:r>
              <a:rPr lang="es-ES" sz="1800" kern="0" dirty="0"/>
              <a:t>Una de las interfaces físicas del router (ejemplo: g0/0) se </a:t>
            </a:r>
            <a:r>
              <a:rPr lang="es-ES" sz="1800" b="1" kern="0" dirty="0"/>
              <a:t>configura como un puerto troncal </a:t>
            </a:r>
            <a:r>
              <a:rPr lang="es-ES" sz="1800" kern="0" dirty="0"/>
              <a:t>para que pueda comprender las etiquetas de las VLANs.</a:t>
            </a:r>
          </a:p>
          <a:p>
            <a:r>
              <a:rPr lang="es-ES" sz="1800" kern="0" dirty="0"/>
              <a:t>Se crean </a:t>
            </a:r>
            <a:r>
              <a:rPr lang="es-ES" sz="1800" b="1" kern="0" dirty="0"/>
              <a:t>subinterfaces</a:t>
            </a:r>
            <a:r>
              <a:rPr lang="es-ES" sz="1800" kern="0" dirty="0"/>
              <a:t> </a:t>
            </a:r>
            <a:r>
              <a:rPr lang="es-ES" sz="1800" b="1" kern="0" dirty="0"/>
              <a:t>lógicas</a:t>
            </a:r>
            <a:r>
              <a:rPr lang="es-ES" sz="1800" kern="0" dirty="0"/>
              <a:t>, </a:t>
            </a:r>
            <a:r>
              <a:rPr lang="es-ES" sz="1800" b="1" kern="0" dirty="0"/>
              <a:t>una por cada VLAN</a:t>
            </a:r>
            <a:r>
              <a:rPr lang="es-ES" sz="1800" kern="0" dirty="0"/>
              <a:t>.</a:t>
            </a:r>
          </a:p>
          <a:p>
            <a:r>
              <a:rPr lang="es-ES" sz="1800" kern="0" dirty="0"/>
              <a:t>Cada </a:t>
            </a:r>
            <a:r>
              <a:rPr lang="es-ES" sz="1800" b="1" kern="0" dirty="0"/>
              <a:t>subinterfaz</a:t>
            </a:r>
            <a:r>
              <a:rPr lang="es-ES" sz="1800" kern="0" dirty="0"/>
              <a:t> se </a:t>
            </a:r>
            <a:r>
              <a:rPr lang="es-ES" sz="1800" b="1" kern="0" dirty="0"/>
              <a:t>configura</a:t>
            </a:r>
            <a:r>
              <a:rPr lang="es-ES" sz="1800" kern="0" dirty="0"/>
              <a:t> con una </a:t>
            </a:r>
            <a:r>
              <a:rPr lang="es-ES" sz="1800" b="1" kern="0" dirty="0"/>
              <a:t>dirección IP proveniente de la VLAN</a:t>
            </a:r>
            <a:r>
              <a:rPr lang="es-ES" sz="1800" kern="0" dirty="0"/>
              <a:t> que representa.</a:t>
            </a:r>
          </a:p>
        </p:txBody>
      </p:sp>
    </p:spTree>
    <p:extLst>
      <p:ext uri="{BB962C8B-B14F-4D97-AF65-F5344CB8AC3E}">
        <p14:creationId xmlns:p14="http://schemas.microsoft.com/office/powerpoint/2010/main" val="802054690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0"/>
            <a:ext cx="8772157" cy="1232592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Configurar router-on-a-stick: Switch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51455" y="1684712"/>
            <a:ext cx="6177807" cy="472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411865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39588" y="0"/>
            <a:ext cx="8772157" cy="1232592"/>
          </a:xfrm>
        </p:spPr>
        <p:txBody>
          <a:bodyPr/>
          <a:lstStyle/>
          <a:p>
            <a:pPr algn="ctr" eaLnBrk="1" hangingPunct="1"/>
            <a:r>
              <a:rPr lang="es-ES" dirty="0">
                <a:latin typeface="Arial" charset="0"/>
              </a:rPr>
              <a:t>Configurar router-on-a-stick: Router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2255" y="1583112"/>
            <a:ext cx="4973145" cy="38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385C78B-1C74-499A-8B92-6524B130B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370" y="2815704"/>
            <a:ext cx="4143375" cy="3886200"/>
          </a:xfrm>
          <a:prstGeom prst="rect">
            <a:avLst/>
          </a:prstGeom>
          <a:effectLst>
            <a:softEdge rad="31750"/>
          </a:effectLst>
          <a:scene3d>
            <a:camera prst="orthographicFront"/>
            <a:lightRig rig="threePt" dir="t"/>
          </a:scene3d>
          <a:sp3d contourW="12700">
            <a:contourClr>
              <a:srgbClr val="FF0000"/>
            </a:contourClr>
          </a:sp3d>
        </p:spPr>
      </p:pic>
    </p:spTree>
    <p:extLst>
      <p:ext uri="{BB962C8B-B14F-4D97-AF65-F5344CB8AC3E}">
        <p14:creationId xmlns:p14="http://schemas.microsoft.com/office/powerpoint/2010/main" val="71133646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42100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Routing entre redes VLAN con switches capa 3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6842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513467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Routing entre VLANs en un switch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0E7250C-74CC-5938-9656-C4BF33E1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06" y="1771065"/>
            <a:ext cx="8298585" cy="3315870"/>
          </a:xfrm>
        </p:spPr>
        <p:txBody>
          <a:bodyPr/>
          <a:lstStyle/>
          <a:p>
            <a:pPr marL="0" indent="0" rt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s-419" sz="1800" dirty="0">
                <a:solidFill>
                  <a:srgbClr val="000000"/>
                </a:solidFill>
              </a:rPr>
              <a:t>Otro método para realizar ruteo entre VLANs es utilizar </a:t>
            </a:r>
            <a:r>
              <a:rPr lang="es-419" sz="1800" b="1" dirty="0">
                <a:solidFill>
                  <a:srgbClr val="FF0000"/>
                </a:solidFill>
              </a:rPr>
              <a:t>switches de capa 3 </a:t>
            </a:r>
            <a:r>
              <a:rPr lang="es-419" sz="1800" dirty="0">
                <a:solidFill>
                  <a:srgbClr val="000000"/>
                </a:solidFill>
              </a:rPr>
              <a:t>y las </a:t>
            </a:r>
            <a:r>
              <a:rPr lang="es-419" sz="1800" b="1" dirty="0">
                <a:solidFill>
                  <a:srgbClr val="FF0000"/>
                </a:solidFill>
              </a:rPr>
              <a:t>interfaces virtuales del switch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467E7-B338-C59B-51C2-9A109D6D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022" y="2845404"/>
            <a:ext cx="5879248" cy="3499129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0FFD0C5-5905-AC67-C3E3-82D7FC3D65A9}"/>
              </a:ext>
            </a:extLst>
          </p:cNvPr>
          <p:cNvSpPr txBox="1">
            <a:spLocks/>
          </p:cNvSpPr>
          <p:nvPr/>
        </p:nvSpPr>
        <p:spPr bwMode="auto">
          <a:xfrm>
            <a:off x="434738" y="3046825"/>
            <a:ext cx="2043768" cy="245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charset="0"/>
              <a:buNone/>
            </a:pPr>
            <a:r>
              <a:rPr lang="es-419" sz="1600" b="1" kern="0" dirty="0">
                <a:solidFill>
                  <a:srgbClr val="000000"/>
                </a:solidFill>
              </a:rPr>
              <a:t>Nota</a:t>
            </a:r>
            <a:r>
              <a:rPr lang="es-419" sz="1600" kern="0" dirty="0">
                <a:solidFill>
                  <a:srgbClr val="000000"/>
                </a:solidFill>
              </a:rPr>
              <a:t>: Un switch de capa 3 también se le denomina </a:t>
            </a:r>
            <a:r>
              <a:rPr lang="es-419" sz="1600" b="1" kern="0" dirty="0">
                <a:solidFill>
                  <a:srgbClr val="000000"/>
                </a:solidFill>
              </a:rPr>
              <a:t>switch multicapa </a:t>
            </a:r>
            <a:r>
              <a:rPr lang="es-419" sz="1600" kern="0" dirty="0">
                <a:solidFill>
                  <a:srgbClr val="000000"/>
                </a:solidFill>
              </a:rPr>
              <a:t>ya que funciona en la capa 2 y la capa 3. </a:t>
            </a:r>
            <a:endParaRPr lang="en-US" sz="16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986309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7" y="224709"/>
            <a:ext cx="8692648" cy="1002512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Ruteo entre VLANs en un switch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467E7-B338-C59B-51C2-9A109D6D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407" y="3108812"/>
            <a:ext cx="5428981" cy="3231145"/>
          </a:xfrm>
          <a:prstGeom prst="rect">
            <a:avLst/>
          </a:prstGeom>
        </p:spPr>
      </p:pic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1E1A8CE-86EB-0D05-5F9B-8EAAC0C786DC}"/>
              </a:ext>
            </a:extLst>
          </p:cNvPr>
          <p:cNvSpPr txBox="1">
            <a:spLocks/>
          </p:cNvSpPr>
          <p:nvPr/>
        </p:nvSpPr>
        <p:spPr bwMode="auto">
          <a:xfrm>
            <a:off x="554415" y="1604870"/>
            <a:ext cx="8035169" cy="1282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s-419" sz="2000" kern="0" dirty="0">
                <a:solidFill>
                  <a:srgbClr val="000000"/>
                </a:solidFill>
              </a:rPr>
              <a:t>Los </a:t>
            </a:r>
            <a:r>
              <a:rPr lang="es-419" sz="2000" b="1" kern="0" dirty="0">
                <a:solidFill>
                  <a:srgbClr val="000000"/>
                </a:solidFill>
              </a:rPr>
              <a:t>switches de capa 3 </a:t>
            </a:r>
            <a:r>
              <a:rPr lang="es-419" sz="2000" kern="0" dirty="0">
                <a:solidFill>
                  <a:srgbClr val="000000"/>
                </a:solidFill>
              </a:rPr>
              <a:t>utilizan switching basado en hardware para lograr velocidades de procesamiento de paquetes más altas que los routers. </a:t>
            </a:r>
            <a:endParaRPr lang="en-US" sz="2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470145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77733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27152D4-B791-FBEC-8F0D-C7BF994B60D2}"/>
              </a:ext>
            </a:extLst>
          </p:cNvPr>
          <p:cNvSpPr/>
          <p:nvPr/>
        </p:nvSpPr>
        <p:spPr>
          <a:xfrm>
            <a:off x="294369" y="1944234"/>
            <a:ext cx="3543705" cy="4088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rgbClr val="000000"/>
                </a:solidFill>
                <a:latin typeface="+mn-lt"/>
              </a:rPr>
              <a:t>En la figura, el switch de capa 3, </a:t>
            </a:r>
            <a:r>
              <a:rPr lang="es-419" sz="1800" b="1" dirty="0">
                <a:solidFill>
                  <a:srgbClr val="FF0000"/>
                </a:solidFill>
                <a:latin typeface="+mn-lt"/>
              </a:rPr>
              <a:t>D1</a:t>
            </a:r>
            <a:r>
              <a:rPr lang="es-419" sz="1800" dirty="0">
                <a:solidFill>
                  <a:srgbClr val="000000"/>
                </a:solidFill>
                <a:latin typeface="+mn-lt"/>
              </a:rPr>
              <a:t>, está conectado a dos hosts en diferentes VLAN. </a:t>
            </a:r>
          </a:p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800" b="1" dirty="0">
                <a:solidFill>
                  <a:srgbClr val="000000"/>
                </a:solidFill>
                <a:latin typeface="+mn-lt"/>
              </a:rPr>
              <a:t>PC1 </a:t>
            </a:r>
            <a:r>
              <a:rPr lang="es-419" sz="1800" dirty="0">
                <a:solidFill>
                  <a:srgbClr val="000000"/>
                </a:solidFill>
                <a:latin typeface="+mn-lt"/>
              </a:rPr>
              <a:t>está en </a:t>
            </a:r>
            <a:r>
              <a:rPr lang="es-419" sz="1800" b="1" dirty="0">
                <a:solidFill>
                  <a:srgbClr val="000000"/>
                </a:solidFill>
                <a:latin typeface="+mn-lt"/>
              </a:rPr>
              <a:t>VLAN 10</a:t>
            </a:r>
            <a:r>
              <a:rPr lang="es-419" sz="1800" dirty="0">
                <a:solidFill>
                  <a:srgbClr val="000000"/>
                </a:solidFill>
                <a:latin typeface="+mn-lt"/>
              </a:rPr>
              <a:t> y </a:t>
            </a:r>
            <a:r>
              <a:rPr lang="es-419" sz="1800" b="1" dirty="0">
                <a:solidFill>
                  <a:srgbClr val="000000"/>
                </a:solidFill>
                <a:latin typeface="+mn-lt"/>
              </a:rPr>
              <a:t>PC2</a:t>
            </a:r>
            <a:r>
              <a:rPr lang="es-419" sz="1800" dirty="0">
                <a:solidFill>
                  <a:srgbClr val="000000"/>
                </a:solidFill>
                <a:latin typeface="+mn-lt"/>
              </a:rPr>
              <a:t> está en </a:t>
            </a:r>
            <a:r>
              <a:rPr lang="es-419" sz="1800" b="1" dirty="0">
                <a:solidFill>
                  <a:srgbClr val="000000"/>
                </a:solidFill>
                <a:latin typeface="+mn-lt"/>
              </a:rPr>
              <a:t>VLAN 20</a:t>
            </a:r>
            <a:r>
              <a:rPr lang="es-419" sz="18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 rtl="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rgbClr val="000000"/>
                </a:solidFill>
                <a:latin typeface="+mn-lt"/>
              </a:rPr>
              <a:t>El switch de capa 3 proporcionará servicios de ruteo entre VLANs a los dos hosts.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38074" y="2205992"/>
            <a:ext cx="4775718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570991339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82823" y="689089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302" y="3248520"/>
            <a:ext cx="4289715" cy="331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14FB045-60AC-9791-10AD-DD3D24F9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26" y="1572523"/>
            <a:ext cx="8887049" cy="4214359"/>
          </a:xfrm>
        </p:spPr>
        <p:txBody>
          <a:bodyPr/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419" sz="2000" dirty="0">
                <a:solidFill>
                  <a:srgbClr val="000000"/>
                </a:solidFill>
              </a:rPr>
              <a:t>Pasos para configurar el switch multicapa </a:t>
            </a:r>
            <a:r>
              <a:rPr lang="es-419" sz="2000" b="1" dirty="0">
                <a:solidFill>
                  <a:srgbClr val="FF0000"/>
                </a:solidFill>
              </a:rPr>
              <a:t>D1</a:t>
            </a:r>
            <a:r>
              <a:rPr lang="es-419" sz="2000" dirty="0">
                <a:solidFill>
                  <a:srgbClr val="000000"/>
                </a:solidFill>
              </a:rPr>
              <a:t>:</a:t>
            </a:r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b="1" dirty="0">
                <a:solidFill>
                  <a:srgbClr val="000000"/>
                </a:solidFill>
              </a:rPr>
              <a:t>Paso 1</a:t>
            </a:r>
            <a:r>
              <a:rPr lang="es-419" sz="2000" dirty="0">
                <a:solidFill>
                  <a:srgbClr val="000000"/>
                </a:solidFill>
              </a:rPr>
              <a:t>. </a:t>
            </a:r>
            <a:r>
              <a:rPr lang="es-419" sz="2000" b="1" dirty="0">
                <a:solidFill>
                  <a:srgbClr val="000000"/>
                </a:solidFill>
              </a:rPr>
              <a:t>Cree las VLAN</a:t>
            </a:r>
            <a:r>
              <a:rPr lang="es-419" sz="2000" dirty="0">
                <a:solidFill>
                  <a:srgbClr val="000000"/>
                </a:solidFill>
              </a:rPr>
              <a:t>. En el ejemplo, se utilizan VLAN 10 y 20. </a:t>
            </a:r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b="1" dirty="0">
                <a:solidFill>
                  <a:srgbClr val="000000"/>
                </a:solidFill>
              </a:rPr>
              <a:t>Paso 2</a:t>
            </a:r>
            <a:r>
              <a:rPr lang="es-419" sz="2000" dirty="0">
                <a:solidFill>
                  <a:srgbClr val="000000"/>
                </a:solidFill>
              </a:rPr>
              <a:t>. </a:t>
            </a:r>
            <a:r>
              <a:rPr lang="es-419" sz="2000" b="1" dirty="0">
                <a:solidFill>
                  <a:srgbClr val="000000"/>
                </a:solidFill>
              </a:rPr>
              <a:t>Cree las interfaces VLAN</a:t>
            </a:r>
            <a:r>
              <a:rPr lang="es-419" sz="2000" dirty="0">
                <a:solidFill>
                  <a:srgbClr val="000000"/>
                </a:solidFill>
              </a:rPr>
              <a:t>. La dirección IP configurada servirá como puerta de enlace predeterminada para los hosts de la VLAN respectiva. 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008F7F-5DB7-DCBF-C839-A922C4D45773}"/>
              </a:ext>
            </a:extLst>
          </p:cNvPr>
          <p:cNvSpPr txBox="1"/>
          <p:nvPr/>
        </p:nvSpPr>
        <p:spPr>
          <a:xfrm>
            <a:off x="294943" y="3689200"/>
            <a:ext cx="3296095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1400" dirty="0"/>
              <a:t>int </a:t>
            </a:r>
            <a:r>
              <a:rPr lang="es-MX" sz="1400" b="1" dirty="0"/>
              <a:t>vlan 10</a:t>
            </a:r>
          </a:p>
          <a:p>
            <a:pPr algn="l"/>
            <a:r>
              <a:rPr lang="es-MX" sz="1400" dirty="0"/>
              <a:t>ip address 192.168.10.1 255.255.255.0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430DF9-9804-F43B-6420-3B9AEC7BCC5C}"/>
              </a:ext>
            </a:extLst>
          </p:cNvPr>
          <p:cNvSpPr txBox="1"/>
          <p:nvPr/>
        </p:nvSpPr>
        <p:spPr>
          <a:xfrm>
            <a:off x="5552963" y="3643601"/>
            <a:ext cx="3296095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MX" sz="1400" dirty="0"/>
              <a:t>int </a:t>
            </a:r>
            <a:r>
              <a:rPr lang="es-MX" sz="1400" b="1" dirty="0"/>
              <a:t>vlan 20</a:t>
            </a:r>
          </a:p>
          <a:p>
            <a:pPr algn="l"/>
            <a:r>
              <a:rPr lang="es-MX" sz="1400" dirty="0"/>
              <a:t>ip address 192.168.20.1 255.255.255.0</a:t>
            </a:r>
          </a:p>
        </p:txBody>
      </p:sp>
    </p:spTree>
    <p:extLst>
      <p:ext uri="{BB962C8B-B14F-4D97-AF65-F5344CB8AC3E}">
        <p14:creationId xmlns:p14="http://schemas.microsoft.com/office/powerpoint/2010/main" val="1426920317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5C2AD6E-2EFF-232B-DAD5-90AE170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11840" y="2630606"/>
            <a:ext cx="4289715" cy="331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6" y="629921"/>
            <a:ext cx="8772157" cy="838200"/>
          </a:xfrm>
        </p:spPr>
        <p:txBody>
          <a:bodyPr/>
          <a:lstStyle/>
          <a:p>
            <a:pPr algn="ctr" eaLnBrk="1" hangingPunct="1"/>
            <a:r>
              <a:rPr lang="en-US" sz="1800" dirty="0"/>
              <a:t>
</a:t>
            </a:r>
            <a:r>
              <a:rPr lang="es-ES" sz="2800" dirty="0">
                <a:latin typeface="Arial" charset="0"/>
              </a:rPr>
              <a:t>Enrutamiento entre VLANs mediante switches capa 3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14FB045-60AC-9791-10AD-DD3D24F9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37" y="1679681"/>
            <a:ext cx="8377789" cy="1111651"/>
          </a:xfrm>
        </p:spPr>
        <p:txBody>
          <a:bodyPr/>
          <a:lstStyle/>
          <a:p>
            <a:pPr marL="342900" indent="-342900" algn="just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b="1" dirty="0">
                <a:solidFill>
                  <a:srgbClr val="000000"/>
                </a:solidFill>
              </a:rPr>
              <a:t>Paso 3</a:t>
            </a:r>
            <a:r>
              <a:rPr lang="es-419" sz="2000" dirty="0">
                <a:solidFill>
                  <a:srgbClr val="000000"/>
                </a:solidFill>
              </a:rPr>
              <a:t>.</a:t>
            </a:r>
            <a:r>
              <a:rPr lang="es-419" sz="2000" b="1" dirty="0">
                <a:solidFill>
                  <a:srgbClr val="000000"/>
                </a:solidFill>
              </a:rPr>
              <a:t> Configure los puertos de acceso.</a:t>
            </a:r>
            <a:r>
              <a:rPr lang="es-419" sz="2000" dirty="0">
                <a:solidFill>
                  <a:srgbClr val="000000"/>
                </a:solidFill>
              </a:rPr>
              <a:t> Asigne el puerto apropiado a la VLAN requerida.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2923057-A2A3-50AD-2379-0C075FC58263}"/>
              </a:ext>
            </a:extLst>
          </p:cNvPr>
          <p:cNvSpPr txBox="1">
            <a:spLocks/>
          </p:cNvSpPr>
          <p:nvPr/>
        </p:nvSpPr>
        <p:spPr bwMode="auto">
          <a:xfrm>
            <a:off x="128537" y="2726860"/>
            <a:ext cx="4289715" cy="316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-2286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b="1" kern="0" dirty="0">
                <a:solidFill>
                  <a:srgbClr val="000000"/>
                </a:solidFill>
              </a:rPr>
              <a:t>Paso 4</a:t>
            </a:r>
            <a:r>
              <a:rPr lang="es-419" sz="2000" kern="0" dirty="0">
                <a:solidFill>
                  <a:srgbClr val="000000"/>
                </a:solidFill>
              </a:rPr>
              <a:t>. </a:t>
            </a:r>
            <a:r>
              <a:rPr lang="es-419" sz="2000" b="1" kern="0" dirty="0">
                <a:solidFill>
                  <a:srgbClr val="000000"/>
                </a:solidFill>
              </a:rPr>
              <a:t>Habilite el ruteo IP.</a:t>
            </a:r>
            <a:r>
              <a:rPr lang="es-419" sz="2000" kern="0" dirty="0">
                <a:solidFill>
                  <a:srgbClr val="000000"/>
                </a:solidFill>
              </a:rPr>
              <a:t> Ejecute el comando </a:t>
            </a:r>
            <a:r>
              <a:rPr lang="es-419" sz="2000" b="1" kern="0" dirty="0">
                <a:solidFill>
                  <a:srgbClr val="FF0000"/>
                </a:solidFill>
              </a:rPr>
              <a:t>ip </a:t>
            </a:r>
            <a:r>
              <a:rPr lang="es-419" sz="2000" b="1" kern="0" dirty="0" err="1">
                <a:solidFill>
                  <a:srgbClr val="FF0000"/>
                </a:solidFill>
              </a:rPr>
              <a:t>routing</a:t>
            </a:r>
            <a:r>
              <a:rPr lang="es-419" sz="2000" b="1" kern="0" dirty="0">
                <a:solidFill>
                  <a:srgbClr val="FF0000"/>
                </a:solidFill>
              </a:rPr>
              <a:t> </a:t>
            </a:r>
            <a:r>
              <a:rPr lang="es-419" sz="2000" kern="0" dirty="0">
                <a:solidFill>
                  <a:srgbClr val="000000"/>
                </a:solidFill>
              </a:rPr>
              <a:t>para permitir el intercambio de tráfico entre las VLANs. Este comando debe configurarse para habilitar el ruteo entre VLANs en un switch de capa 3.</a:t>
            </a:r>
            <a:endParaRPr lang="en-US" sz="2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237740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31230</TotalTime>
  <Pages>28</Pages>
  <Words>1246</Words>
  <Application>Microsoft Office PowerPoint</Application>
  <PresentationFormat>On-screen Show (4:3)</PresentationFormat>
  <Paragraphs>144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Courier New</vt:lpstr>
      <vt:lpstr>Wingdings</vt:lpstr>
      <vt:lpstr>PPT-TMPLT-WHT_C</vt:lpstr>
      <vt:lpstr>NetAcad-4F_PPT-WHT_060408</vt:lpstr>
      <vt:lpstr>VLANs</vt:lpstr>
      <vt:lpstr>Características de las VLANs</vt:lpstr>
      <vt:lpstr>Segmentación de VLAN</vt:lpstr>
      <vt:lpstr>Características de las VLANs</vt:lpstr>
      <vt:lpstr>Definiciones de una red VLAN</vt:lpstr>
      <vt:lpstr>Definiciones de una red VLAN</vt:lpstr>
      <vt:lpstr>Beneficios de las redes VLAN</vt:lpstr>
      <vt:lpstr>Beneficios de las redes VLAN</vt:lpstr>
      <vt:lpstr>Beneficios de las redes VLAN</vt:lpstr>
      <vt:lpstr>Tipos de redes VLAN</vt:lpstr>
      <vt:lpstr>Tipos de redes VLAN</vt:lpstr>
      <vt:lpstr>Redes VLAN de voz</vt:lpstr>
      <vt:lpstr>Redes VLAN
Enlaces troncales</vt:lpstr>
      <vt:lpstr>Redes VLAN
Enlaces troncales</vt:lpstr>
      <vt:lpstr>Las VLANs controlan los dominios de broadcast</vt:lpstr>
      <vt:lpstr>Tipos de redes VLAN</vt:lpstr>
      <vt:lpstr>Base de datos de las VLANs</vt:lpstr>
      <vt:lpstr>Implementaciones de VLAN</vt:lpstr>
      <vt:lpstr>
Rangos de VLAN en switches</vt:lpstr>
      <vt:lpstr>Creación de una VLAN</vt:lpstr>
      <vt:lpstr>Asignación de puertos a las VLANs</vt:lpstr>
      <vt:lpstr>
Asignación de puertos a redes VLAN</vt:lpstr>
      <vt:lpstr>Asignación de puertos a redes VLAN</vt:lpstr>
      <vt:lpstr>
Verificar la información de una red VLAN</vt:lpstr>
      <vt:lpstr>
Configurar enlaces troncales IEEE 802.1q</vt:lpstr>
      <vt:lpstr>
Configurar enlaces troncales</vt:lpstr>
      <vt:lpstr>Pasos para configurar VLANs en los switches</vt:lpstr>
      <vt:lpstr>Ruteo entre redes VLAN con routers</vt:lpstr>
      <vt:lpstr>¿Qué es el ruteo entre VLANs?</vt:lpstr>
      <vt:lpstr>
Ruteo entre VLANs con router-on-a-stick</vt:lpstr>
      <vt:lpstr>Configurar router-on-a-stick: Switch</vt:lpstr>
      <vt:lpstr>Configurar router-on-a-stick: Router</vt:lpstr>
      <vt:lpstr>Routing entre redes VLAN con switches capa 3</vt:lpstr>
      <vt:lpstr>
Routing entre VLANs en un switch capa 3</vt:lpstr>
      <vt:lpstr>
Ruteo entre VLANs en un switch capa 3</vt:lpstr>
      <vt:lpstr>
Enrutamiento entre VLANs mediante switches capa 3</vt:lpstr>
      <vt:lpstr>
Enrutamiento entre VLANs mediante switches capa 3</vt:lpstr>
      <vt:lpstr>
Enrutamiento entre VLANs mediante switches capa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Lizethe Pérez Fuertes</cp:lastModifiedBy>
  <cp:revision>1104</cp:revision>
  <cp:lastPrinted>1999-01-27T00:54:54Z</cp:lastPrinted>
  <dcterms:created xsi:type="dcterms:W3CDTF">2006-10-23T15:07:30Z</dcterms:created>
  <dcterms:modified xsi:type="dcterms:W3CDTF">2025-03-24T23:14:20Z</dcterms:modified>
</cp:coreProperties>
</file>