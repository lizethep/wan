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  <p:sldMasterId id="2147483945" r:id="rId2"/>
  </p:sldMasterIdLst>
  <p:notesMasterIdLst>
    <p:notesMasterId r:id="rId20"/>
  </p:notesMasterIdLst>
  <p:handoutMasterIdLst>
    <p:handoutMasterId r:id="rId21"/>
  </p:handoutMasterIdLst>
  <p:sldIdLst>
    <p:sldId id="500" r:id="rId3"/>
    <p:sldId id="791" r:id="rId4"/>
    <p:sldId id="991" r:id="rId5"/>
    <p:sldId id="1051" r:id="rId6"/>
    <p:sldId id="1052" r:id="rId7"/>
    <p:sldId id="1055" r:id="rId8"/>
    <p:sldId id="1056" r:id="rId9"/>
    <p:sldId id="1057" r:id="rId10"/>
    <p:sldId id="912" r:id="rId11"/>
    <p:sldId id="1089" r:id="rId12"/>
    <p:sldId id="913" r:id="rId13"/>
    <p:sldId id="1061" r:id="rId14"/>
    <p:sldId id="1087" r:id="rId15"/>
    <p:sldId id="976" r:id="rId16"/>
    <p:sldId id="1073" r:id="rId17"/>
    <p:sldId id="1074" r:id="rId18"/>
    <p:sldId id="1090" r:id="rId19"/>
  </p:sldIdLst>
  <p:sldSz cx="9144000" cy="6858000" type="screen4x3"/>
  <p:notesSz cx="7010400" cy="9296400"/>
  <p:defaultTextStyle>
    <a:defPPr>
      <a:defRPr lang="en-US"/>
    </a:defPPr>
    <a:lvl1pPr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ane Gibbons" initials="JG" lastIdx="12" clrIdx="0"/>
  <p:cmAuthor id="1" name="Rodrigo Floriano" initials="RF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0C4"/>
    <a:srgbClr val="678DC5"/>
    <a:srgbClr val="3E67A4"/>
    <a:srgbClr val="3E8DC5"/>
    <a:srgbClr val="5F5F65"/>
    <a:srgbClr val="7E7E86"/>
    <a:srgbClr val="FFFFFF"/>
    <a:srgbClr val="8E8E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7352" autoAdjust="0"/>
    <p:restoredTop sz="94796" autoAdjust="0"/>
  </p:normalViewPr>
  <p:slideViewPr>
    <p:cSldViewPr snapToGrid="0">
      <p:cViewPr varScale="1">
        <p:scale>
          <a:sx n="107" d="100"/>
          <a:sy n="107" d="100"/>
        </p:scale>
        <p:origin x="234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22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606"/>
    </p:cViewPr>
  </p:sorterViewPr>
  <p:notesViewPr>
    <p:cSldViewPr snapToGrid="0">
      <p:cViewPr>
        <p:scale>
          <a:sx n="100" d="100"/>
          <a:sy n="100" d="100"/>
        </p:scale>
        <p:origin x="-3420" y="426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commentAuthors" Target="commentAuthor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0.xml"/><Relationship Id="rId13" Type="http://schemas.openxmlformats.org/officeDocument/2006/relationships/slide" Target="slides/slide17.xml"/><Relationship Id="rId3" Type="http://schemas.openxmlformats.org/officeDocument/2006/relationships/slide" Target="slides/slide5.xml"/><Relationship Id="rId7" Type="http://schemas.openxmlformats.org/officeDocument/2006/relationships/slide" Target="slides/slide9.xml"/><Relationship Id="rId12" Type="http://schemas.openxmlformats.org/officeDocument/2006/relationships/slide" Target="slides/slide16.xml"/><Relationship Id="rId2" Type="http://schemas.openxmlformats.org/officeDocument/2006/relationships/slide" Target="slides/slide4.xml"/><Relationship Id="rId1" Type="http://schemas.openxmlformats.org/officeDocument/2006/relationships/slide" Target="slides/slide3.xml"/><Relationship Id="rId6" Type="http://schemas.openxmlformats.org/officeDocument/2006/relationships/slide" Target="slides/slide8.xml"/><Relationship Id="rId11" Type="http://schemas.openxmlformats.org/officeDocument/2006/relationships/slide" Target="slides/slide15.xml"/><Relationship Id="rId5" Type="http://schemas.openxmlformats.org/officeDocument/2006/relationships/slide" Target="slides/slide7.xml"/><Relationship Id="rId10" Type="http://schemas.openxmlformats.org/officeDocument/2006/relationships/slide" Target="slides/slide13.xml"/><Relationship Id="rId4" Type="http://schemas.openxmlformats.org/officeDocument/2006/relationships/slide" Target="slides/slide6.xml"/><Relationship Id="rId9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1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3" name="Rectangle 12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s-ES" sz="800"/>
              <a:t>© 2006 Cisco Systems, Inc. Todos los derechos reservados.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s-ES" sz="800"/>
              <a:t>Presentation_ID.scr</a:t>
            </a:r>
          </a:p>
        </p:txBody>
      </p:sp>
      <p:sp>
        <p:nvSpPr>
          <p:cNvPr id="5124" name="Line 13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5" name="Rectangle 14"/>
          <p:cNvSpPr>
            <a:spLocks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/>
          <a:p>
            <a:pPr algn="r" defTabSz="903288">
              <a:lnSpc>
                <a:spcPct val="100000"/>
              </a:lnSpc>
            </a:pPr>
            <a:fld id="{22244E67-557B-7741-B9F5-F61AA18495DF}" type="slidenum">
              <a:rPr lang="en-US" sz="800"/>
              <a:pPr algn="r" defTabSz="903288">
                <a:lnSpc>
                  <a:spcPct val="100000"/>
                </a:lnSpc>
              </a:pPr>
              <a:t>‹#›</a:t>
            </a:fld>
            <a:endParaRPr lang="es-ES" sz="800"/>
          </a:p>
        </p:txBody>
      </p:sp>
    </p:spTree>
    <p:extLst>
      <p:ext uri="{BB962C8B-B14F-4D97-AF65-F5344CB8AC3E}">
        <p14:creationId xmlns:p14="http://schemas.microsoft.com/office/powerpoint/2010/main" val="21810151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" name="Rectangle 9"/>
          <p:cNvSpPr>
            <a:spLocks noChangeArrowheads="1"/>
          </p:cNvSpPr>
          <p:nvPr/>
        </p:nvSpPr>
        <p:spPr bwMode="auto">
          <a:xfrm>
            <a:off x="57150" y="8785225"/>
            <a:ext cx="4075012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s-ES" sz="800" dirty="0"/>
              <a:t>© 2006 Cisco </a:t>
            </a:r>
            <a:r>
              <a:rPr lang="es-ES" sz="800" dirty="0" err="1"/>
              <a:t>Systems</a:t>
            </a:r>
            <a:r>
              <a:rPr lang="es-ES" sz="800" dirty="0"/>
              <a:t>, Inc. Todos los derechos reservados.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s-ES" sz="800" dirty="0"/>
              <a:t>Presentation_ID.scr</a:t>
            </a:r>
          </a:p>
        </p:txBody>
      </p:sp>
      <p:sp>
        <p:nvSpPr>
          <p:cNvPr id="6148" name="Line 10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3307" name="Rectangle 1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819" tIns="0" rIns="18819" bIns="0" numCol="1" anchor="b" anchorCtr="0" compatLnSpc="1">
            <a:prstTxWarp prst="textNoShape">
              <a:avLst/>
            </a:prstTxWarp>
          </a:bodyPr>
          <a:lstStyle>
            <a:lvl1pPr algn="r" defTabSz="903288">
              <a:lnSpc>
                <a:spcPct val="100000"/>
              </a:lnSpc>
              <a:defRPr sz="800" smtClean="0">
                <a:cs typeface="+mn-cs"/>
              </a:defRPr>
            </a:lvl1pPr>
          </a:lstStyle>
          <a:p>
            <a:pPr>
              <a:defRPr/>
            </a:pPr>
            <a:fld id="{F4CE0E46-7F05-B940-8356-5580BE265E49}" type="slidenum">
              <a:rPr lang="en-US"/>
              <a:pPr>
                <a:defRPr/>
              </a:pPr>
              <a:t>‹#›</a:t>
            </a:fld>
            <a:endParaRPr lang="es-ES"/>
          </a:p>
        </p:txBody>
      </p:sp>
      <p:sp>
        <p:nvSpPr>
          <p:cNvPr id="6150" name="Rectangle 1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3125" y="244475"/>
            <a:ext cx="5321300" cy="3990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:mc="http://schemas.openxmlformats.org/markup-compatibility/2006" xmlns:a14="http://schemas.microsoft.com/office/drawing/2010/main" xmlns:c="http://schemas.openxmlformats.org/drawingml/2006/chart" xmlns:dgm="http://schemas.openxmlformats.org/drawingml/2006/diagram" xmlns:cdr="http://schemas.openxmlformats.org/drawingml/2006/chartDrawing" xmlns:wne="http://schemas.microsoft.com/office/powerpoint/2006/powerpointml" xmlns:wp="http://schemas.openxmlformats.org/drawingml/2006/powerpointprocessingDrawing" xmlns:v="urn:schemas-microsoft-com:vml" xmlns:o="urn:schemas-microsoft-com:office:office" xmlns="" val="1"/>
            </a:ext>
          </a:extLst>
        </p:spPr>
      </p:sp>
      <p:sp>
        <p:nvSpPr>
          <p:cNvPr id="183309" name="Rectangle 1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68350" y="4378325"/>
            <a:ext cx="5468938" cy="425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67" tIns="50185" rIns="95667" bIns="501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Body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26460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1020763" rtl="0" eaLnBrk="0" fontAlgn="base" hangingPunct="0">
      <a:lnSpc>
        <a:spcPct val="90000"/>
      </a:lnSpc>
      <a:spcBef>
        <a:spcPct val="50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82600" indent="-120650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667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4493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9319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CD9030C1-C977-B14B-8EB7-BA2B30FCDB63}" type="slidenum">
              <a:rPr lang="en-US" sz="800"/>
              <a:pPr/>
              <a:t>1</a:t>
            </a:fld>
            <a:endParaRPr lang="es-ES" sz="80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s-ES" b="0" dirty="0"/>
              <a:t>Programa Cisco Networking Academy</a:t>
            </a:r>
          </a:p>
          <a:p>
            <a:pPr>
              <a:buFontTx/>
              <a:buNone/>
            </a:pPr>
            <a:r>
              <a:rPr lang="es-ES" b="0" dirty="0"/>
              <a:t>Routing and Switching Essentials v6.0</a:t>
            </a:r>
          </a:p>
          <a:p>
            <a:pPr>
              <a:buFontTx/>
              <a:buNone/>
            </a:pPr>
            <a:r>
              <a:rPr lang="es-ES" sz="1200" dirty="0">
                <a:latin typeface="Arial" charset="0"/>
              </a:rPr>
              <a:t>Capítulo 7: Listas de control de acceso</a:t>
            </a:r>
            <a:endParaRPr lang="es-ES" b="0" dirty="0"/>
          </a:p>
        </p:txBody>
      </p:sp>
    </p:spTree>
    <p:extLst>
      <p:ext uri="{BB962C8B-B14F-4D97-AF65-F5344CB8AC3E}">
        <p14:creationId xmlns:p14="http://schemas.microsoft.com/office/powerpoint/2010/main" val="476943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02A389-8690-465F-BB28-DC61C90E42E7}" type="slidenum">
              <a:rPr lang="en-US" smtClean="0"/>
              <a:pPr/>
              <a:t>2</a:t>
            </a:fld>
            <a:endParaRPr lang="es-ES" dirty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s-ES" b="0" dirty="0"/>
              <a:t>Cisco Networking Academy Program</a:t>
            </a:r>
          </a:p>
          <a:p>
            <a:pPr>
              <a:buFontTx/>
              <a:buNone/>
            </a:pPr>
            <a:r>
              <a:rPr lang="es-ES" b="0" baseline="0" dirty="0"/>
              <a:t>Routing and Switching Essentials v6.0</a:t>
            </a:r>
            <a:endParaRPr lang="es-ES" b="0" dirty="0"/>
          </a:p>
          <a:p>
            <a:pPr>
              <a:buFontTx/>
              <a:buNone/>
            </a:pPr>
            <a:r>
              <a:rPr lang="es-ES" sz="1200" b="0" dirty="0"/>
              <a:t>Capítulo 7: Listas de control de acceso</a:t>
            </a:r>
            <a:endParaRPr lang="es-ES" b="0" dirty="0"/>
          </a:p>
        </p:txBody>
      </p:sp>
    </p:spTree>
    <p:extLst>
      <p:ext uri="{BB962C8B-B14F-4D97-AF65-F5344CB8AC3E}">
        <p14:creationId xmlns:p14="http://schemas.microsoft.com/office/powerpoint/2010/main" val="2867733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3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7.1 – </a:t>
            </a:r>
            <a:r>
              <a:rPr lang="es-ES" dirty="0"/>
              <a:t>Funcionamiento de una ACL</a:t>
            </a:r>
            <a:endParaRPr lang="es-E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7.1.1 – Propósito de las listas ACL</a:t>
            </a:r>
            <a:endParaRPr lang="es-ES" dirty="0"/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7.1.1.1 – ¿Qué es una ACL?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4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7.1 – </a:t>
            </a:r>
            <a:r>
              <a:rPr lang="es-ES"/>
              <a:t>Funcionamiento de una ACL</a:t>
            </a:r>
            <a:endParaRPr lang="es-E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7.1.1 – Propósito de las listas ACL</a:t>
            </a:r>
            <a:endParaRPr lang="es-ES" dirty="0"/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7.1.1.2 – Filtrado de paquetes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5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7.1 – </a:t>
            </a:r>
            <a:r>
              <a:rPr lang="es-ES"/>
              <a:t>Funcionamiento de una ACL</a:t>
            </a:r>
            <a:endParaRPr lang="es-E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7.1.1 – Propósito de las listas ACL</a:t>
            </a:r>
            <a:endParaRPr lang="es-ES" dirty="0"/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7.1.1.3 – Funcionamiento de una ACL</a:t>
            </a:r>
          </a:p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6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7.1 – </a:t>
            </a:r>
            <a:r>
              <a:rPr lang="es-ES" dirty="0"/>
              <a:t>Funcionamiento de una ACL</a:t>
            </a:r>
            <a:endParaRPr lang="es-E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7.1.2 – Máscaras de comodín en listas ACL</a:t>
            </a:r>
            <a:endParaRPr lang="es-ES" dirty="0"/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7.1.2.3 – Cálculo de la máscara de comodín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7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7.1 – </a:t>
            </a:r>
            <a:r>
              <a:rPr lang="es-ES" dirty="0"/>
              <a:t>Funcionamiento de una ACL</a:t>
            </a:r>
            <a:endParaRPr lang="es-E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7.1.2 – Máscaras de comodín en listas ACL</a:t>
            </a:r>
            <a:endParaRPr lang="es-ES" dirty="0"/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7.1.2.4 – Palabras clave de una máscara de comodín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8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7.1 – </a:t>
            </a:r>
            <a:r>
              <a:rPr lang="es-ES" dirty="0"/>
              <a:t>Funcionamiento de una ACL</a:t>
            </a:r>
            <a:endParaRPr lang="es-E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7.1.2 – Máscaras de comodín en listas ACL</a:t>
            </a:r>
            <a:endParaRPr lang="es-ES" dirty="0"/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7.1.2.5 – Ejemplos de palabras clave de una máscara de comodín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9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7.1 – </a:t>
            </a:r>
            <a:r>
              <a:rPr lang="es-ES" dirty="0"/>
              <a:t>Funcionamiento de una ACL</a:t>
            </a:r>
            <a:endParaRPr lang="es-E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7.1.4 – Pautas para la ubicación de listas ACL</a:t>
            </a:r>
            <a:endParaRPr lang="es-ES" dirty="0"/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7.1.4.1 – ¿Dónde ubicar las listas ACL?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10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7.1 – </a:t>
            </a:r>
            <a:r>
              <a:rPr lang="es-ES" dirty="0"/>
              <a:t>Funcionamiento de una ACL</a:t>
            </a:r>
            <a:endParaRPr lang="es-E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7.1.4 – Pautas para la ubicación de listas ACL</a:t>
            </a:r>
            <a:endParaRPr lang="es-ES" dirty="0"/>
          </a:p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dirty="0">
                <a:latin typeface="Arial" charset="0"/>
              </a:rPr>
              <a:t>7.1.4.1 – ¿Dónde ubicar las listas ACL?</a:t>
            </a:r>
            <a:endParaRPr lang="es-ES" dirty="0"/>
          </a:p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02A389-8690-465F-BB28-DC61C90E42E7}" type="slidenum">
              <a:rPr lang="en-US" smtClean="0"/>
              <a:pPr/>
              <a:t>11</a:t>
            </a:fld>
            <a:endParaRPr lang="es-ES" dirty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s-ES" b="0" dirty="0"/>
              <a:t>Cisco Networking Academy Program</a:t>
            </a:r>
          </a:p>
          <a:p>
            <a:pPr>
              <a:buFontTx/>
              <a:buNone/>
            </a:pPr>
            <a:r>
              <a:rPr lang="es-ES" b="0" dirty="0"/>
              <a:t>Routing and Switching Essentials v6.0</a:t>
            </a:r>
          </a:p>
          <a:p>
            <a:pPr>
              <a:buFontTx/>
              <a:buNone/>
            </a:pPr>
            <a:r>
              <a:rPr lang="es-ES" sz="1200" b="0" dirty="0"/>
              <a:t>Capítulo 7: VLAN</a:t>
            </a:r>
            <a:endParaRPr lang="es-ES" b="0" dirty="0"/>
          </a:p>
        </p:txBody>
      </p:sp>
    </p:spTree>
    <p:extLst>
      <p:ext uri="{BB962C8B-B14F-4D97-AF65-F5344CB8AC3E}">
        <p14:creationId xmlns:p14="http://schemas.microsoft.com/office/powerpoint/2010/main" val="21962705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12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7.2 – </a:t>
            </a:r>
            <a:r>
              <a:rPr lang="es-ES" sz="1200" dirty="0">
                <a:latin typeface="Arial" charset="0"/>
              </a:rPr>
              <a:t>Listas ACL de IPv4 estándares</a:t>
            </a:r>
            <a:endParaRPr lang="es-E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7.2.1 – Configurar listas ACL de IPv4 estándares</a:t>
            </a:r>
            <a:endParaRPr lang="es-ES" dirty="0"/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7.2.1.1 – Sintaxis de una ACL de IPv4 estándar numerada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13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7.2 – </a:t>
            </a:r>
            <a:r>
              <a:rPr lang="es-ES" sz="1200" dirty="0">
                <a:latin typeface="Arial" charset="0"/>
              </a:rPr>
              <a:t>Listas ACL de IPv4 estándares</a:t>
            </a:r>
            <a:endParaRPr lang="es-E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7.2.2 – Modificar listas ACL de IPv4</a:t>
            </a:r>
            <a:endParaRPr lang="es-ES" dirty="0"/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7.2.2.4 – Verificar listas ACL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02A389-8690-465F-BB28-DC61C90E42E7}" type="slidenum">
              <a:rPr lang="en-US" smtClean="0"/>
              <a:pPr/>
              <a:t>14</a:t>
            </a:fld>
            <a:endParaRPr lang="es-ES" dirty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s-ES" b="0" dirty="0"/>
              <a:t>Cisco Networking Academy Program</a:t>
            </a:r>
          </a:p>
          <a:p>
            <a:pPr>
              <a:buFontTx/>
              <a:buNone/>
            </a:pPr>
            <a:r>
              <a:rPr lang="es-ES" b="0" dirty="0"/>
              <a:t>Routing and Switching Essentials v6.0</a:t>
            </a:r>
          </a:p>
          <a:p>
            <a:pPr>
              <a:buFontTx/>
              <a:buNone/>
            </a:pPr>
            <a:r>
              <a:rPr lang="es-ES" sz="1200" b="0" dirty="0"/>
              <a:t>Capítulo 7: Listas de control de acceso</a:t>
            </a:r>
            <a:endParaRPr lang="es-ES" b="0" dirty="0"/>
          </a:p>
        </p:txBody>
      </p:sp>
    </p:spTree>
    <p:extLst>
      <p:ext uri="{BB962C8B-B14F-4D97-AF65-F5344CB8AC3E}">
        <p14:creationId xmlns:p14="http://schemas.microsoft.com/office/powerpoint/2010/main" val="28825558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15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7.3 – </a:t>
            </a:r>
            <a:r>
              <a:rPr lang="es-ES" sz="1200" dirty="0">
                <a:latin typeface="Arial" charset="0"/>
              </a:rPr>
              <a:t>Solución de problemas en listas ACL</a:t>
            </a:r>
            <a:endParaRPr lang="es-E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7.3.1 – Procesar paquetes con listas ACL</a:t>
            </a:r>
            <a:endParaRPr lang="es-ES" dirty="0"/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7.3.1.1 – Denegar todo implícito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16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7.3 – </a:t>
            </a:r>
            <a:r>
              <a:rPr lang="es-ES" sz="1200" dirty="0">
                <a:latin typeface="Arial" charset="0"/>
              </a:rPr>
              <a:t>Solución de problemas en listas ACL</a:t>
            </a:r>
            <a:endParaRPr lang="es-E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7.3.1 – Procesar paquetes con listas ACL</a:t>
            </a:r>
            <a:endParaRPr lang="es-ES" dirty="0"/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7.3.1.2 – El orden de las ACE en una ACL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17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7.3 – </a:t>
            </a:r>
            <a:r>
              <a:rPr lang="es-ES" sz="1200" dirty="0">
                <a:latin typeface="Arial" charset="0"/>
              </a:rPr>
              <a:t>Solución de problemas en listas ACL</a:t>
            </a:r>
            <a:endParaRPr lang="es-E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7.3.1 – Procesar paquetes con listas ACL</a:t>
            </a:r>
            <a:endParaRPr lang="es-ES" dirty="0"/>
          </a:p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dirty="0">
                <a:latin typeface="Arial" charset="0"/>
              </a:rPr>
              <a:t>7.3.1.2 – El orden de las ACE en una ACL</a:t>
            </a:r>
            <a:endParaRPr lang="es-ES" dirty="0"/>
          </a:p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_CoverArt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93888"/>
            <a:ext cx="9140825" cy="244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222644" y="6670529"/>
            <a:ext cx="2900576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ctr" defTabSz="814388">
              <a:lnSpc>
                <a:spcPct val="100000"/>
              </a:lnSpc>
            </a:pPr>
            <a:r>
              <a:rPr lang="es-ES" sz="700">
                <a:solidFill>
                  <a:srgbClr val="D3D3D3"/>
                </a:solidFill>
              </a:rPr>
              <a:t>© 2007 – 2010, Cisco Systems, Inc. Todos los derechos reservados.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123113" y="6670529"/>
            <a:ext cx="1316808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Información pública de Cisco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Capítulo 6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C7FBAF0-BCF5-8741-945F-3C6763791038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s-ES" sz="1000">
              <a:solidFill>
                <a:srgbClr val="D3D3D3"/>
              </a:solidFill>
            </a:endParaRPr>
          </a:p>
        </p:txBody>
      </p:sp>
      <p:pic>
        <p:nvPicPr>
          <p:cNvPr id="9" name="Picture 9" descr="Cisco_NewLogo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0" descr="Cisc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0247" name="Rectangle 7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9024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54027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702293"/>
            <a:ext cx="8145462" cy="838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638" y="1687390"/>
            <a:ext cx="7940675" cy="4720787"/>
          </a:xfrm>
        </p:spPr>
        <p:txBody>
          <a:bodyPr/>
          <a:lstStyle>
            <a:lvl2pPr marL="457200" indent="-22860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6097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1150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8947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0279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88369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4858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74995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1901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7525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6766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798513"/>
            <a:ext cx="8145462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55638" y="2014538"/>
            <a:ext cx="7940675" cy="3571875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697481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PPt_4face_021208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11350"/>
            <a:ext cx="9144000" cy="243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78"/>
          <p:cNvSpPr>
            <a:spLocks noChangeArrowheads="1"/>
          </p:cNvSpPr>
          <p:nvPr/>
        </p:nvSpPr>
        <p:spPr bwMode="auto">
          <a:xfrm>
            <a:off x="4222630" y="6670529"/>
            <a:ext cx="2575166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ctr" defTabSz="814388">
              <a:lnSpc>
                <a:spcPct val="100000"/>
              </a:lnSpc>
            </a:pPr>
            <a:r>
              <a:rPr lang="es-ES" sz="700">
                <a:solidFill>
                  <a:srgbClr val="D3D3D3"/>
                </a:solidFill>
              </a:rPr>
              <a:t>© 2008 Cisco Systems, Inc. Todos los derechos reservados.</a:t>
            </a:r>
          </a:p>
        </p:txBody>
      </p:sp>
      <p:sp>
        <p:nvSpPr>
          <p:cNvPr id="6" name="Rectangle 279"/>
          <p:cNvSpPr>
            <a:spLocks noChangeArrowheads="1"/>
          </p:cNvSpPr>
          <p:nvPr/>
        </p:nvSpPr>
        <p:spPr bwMode="auto">
          <a:xfrm>
            <a:off x="6896100" y="6670529"/>
            <a:ext cx="1505962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Información confidencial de Cisco</a:t>
            </a:r>
          </a:p>
        </p:txBody>
      </p:sp>
      <p:sp>
        <p:nvSpPr>
          <p:cNvPr id="7" name="Rectangle 280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8" name="Rectangle 281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7F1BC4EF-034A-F647-AA58-B71D58802FDB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s-ES" sz="1000">
              <a:solidFill>
                <a:srgbClr val="D3D3D3"/>
              </a:solidFill>
            </a:endParaRPr>
          </a:p>
        </p:txBody>
      </p:sp>
      <p:pic>
        <p:nvPicPr>
          <p:cNvPr id="9" name="Picture 331" descr="Cisco_NewLogo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33" descr="Cisc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9873" name="Rectangle 209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69874" name="Rectangle 210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848856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457200" indent="-22860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1047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28517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92319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43739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408482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85695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42533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74911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86291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1607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:mc="http://schemas.openxmlformats.org/markup-compatibility/2006" xmlns:a14="http://schemas.microsoft.com/office/drawing/2010/main" xmlns:c="http://schemas.openxmlformats.org/drawingml/2006/chart" xmlns:dgm="http://schemas.openxmlformats.org/drawingml/2006/diagram" xmlns:cdr="http://schemas.openxmlformats.org/drawingml/2006/chartDrawing" xmlns:wne="http://schemas.microsoft.com/office/powerpoint/2006/powerpointml" xmlns:wp="http://schemas.openxmlformats.org/drawingml/2006/powerpointprocessingDrawing" xmlns:v="urn:schemas-microsoft-com:vml" xmlns:o="urn:schemas-microsoft-com:office:office" xmlns="" val="1"/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1027" name="Rectangle 4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Capítulo 6</a:t>
            </a:r>
          </a:p>
        </p:txBody>
      </p:sp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28856D66-2D7E-BA44-8BF8-F720D8CAD36C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s-ES" sz="1000">
              <a:solidFill>
                <a:srgbClr val="D3D3D3"/>
              </a:solidFill>
            </a:endParaRPr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6398" y="2078328"/>
            <a:ext cx="7940675" cy="3950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:mc="http://schemas.openxmlformats.org/markup-compatibility/2006" xmlns:a14="http://schemas.microsoft.com/office/drawing/2010/main" xmlns:c="http://schemas.openxmlformats.org/drawingml/2006/chart" xmlns:dgm="http://schemas.openxmlformats.org/drawingml/2006/diagram" xmlns:cdr="http://schemas.openxmlformats.org/drawingml/2006/chartDrawing" xmlns:wne="http://schemas.microsoft.com/office/powerpoint/2006/powerpointml" xmlns:wp="http://schemas.openxmlformats.org/drawingml/2006/powerpointprocessingDrawing" xmlns:v="urn:schemas-microsoft-com:vml" xmlns:o="urn:schemas-microsoft-com:office:office" xmlns="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30" name="Picture 7" descr="PPt_TopBand_Artwork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08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4222644" y="6670529"/>
            <a:ext cx="2900576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ctr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© 2007 – 2010, Cisco </a:t>
            </a:r>
            <a:r>
              <a:rPr lang="es-ES" sz="700" dirty="0" err="1">
                <a:solidFill>
                  <a:srgbClr val="D3D3D3"/>
                </a:solidFill>
              </a:rPr>
              <a:t>Systems</a:t>
            </a:r>
            <a:r>
              <a:rPr lang="es-ES" sz="700" dirty="0">
                <a:solidFill>
                  <a:srgbClr val="D3D3D3"/>
                </a:solidFill>
              </a:rPr>
              <a:t>, Inc. Todos los derechos reservados.</a:t>
            </a:r>
          </a:p>
        </p:txBody>
      </p:sp>
      <p:sp>
        <p:nvSpPr>
          <p:cNvPr id="1032" name="Rectangle 9"/>
          <p:cNvSpPr>
            <a:spLocks noChangeArrowheads="1"/>
          </p:cNvSpPr>
          <p:nvPr/>
        </p:nvSpPr>
        <p:spPr bwMode="auto">
          <a:xfrm>
            <a:off x="7123113" y="6670529"/>
            <a:ext cx="1316808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Información pública de Cisco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5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</p:sldLayoutIdLst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ＭＳ Ｐゴシック" charset="0"/>
          <a:cs typeface="ＭＳ Ｐゴシック" charset="0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charset="0"/>
        <a:buChar char="§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0621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6146"/>
          <p:cNvSpPr>
            <a:spLocks noGrp="1" noChangeArrowheads="1"/>
          </p:cNvSpPr>
          <p:nvPr>
            <p:ph type="title"/>
          </p:nvPr>
        </p:nvSpPr>
        <p:spPr bwMode="auto">
          <a:xfrm>
            <a:off x="193868" y="394392"/>
            <a:ext cx="8772157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:mc="http://schemas.openxmlformats.org/markup-compatibility/2006" xmlns:a14="http://schemas.microsoft.com/office/drawing/2010/main" xmlns:c="http://schemas.openxmlformats.org/drawingml/2006/chart" xmlns:dgm="http://schemas.openxmlformats.org/drawingml/2006/diagram" xmlns:cdr="http://schemas.openxmlformats.org/drawingml/2006/chartDrawing" xmlns:wne="http://schemas.microsoft.com/office/powerpoint/2006/powerpointml" xmlns:wp="http://schemas.openxmlformats.org/drawingml/2006/powerpointprocessingDrawing" xmlns:v="urn:schemas-microsoft-com:vml" xmlns:o="urn:schemas-microsoft-com:office:office" xmlns="" val="1"/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3075" name="Rectangle 6281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3076" name="Rectangle 6282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6084AB3D-AE30-934E-B0BC-A74C2CCEE444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s-ES" sz="1000">
              <a:solidFill>
                <a:srgbClr val="D3D3D3"/>
              </a:solidFill>
            </a:endParaRPr>
          </a:p>
        </p:txBody>
      </p:sp>
      <p:sp>
        <p:nvSpPr>
          <p:cNvPr id="3077" name="Rectangle 628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3109" y="1539502"/>
            <a:ext cx="8733677" cy="4926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:mc="http://schemas.openxmlformats.org/markup-compatibility/2006" xmlns:a14="http://schemas.microsoft.com/office/drawing/2010/main" xmlns:c="http://schemas.openxmlformats.org/drawingml/2006/chart" xmlns:dgm="http://schemas.openxmlformats.org/drawingml/2006/diagram" xmlns:cdr="http://schemas.openxmlformats.org/drawingml/2006/chartDrawing" xmlns:wne="http://schemas.microsoft.com/office/powerpoint/2006/powerpointml" xmlns:wp="http://schemas.openxmlformats.org/drawingml/2006/powerpointprocessingDrawing" xmlns:v="urn:schemas-microsoft-com:vml" xmlns:o="urn:schemas-microsoft-com:office:office" xmlns="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78" name="Rectangle 6312"/>
          <p:cNvSpPr>
            <a:spLocks noChangeArrowheads="1"/>
          </p:cNvSpPr>
          <p:nvPr/>
        </p:nvSpPr>
        <p:spPr bwMode="auto">
          <a:xfrm>
            <a:off x="4222630" y="6670529"/>
            <a:ext cx="2575166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ctr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© 2008 Cisco </a:t>
            </a:r>
            <a:r>
              <a:rPr lang="es-ES" sz="700" dirty="0" err="1">
                <a:solidFill>
                  <a:srgbClr val="D3D3D3"/>
                </a:solidFill>
              </a:rPr>
              <a:t>Systems</a:t>
            </a:r>
            <a:r>
              <a:rPr lang="es-ES" sz="700" dirty="0">
                <a:solidFill>
                  <a:srgbClr val="D3D3D3"/>
                </a:solidFill>
              </a:rPr>
              <a:t>, Inc. Todos los derechos reservados.</a:t>
            </a:r>
          </a:p>
        </p:txBody>
      </p:sp>
      <p:sp>
        <p:nvSpPr>
          <p:cNvPr id="3079" name="Rectangle 6313"/>
          <p:cNvSpPr>
            <a:spLocks noChangeArrowheads="1"/>
          </p:cNvSpPr>
          <p:nvPr/>
        </p:nvSpPr>
        <p:spPr bwMode="auto">
          <a:xfrm>
            <a:off x="6896100" y="6670529"/>
            <a:ext cx="1505962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Información confidencial de Cisco</a:t>
            </a:r>
          </a:p>
        </p:txBody>
      </p:sp>
      <p:pic>
        <p:nvPicPr>
          <p:cNvPr id="3080" name="Picture 8" descr="Rev08_Cisco_BrandBar10_060408.png"/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  <p:sldLayoutId id="2147484045" r:id="rId2"/>
    <p:sldLayoutId id="2147484046" r:id="rId3"/>
    <p:sldLayoutId id="2147484047" r:id="rId4"/>
    <p:sldLayoutId id="2147484048" r:id="rId5"/>
    <p:sldLayoutId id="2147484049" r:id="rId6"/>
    <p:sldLayoutId id="2147484050" r:id="rId7"/>
    <p:sldLayoutId id="2147484051" r:id="rId8"/>
    <p:sldLayoutId id="2147484052" r:id="rId9"/>
    <p:sldLayoutId id="2147484053" r:id="rId10"/>
    <p:sldLayoutId id="2147484054" r:id="rId11"/>
  </p:sldLayoutIdLst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ＭＳ Ｐゴシック" charset="0"/>
          <a:cs typeface="ＭＳ Ｐゴシック" charset="0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charset="0"/>
        <a:buChar char="§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0621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s-ES" sz="2400" dirty="0">
                <a:latin typeface="Arial" charset="0"/>
              </a:rPr>
              <a:t>Listas de control de acceso</a:t>
            </a:r>
            <a:endParaRPr lang="es-ES" sz="2400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6788150" cy="658812"/>
          </a:xfrm>
        </p:spPr>
        <p:txBody>
          <a:bodyPr/>
          <a:lstStyle/>
          <a:p>
            <a:pPr eaLnBrk="1" hangingPunct="1"/>
            <a:r>
              <a:rPr lang="es-ES"/>
              <a:t>Routing and Switching Essentials v6.0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143250" cy="1481138"/>
          </a:xfrm>
        </p:spPr>
        <p:txBody>
          <a:bodyPr/>
          <a:lstStyle/>
          <a:p>
            <a:pPr eaLnBrk="1" hangingPunct="1"/>
            <a:r>
              <a:rPr lang="es-ES" sz="2400" dirty="0"/>
              <a:t>Funcionamiento de una ACL</a:t>
            </a:r>
          </a:p>
        </p:txBody>
      </p:sp>
    </p:spTree>
    <p:extLst>
      <p:ext uri="{BB962C8B-B14F-4D97-AF65-F5344CB8AC3E}">
        <p14:creationId xmlns:p14="http://schemas.microsoft.com/office/powerpoint/2010/main" val="2753221210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1800" dirty="0"/>
              <a:t>Propósito de las listas ACL</a:t>
            </a:r>
            <a:br>
              <a:rPr sz="1800" dirty="0"/>
            </a:br>
            <a:r>
              <a:rPr lang="es-ES" dirty="0"/>
              <a:t>¿Qué es una ACL?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464866" y="2078888"/>
            <a:ext cx="6138068" cy="449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43839" y="1310640"/>
            <a:ext cx="8667931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s-ES" sz="1800" dirty="0">
                <a:latin typeface="+mn-lt"/>
              </a:rPr>
              <a:t>Los routers no tienen listas ACL configuradas de manera predeterminada, por lo que no filtran el tráfico de manera predeterminada. </a:t>
            </a:r>
          </a:p>
        </p:txBody>
      </p:sp>
    </p:spTree>
    <p:extLst>
      <p:ext uri="{BB962C8B-B14F-4D97-AF65-F5344CB8AC3E}">
        <p14:creationId xmlns:p14="http://schemas.microsoft.com/office/powerpoint/2010/main" val="1445522053"/>
      </p:ext>
    </p:extLst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1800" dirty="0"/>
              <a:t>Propósito de las listas ACL</a:t>
            </a:r>
            <a:br>
              <a:rPr sz="1800" dirty="0"/>
            </a:br>
            <a:r>
              <a:rPr lang="es-ES" dirty="0"/>
              <a:t>Filtrado de paquetes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3868" y="1349058"/>
            <a:ext cx="8641080" cy="4959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6538" indent="-236538" algn="just" defTabSz="814388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708CA1"/>
              </a:buClr>
              <a:buFont typeface="Wingdings" charset="0"/>
              <a:buChar char="§"/>
            </a:pPr>
            <a:r>
              <a:rPr lang="es-ES" sz="2000" dirty="0">
                <a:latin typeface="+mn-lt"/>
              </a:rPr>
              <a:t>El filtrado de paquetes, a veces denominado “filtrado de paquetes estático”, controla el acceso a una red mediante el </a:t>
            </a:r>
            <a:r>
              <a:rPr lang="es-E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análisis de los paquetes entrantes y salientes </a:t>
            </a:r>
            <a:r>
              <a:rPr lang="es-ES" sz="2000" dirty="0">
                <a:latin typeface="+mn-lt"/>
              </a:rPr>
              <a:t>y la transferencia o el descarte de estos según determinados criterios, como </a:t>
            </a:r>
            <a:r>
              <a:rPr lang="es-E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la dirección IP de origen, la dirección IP de destino y el protocolo incluido en el paquete</a:t>
            </a:r>
            <a:r>
              <a:rPr lang="es-ES" sz="2000" dirty="0">
                <a:latin typeface="+mn-lt"/>
              </a:rPr>
              <a:t>.</a:t>
            </a:r>
          </a:p>
          <a:p>
            <a:pPr marL="236538" indent="-236538" algn="just" defTabSz="814388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708CA1"/>
              </a:buClr>
              <a:buFont typeface="Wingdings" charset="0"/>
              <a:buChar char="§"/>
            </a:pPr>
            <a:r>
              <a:rPr lang="es-ES" sz="2000" dirty="0">
                <a:latin typeface="+mn-lt"/>
              </a:rPr>
              <a:t>Cuando reenvía o deniega los paquetes según las reglas de filtrado, un router funciona como filtro de paquetes.</a:t>
            </a:r>
          </a:p>
          <a:p>
            <a:pPr marL="236538" indent="-236538" algn="just" defTabSz="814388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708CA1"/>
              </a:buClr>
              <a:buFont typeface="Wingdings" charset="0"/>
              <a:buChar char="§"/>
            </a:pPr>
            <a:r>
              <a:rPr lang="es-ES" sz="2000" dirty="0">
                <a:latin typeface="+mn-lt"/>
              </a:rPr>
              <a:t>Una </a:t>
            </a:r>
            <a:r>
              <a:rPr lang="es-E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ACL </a:t>
            </a:r>
            <a:r>
              <a:rPr lang="es-ES" sz="2000" dirty="0">
                <a:latin typeface="+mn-lt"/>
              </a:rPr>
              <a:t>es una lista secuencial de instrucciones </a:t>
            </a:r>
            <a:r>
              <a:rPr lang="es-E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permit (permitir) o deny (denegar)</a:t>
            </a:r>
            <a:r>
              <a:rPr lang="es-ES" sz="2000" dirty="0">
                <a:latin typeface="+mn-lt"/>
              </a:rPr>
              <a:t>, conocidas como </a:t>
            </a:r>
            <a:r>
              <a:rPr lang="es-E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“entradas de control de acceso” (ACE)</a:t>
            </a:r>
            <a:r>
              <a:rPr lang="es-ES" sz="2000" dirty="0"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5498540"/>
      </p:ext>
    </p:extLst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1800" dirty="0"/>
              <a:t>Propósito de las listas ACL</a:t>
            </a:r>
            <a:br>
              <a:rPr sz="1800" dirty="0"/>
            </a:br>
            <a:r>
              <a:rPr lang="es-ES" dirty="0"/>
              <a:t>Funcionamiento de una ACL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9201" y="1889026"/>
            <a:ext cx="8278320" cy="271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83068"/>
      </p:ext>
    </p:extLst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1800" dirty="0"/>
              <a:t>Máscaras de comodín en listas ACL</a:t>
            </a:r>
            <a:br>
              <a:rPr sz="1800" dirty="0"/>
            </a:br>
            <a:r>
              <a:rPr lang="es-ES" dirty="0"/>
              <a:t>Cálculo de la máscara de comodín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74320" y="1676400"/>
            <a:ext cx="7848600" cy="1009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s-ES" sz="2000" dirty="0">
                <a:latin typeface="+mn-lt"/>
              </a:rPr>
              <a:t>El cálculo de máscaras de comodín puede ser difícil. Un método abreviado es restar la máscara de subred a 255.255.255.255.</a:t>
            </a:r>
          </a:p>
          <a:p>
            <a:endParaRPr lang="es-E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72301" y="2685907"/>
            <a:ext cx="2852638" cy="399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531189"/>
      </p:ext>
    </p:extLst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1800" dirty="0"/>
              <a:t>Máscaras de comodín en listas ACL</a:t>
            </a:r>
            <a:br>
              <a:rPr sz="1800" dirty="0"/>
            </a:br>
            <a:r>
              <a:rPr lang="es-ES" dirty="0"/>
              <a:t>Palabras clave de una máscara de comodín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202536" y="1453514"/>
            <a:ext cx="6401275" cy="5145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0488133"/>
      </p:ext>
    </p:extLst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1600" dirty="0"/>
              <a:t>Máscaras de comodín en listas ACL</a:t>
            </a:r>
            <a:br>
              <a:rPr sz="1600" dirty="0"/>
            </a:br>
            <a:r>
              <a:rPr lang="es-ES" sz="2400" dirty="0"/>
              <a:t>Ejemplos de palabras clave de una máscara de comodín</a:t>
            </a:r>
            <a:endParaRPr lang="es-ES" sz="2400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984851" y="1433513"/>
            <a:ext cx="6433417" cy="451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7967586"/>
      </p:ext>
    </p:extLst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1800" dirty="0"/>
              <a:t>Pautas para la ubicación de listas ACL</a:t>
            </a:r>
            <a:br>
              <a:rPr sz="1800" dirty="0"/>
            </a:br>
            <a:r>
              <a:rPr lang="es-ES" sz="3000" dirty="0"/>
              <a:t>¿Dónde ubicar las listas ACL?</a:t>
            </a:r>
            <a:endParaRPr lang="es-ES" sz="3000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956707" y="1362074"/>
            <a:ext cx="6915602" cy="514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0030874"/>
      </p:ext>
    </p:extLst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1800" dirty="0"/>
              <a:t>Pautas para la ubicación de listas ACL</a:t>
            </a:r>
            <a:br>
              <a:rPr sz="1800" dirty="0"/>
            </a:br>
            <a:r>
              <a:rPr lang="es-ES" sz="3000" dirty="0"/>
              <a:t>¿Dónde ubicar las listas ACL? (continuación)</a:t>
            </a:r>
            <a:endParaRPr lang="es-ES" sz="3000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43160" y="1770501"/>
            <a:ext cx="8073571" cy="331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s-ES" sz="2000" dirty="0">
                <a:latin typeface="+mn-lt"/>
              </a:rPr>
              <a:t>Cada ACL se debe colocar donde tenga más impacto en la eficiencia. 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s-ES" sz="2000" dirty="0">
                <a:latin typeface="+mn-lt"/>
              </a:rPr>
              <a:t>Las reglas básicas son las siguientes:</a:t>
            </a:r>
          </a:p>
          <a:p>
            <a:pPr marL="693738" lvl="1" indent="-236538" algn="l" defTabSz="814388">
              <a:lnSpc>
                <a:spcPts val="3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s-ES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Listas ACL extendidas: </a:t>
            </a:r>
            <a:r>
              <a:rPr lang="es-ES" sz="2000" dirty="0">
                <a:latin typeface="+mn-lt"/>
              </a:rPr>
              <a:t>Coloque las listas ACL extendidas</a:t>
            </a:r>
            <a:r>
              <a:rPr lang="es-E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lo más cerca posible del origen </a:t>
            </a:r>
            <a:r>
              <a:rPr lang="es-ES" sz="2000" dirty="0">
                <a:latin typeface="+mn-lt"/>
              </a:rPr>
              <a:t>del tráfico que se filtrará.</a:t>
            </a:r>
          </a:p>
          <a:p>
            <a:pPr marL="693738" lvl="1" indent="-236538" algn="l" defTabSz="814388">
              <a:lnSpc>
                <a:spcPts val="3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s-ES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Listas ACL estándar: </a:t>
            </a:r>
            <a:r>
              <a:rPr lang="es-ES" sz="2000" dirty="0">
                <a:latin typeface="+mn-lt"/>
              </a:rPr>
              <a:t>Debido a que en las listas ACL estándares no se especifican las direcciones de destino, colóquelas</a:t>
            </a:r>
            <a:r>
              <a:rPr lang="es-E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tan cerca del destino como sea posible</a:t>
            </a:r>
            <a:r>
              <a:rPr lang="es-ES" sz="2000" dirty="0"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98363498"/>
      </p:ext>
    </p:extLst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s-ES" sz="2400" dirty="0"/>
              <a:t>ACL de IPv4 estándar</a:t>
            </a:r>
            <a:endParaRPr lang="es-ES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5692449"/>
      </p:ext>
    </p:extLst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1800" dirty="0"/>
              <a:t>Configurar listas ACL de IPv4 estándares</a:t>
            </a:r>
            <a:br>
              <a:rPr sz="1800" dirty="0"/>
            </a:br>
            <a:r>
              <a:rPr lang="es-ES" sz="2800" dirty="0">
                <a:latin typeface="Arial" charset="0"/>
              </a:rPr>
              <a:t>Sintaxis de una ACL de IPv4 estándar numerada</a:t>
            </a:r>
            <a:endParaRPr lang="es-ES" sz="2800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110" y="1325880"/>
            <a:ext cx="8752915" cy="784655"/>
          </a:xfrm>
        </p:spPr>
        <p:txBody>
          <a:bodyPr>
            <a:spAutoFit/>
          </a:bodyPr>
          <a:lstStyle/>
          <a:p>
            <a:r>
              <a:rPr lang="es-ES" dirty="0" err="1"/>
              <a:t>Router</a:t>
            </a:r>
            <a:r>
              <a:rPr lang="es-ES" dirty="0"/>
              <a:t>(</a:t>
            </a:r>
            <a:r>
              <a:rPr lang="es-ES" dirty="0" err="1"/>
              <a:t>config</a:t>
            </a:r>
            <a:r>
              <a:rPr lang="es-ES" dirty="0"/>
              <a:t>)# </a:t>
            </a:r>
            <a:r>
              <a:rPr lang="es-ES" b="1" dirty="0"/>
              <a:t>access-list</a:t>
            </a:r>
            <a:r>
              <a:rPr lang="es-ES" dirty="0"/>
              <a:t> </a:t>
            </a:r>
            <a:r>
              <a:rPr lang="es-ES" i="1" dirty="0"/>
              <a:t>número-de-lista-de-acceso </a:t>
            </a:r>
            <a:r>
              <a:rPr lang="es-ES" dirty="0"/>
              <a:t>{ </a:t>
            </a:r>
            <a:r>
              <a:rPr lang="es-ES" b="1" dirty="0"/>
              <a:t>deny</a:t>
            </a:r>
            <a:r>
              <a:rPr lang="es-ES" dirty="0"/>
              <a:t> | </a:t>
            </a:r>
            <a:r>
              <a:rPr lang="es-ES" b="1" dirty="0"/>
              <a:t>permit</a:t>
            </a:r>
            <a:r>
              <a:rPr lang="es-ES" dirty="0"/>
              <a:t> | </a:t>
            </a:r>
            <a:r>
              <a:rPr lang="es-ES" b="1" dirty="0"/>
              <a:t>remark</a:t>
            </a:r>
            <a:r>
              <a:rPr lang="es-ES" dirty="0"/>
              <a:t> } </a:t>
            </a:r>
            <a:r>
              <a:rPr lang="es-ES" i="1" dirty="0"/>
              <a:t>origen</a:t>
            </a:r>
            <a:r>
              <a:rPr lang="es-ES" dirty="0"/>
              <a:t> [ </a:t>
            </a:r>
            <a:r>
              <a:rPr lang="es-ES" i="1" dirty="0"/>
              <a:t>comodín-de-origen</a:t>
            </a:r>
            <a:r>
              <a:rPr lang="es-ES" dirty="0"/>
              <a:t> ] [ </a:t>
            </a:r>
            <a:r>
              <a:rPr lang="es-ES" b="1" dirty="0"/>
              <a:t>log</a:t>
            </a:r>
            <a:r>
              <a:rPr lang="es-ES" dirty="0"/>
              <a:t> ]</a:t>
            </a:r>
            <a:endParaRPr lang="es-ES" sz="2000" dirty="0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5705" y="4731068"/>
            <a:ext cx="5086350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23" y="2340293"/>
            <a:ext cx="5095875" cy="239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03E3FCC4-ECC3-4C49-A5F6-3054CEE2E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668" y="2261055"/>
            <a:ext cx="293450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>
              <a:lnSpc>
                <a:spcPct val="100000"/>
              </a:lnSpc>
            </a:pPr>
            <a:endParaRPr kumimoji="0" lang="es-ES" altLang="es-MX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0" algn="l">
              <a:lnSpc>
                <a:spcPct val="100000"/>
              </a:lnSpc>
            </a:pPr>
            <a:r>
              <a:rPr kumimoji="0" lang="es-ES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Un </a:t>
            </a:r>
            <a:r>
              <a:rPr kumimoji="0" lang="es-ES" altLang="es-MX" sz="1600" b="1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access</a:t>
            </a:r>
            <a:r>
              <a:rPr lang="es-ES" altLang="es-MX" sz="1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 </a:t>
            </a:r>
            <a:r>
              <a:rPr lang="es-ES" altLang="es-MX" sz="16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list</a:t>
            </a:r>
            <a:r>
              <a:rPr lang="es-ES" altLang="es-MX" sz="1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 </a:t>
            </a:r>
            <a:r>
              <a:rPr lang="es-ES" altLang="es-MX" sz="16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remark</a:t>
            </a:r>
            <a:r>
              <a:rPr kumimoji="0" lang="es-ES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es un comentario opcional que se coloca antes o después </a:t>
            </a:r>
            <a:r>
              <a:rPr lang="es-ES" altLang="es-MX" sz="1600" dirty="0"/>
              <a:t>de una lista de acceso, que d</a:t>
            </a:r>
            <a:r>
              <a:rPr kumimoji="0" lang="es-ES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escribe la ACL. Cada comentario tiene un límite de 100 caracteres. </a:t>
            </a:r>
          </a:p>
          <a:p>
            <a:pPr lvl="0" algn="l">
              <a:lnSpc>
                <a:spcPct val="100000"/>
              </a:lnSpc>
            </a:pPr>
            <a:endParaRPr kumimoji="0" lang="es-ES" altLang="es-MX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96479174"/>
      </p:ext>
    </p:extLst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1800" dirty="0"/>
              <a:t>Modificar listas ACL de IPv4</a:t>
            </a:r>
            <a:br>
              <a:rPr sz="1800" dirty="0"/>
            </a:br>
            <a:r>
              <a:rPr lang="es-ES" dirty="0">
                <a:latin typeface="Arial" charset="0"/>
              </a:rPr>
              <a:t>Verificar listas ACL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548" y="1296353"/>
            <a:ext cx="5076825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960" y="4220527"/>
            <a:ext cx="5679142" cy="2241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013730"/>
      </p:ext>
    </p:extLst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s-ES" sz="2400" dirty="0"/>
              <a:t>Solución de problemas en listas ACL</a:t>
            </a:r>
            <a:endParaRPr lang="es-ES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346901"/>
      </p:ext>
    </p:extLst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1800" dirty="0"/>
              <a:t>Procesar paquetes con listas ACL</a:t>
            </a:r>
            <a:br>
              <a:rPr sz="1800" dirty="0"/>
            </a:br>
            <a:r>
              <a:rPr lang="es-ES" dirty="0">
                <a:latin typeface="Arial" charset="0"/>
              </a:rPr>
              <a:t>Denegar todo implícito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110" y="1325880"/>
            <a:ext cx="8752915" cy="804660"/>
          </a:xfrm>
        </p:spPr>
        <p:txBody>
          <a:bodyPr>
            <a:spAutoFit/>
          </a:bodyPr>
          <a:lstStyle/>
          <a:p>
            <a:r>
              <a:rPr lang="es-ES" sz="1400" dirty="0"/>
              <a:t>Se debe configurar al menos una </a:t>
            </a:r>
            <a:r>
              <a:rPr lang="es-E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ACE permit </a:t>
            </a:r>
            <a:r>
              <a:rPr lang="es-ES" sz="1400" dirty="0"/>
              <a:t>en una ACL. En caso contrario, se bloquea todo el tráfico.</a:t>
            </a:r>
          </a:p>
          <a:p>
            <a:r>
              <a:rPr lang="es-ES" sz="1400" dirty="0"/>
              <a:t>Para la red en la ilustración, si se aplica la ACL 1 o la ACL 2 a la interfaz S0/0/0 del R1 en el sentido de salida, se obtiene el mismo resultado.</a:t>
            </a: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2116150" y="2379772"/>
            <a:ext cx="4904141" cy="4264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8150705"/>
      </p:ext>
    </p:extLst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85921" y="918170"/>
            <a:ext cx="8772157" cy="838200"/>
          </a:xfrm>
        </p:spPr>
        <p:txBody>
          <a:bodyPr/>
          <a:lstStyle/>
          <a:p>
            <a:pPr eaLnBrk="1" hangingPunct="1"/>
            <a:r>
              <a:rPr lang="es-ES" sz="1800" dirty="0"/>
              <a:t>Procesar paquetes con listas ACL</a:t>
            </a:r>
            <a:br>
              <a:rPr sz="1800" dirty="0"/>
            </a:br>
            <a:r>
              <a:rPr lang="es-ES" dirty="0">
                <a:latin typeface="Arial" charset="0"/>
              </a:rPr>
              <a:t>El orden de las entradas de control de acceso (ACE) en una ACL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899161" y="1901513"/>
            <a:ext cx="6934219" cy="2316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899161" y="4217992"/>
            <a:ext cx="6949437" cy="2053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46291"/>
      </p:ext>
    </p:extLst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93868" y="442800"/>
            <a:ext cx="8772157" cy="1218619"/>
          </a:xfrm>
        </p:spPr>
        <p:txBody>
          <a:bodyPr>
            <a:spAutoFit/>
          </a:bodyPr>
          <a:lstStyle/>
          <a:p>
            <a:pPr eaLnBrk="1" hangingPunct="1"/>
            <a:r>
              <a:rPr lang="es-ES" sz="1800" dirty="0"/>
              <a:t>Procesar paquetes con listas ACL</a:t>
            </a:r>
            <a:br>
              <a:rPr sz="1800" dirty="0"/>
            </a:br>
            <a:r>
              <a:rPr lang="es-ES" dirty="0">
                <a:latin typeface="Arial" charset="0"/>
              </a:rPr>
              <a:t>El orden de las entradas de control de acceso (ACE) en una ACL</a:t>
            </a: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824740" y="1978757"/>
            <a:ext cx="7114348" cy="2271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5584690"/>
      </p:ext>
    </p:extLst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PPT-TMPLT-WHT_C">
  <a:themeElements>
    <a:clrScheme name="PPT-TMPLT-WHT_C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PPT-TMPLT-WHT_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PT-TMPLT-WHT_C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NetAcad-4F_PPT-WHT_060408">
  <a:themeElements>
    <a:clrScheme name="Oct_2006_Cisco White Template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Oct_2006_Cisco Whit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ct_2006_Cisco White Template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30627</TotalTime>
  <Pages>28</Pages>
  <Words>912</Words>
  <Application>Microsoft Office PowerPoint</Application>
  <PresentationFormat>On-screen Show (4:3)</PresentationFormat>
  <Paragraphs>100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Wingdings</vt:lpstr>
      <vt:lpstr>PPT-TMPLT-WHT_C</vt:lpstr>
      <vt:lpstr>NetAcad-4F_PPT-WHT_060408</vt:lpstr>
      <vt:lpstr>Listas de control de acceso</vt:lpstr>
      <vt:lpstr>Funcionamiento de una ACL</vt:lpstr>
      <vt:lpstr>Propósito de las listas ACL ¿Qué es una ACL?</vt:lpstr>
      <vt:lpstr>Propósito de las listas ACL Filtrado de paquetes</vt:lpstr>
      <vt:lpstr>Propósito de las listas ACL Funcionamiento de una ACL</vt:lpstr>
      <vt:lpstr>Máscaras de comodín en listas ACL Cálculo de la máscara de comodín</vt:lpstr>
      <vt:lpstr>Máscaras de comodín en listas ACL Palabras clave de una máscara de comodín</vt:lpstr>
      <vt:lpstr>Máscaras de comodín en listas ACL Ejemplos de palabras clave de una máscara de comodín</vt:lpstr>
      <vt:lpstr>Pautas para la ubicación de listas ACL ¿Dónde ubicar las listas ACL?</vt:lpstr>
      <vt:lpstr>Pautas para la ubicación de listas ACL ¿Dónde ubicar las listas ACL? (continuación)</vt:lpstr>
      <vt:lpstr>ACL de IPv4 estándar</vt:lpstr>
      <vt:lpstr>Configurar listas ACL de IPv4 estándares Sintaxis de una ACL de IPv4 estándar numerada</vt:lpstr>
      <vt:lpstr>Modificar listas ACL de IPv4 Verificar listas ACL</vt:lpstr>
      <vt:lpstr>Solución de problemas en listas ACL</vt:lpstr>
      <vt:lpstr>Procesar paquetes con listas ACL Denegar todo implícito</vt:lpstr>
      <vt:lpstr>Procesar paquetes con listas ACL El orden de las entradas de control de acceso (ACE) en una ACL</vt:lpstr>
      <vt:lpstr>Procesar paquetes con listas ACL El orden de las entradas de control de acceso (ACE) en una ACL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 PC v4.0 Chapter 1</dc:title>
  <dc:creator>Karen Alderson</dc:creator>
  <cp:lastModifiedBy>Lizethe Pérez Fuertes</cp:lastModifiedBy>
  <cp:revision>1094</cp:revision>
  <cp:lastPrinted>1999-01-27T00:54:54Z</cp:lastPrinted>
  <dcterms:created xsi:type="dcterms:W3CDTF">2006-10-23T15:07:30Z</dcterms:created>
  <dcterms:modified xsi:type="dcterms:W3CDTF">2025-04-21T22:36:56Z</dcterms:modified>
</cp:coreProperties>
</file>