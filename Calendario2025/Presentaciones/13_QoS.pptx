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79" r:id="rId2"/>
    <p:sldId id="493" r:id="rId3"/>
    <p:sldId id="1194" r:id="rId4"/>
    <p:sldId id="1235" r:id="rId5"/>
    <p:sldId id="1238" r:id="rId6"/>
    <p:sldId id="1240" r:id="rId7"/>
    <p:sldId id="1241" r:id="rId8"/>
    <p:sldId id="1242" r:id="rId9"/>
    <p:sldId id="1243" r:id="rId10"/>
    <p:sldId id="1244" r:id="rId11"/>
    <p:sldId id="1276" r:id="rId12"/>
    <p:sldId id="1245" r:id="rId13"/>
    <p:sldId id="1259" r:id="rId14"/>
    <p:sldId id="1260" r:id="rId15"/>
    <p:sldId id="1263" r:id="rId16"/>
    <p:sldId id="1264" r:id="rId17"/>
    <p:sldId id="1265" r:id="rId18"/>
    <p:sldId id="1269" r:id="rId19"/>
    <p:sldId id="1268" r:id="rId20"/>
    <p:sldId id="1270" r:id="rId21"/>
    <p:sldId id="1271" r:id="rId22"/>
    <p:sldId id="1274" r:id="rId23"/>
    <p:sldId id="1272" r:id="rId24"/>
    <p:sldId id="1273" r:id="rId25"/>
    <p:sldId id="1275" r:id="rId2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6" autoAdjust="0"/>
    <p:restoredTop sz="93250" autoAdjust="0"/>
  </p:normalViewPr>
  <p:slideViewPr>
    <p:cSldViewPr>
      <p:cViewPr varScale="1">
        <p:scale>
          <a:sx n="60" d="100"/>
          <a:sy n="60" d="100"/>
        </p:scale>
        <p:origin x="136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11448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674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11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50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697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55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6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784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658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935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084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764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0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043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1225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8397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037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778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1255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0577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0974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229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3" y="1797051"/>
            <a:ext cx="8280057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455085"/>
            <a:ext cx="8345488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348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28/04/2025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12112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Calidad del servicio (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</a:rPr>
              <a:t>QoS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)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ITESM Campus Querétaro</a:t>
            </a:r>
          </a:p>
        </p:txBody>
      </p:sp>
      <p:pic>
        <p:nvPicPr>
          <p:cNvPr id="5" name="Imagen 4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BB7464BE-D2F2-C6CA-8540-10F4016315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089" y="3284984"/>
            <a:ext cx="5019821" cy="311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32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a pantalla de una computadora&#10;&#10;Descripción generada automáticamente con confianza media">
            <a:extLst>
              <a:ext uri="{FF2B5EF4-FFF2-40B4-BE49-F238E27FC236}">
                <a16:creationId xmlns:a16="http://schemas.microsoft.com/office/drawing/2014/main" id="{069253FC-52A6-4B7E-B893-87B9E83FE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297" y="2021171"/>
            <a:ext cx="4104456" cy="2815657"/>
          </a:xfrm>
          <a:prstGeom prst="rect">
            <a:avLst/>
          </a:prstGeom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814905" y="2348880"/>
            <a:ext cx="3528392" cy="115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Introducción a la calidad del servicio (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Configuración de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792025" y="692696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Agenda de esta sesión</a:t>
            </a:r>
          </a:p>
        </p:txBody>
      </p:sp>
    </p:spTree>
    <p:extLst>
      <p:ext uri="{BB962C8B-B14F-4D97-AF65-F5344CB8AC3E}">
        <p14:creationId xmlns:p14="http://schemas.microsoft.com/office/powerpoint/2010/main" val="10096646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628800"/>
            <a:ext cx="4464496" cy="3960440"/>
          </a:xfrm>
        </p:spPr>
        <p:txBody>
          <a:bodyPr/>
          <a:lstStyle/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usa para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 prioridad a ciertos tipos de tráfico de red y para minimizar la demora y la pérdida de paquetes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menudo se usa para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priorizar el tráfico de voz sobre IP 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desde teléfonos IP para garantizar que la calidad de audio sea aceptable.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00053A9-C954-D220-8547-5064D8450A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  <a:b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</a:br>
            <a:r>
              <a:rPr lang="es-ES_tradnl" altLang="es-MX" sz="2200" b="1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Calidad del servicio</a:t>
            </a:r>
            <a:endParaRPr lang="es-ES_tradnl" altLang="es-MX" sz="22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 descr="Gráfico, Gráfico de burbujas&#10;&#10;Descripción generada automáticamente">
            <a:extLst>
              <a:ext uri="{FF2B5EF4-FFF2-40B4-BE49-F238E27FC236}">
                <a16:creationId xmlns:a16="http://schemas.microsoft.com/office/drawing/2014/main" id="{5C3DBB10-C79F-24F0-F575-8F7040645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2096852"/>
            <a:ext cx="3217379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7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1" name="Freeform: Shape 309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47514" y="2649728"/>
            <a:ext cx="2533922" cy="203004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Introducción</a:t>
            </a: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a la </a:t>
            </a:r>
            <a:r>
              <a:rPr lang="en-US" sz="35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calidad</a:t>
            </a: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del </a:t>
            </a:r>
            <a:r>
              <a:rPr lang="en-US" sz="35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servicio</a:t>
            </a: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(QoS)</a:t>
            </a:r>
          </a:p>
        </p:txBody>
      </p:sp>
      <p:pic>
        <p:nvPicPr>
          <p:cNvPr id="2" name="Imagen 1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E3F98FCC-D2F6-2828-30A3-5A1EA1E9C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821" y="1749013"/>
            <a:ext cx="5419311" cy="335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0544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43000"/>
            <a:ext cx="8496944" cy="2385391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Aquí hay una historia extremadamente simple de por qué se creó </a:t>
            </a: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tráfico de voz y el tráfico de datos solían utilizar redes separadas enteras.</a:t>
            </a:r>
          </a:p>
          <a:p>
            <a:pPr marL="571440"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tráfico de voz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utilizó la PSTN (red telefónica pública conmutada).</a:t>
            </a:r>
          </a:p>
          <a:p>
            <a:pPr marL="571440"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tráfico de datos</a:t>
            </a:r>
            <a:r>
              <a:rPr lang="es-ES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utilizó redes IP como una WAN empresarial o Internet. 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E3E8A9B-A726-CA10-545F-3B4ADD7C5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505" y="2924944"/>
            <a:ext cx="6640990" cy="3098389"/>
          </a:xfrm>
          <a:prstGeom prst="rect">
            <a:avLst/>
          </a:prstGeom>
        </p:spPr>
      </p:pic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F5EC0748-617C-8C2D-ABBA-D03EC50CB9D7}"/>
              </a:ext>
            </a:extLst>
          </p:cNvPr>
          <p:cNvSpPr txBox="1">
            <a:spLocks/>
          </p:cNvSpPr>
          <p:nvPr/>
        </p:nvSpPr>
        <p:spPr>
          <a:xfrm>
            <a:off x="3203848" y="6017248"/>
            <a:ext cx="2952328" cy="4553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20" tIns="45710" rIns="91420" bIns="45710" rtlCol="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chemeClr val="bg1"/>
                </a:solidFill>
                <a:latin typeface="+mn-lt"/>
                <a:ea typeface="+mn-ea"/>
                <a:cs typeface="CiscoSans ExtraLight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 IP empresarial</a:t>
            </a:r>
            <a:endParaRPr lang="es-ES" sz="18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algn="just"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840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96752"/>
            <a:ext cx="8424936" cy="1421904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era realmente necesario, porque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diferentes tipos de tráfico no competían por el ancho de banda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El tráfico de voz y el tráfico de datos solían utilizar redes separadas enteras.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calidad de audio de una llamada telefónica no se veía afectada si la conexión a Internet estaba ocupada</a:t>
            </a:r>
            <a:r>
              <a:rPr lang="es-E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E3E8A9B-A726-CA10-545F-3B4ADD7C5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505" y="3068960"/>
            <a:ext cx="6640990" cy="309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74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57667"/>
            <a:ext cx="8784976" cy="909101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redes modernas suelen ser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 convergentes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donde los teléfonos IP, el tráfico de video y el tráfico de datos comparten la misma red IP. 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7721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9174D4-885E-D547-F5DB-993284DAB4BF}"/>
              </a:ext>
            </a:extLst>
          </p:cNvPr>
          <p:cNvGrpSpPr/>
          <p:nvPr/>
        </p:nvGrpSpPr>
        <p:grpSpPr>
          <a:xfrm>
            <a:off x="1452" y="2300667"/>
            <a:ext cx="9144000" cy="4406592"/>
            <a:chOff x="1452" y="2300667"/>
            <a:chExt cx="9144000" cy="4406592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29833350-029F-C062-0CA3-9A371108E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52" y="3061691"/>
              <a:ext cx="9144000" cy="3216482"/>
            </a:xfrm>
            <a:prstGeom prst="rect">
              <a:avLst/>
            </a:prstGeom>
          </p:spPr>
        </p:pic>
        <p:sp>
          <p:nvSpPr>
            <p:cNvPr id="7" name="Content Placeholder 1">
              <a:extLst>
                <a:ext uri="{FF2B5EF4-FFF2-40B4-BE49-F238E27FC236}">
                  <a16:creationId xmlns:a16="http://schemas.microsoft.com/office/drawing/2014/main" id="{85DE273E-42E0-636F-ADC8-BE928AD82509}"/>
                </a:ext>
              </a:extLst>
            </p:cNvPr>
            <p:cNvSpPr txBox="1">
              <a:spLocks/>
            </p:cNvSpPr>
            <p:nvPr/>
          </p:nvSpPr>
          <p:spPr>
            <a:xfrm>
              <a:off x="3210979" y="6251883"/>
              <a:ext cx="2952328" cy="45537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vert="horz" lIns="91420" tIns="45710" rIns="91420" bIns="45710" rtlCol="0">
              <a:noAutofit/>
            </a:bodyPr>
            <a:lstStyle>
              <a:lvl1pPr marL="285690" marR="0" indent="-285690" algn="ctr" defTabSz="45710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 sz="2000" b="0" i="0" kern="1200" baseline="0">
                  <a:solidFill>
                    <a:schemeClr val="bg1"/>
                  </a:solidFill>
                  <a:latin typeface="+mn-lt"/>
                  <a:ea typeface="+mn-ea"/>
                  <a:cs typeface="CiscoSans ExtraLight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just">
                <a:lnSpc>
                  <a:spcPct val="150000"/>
                </a:lnSpc>
                <a:spcBef>
                  <a:spcPts val="0"/>
                </a:spcBef>
              </a:pPr>
              <a:r>
                <a:rPr lang="es-E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WAN IP empresarial</a:t>
              </a:r>
              <a:endParaRPr lang="es-E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028700" lvl="1" algn="just">
                <a:lnSpc>
                  <a:spcPct val="150000"/>
                </a:lnSpc>
                <a:spcBef>
                  <a:spcPts val="0"/>
                </a:spcBef>
                <a:buFont typeface="Courier New" panose="02070309020205020404" pitchFamily="49" charset="0"/>
                <a:buChar char="o"/>
              </a:pP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Imagen 2" descr="Gráfico, Gráfico de burbujas&#10;&#10;Descripción generada automáticamente">
              <a:extLst>
                <a:ext uri="{FF2B5EF4-FFF2-40B4-BE49-F238E27FC236}">
                  <a16:creationId xmlns:a16="http://schemas.microsoft.com/office/drawing/2014/main" id="{A2A7E427-66BB-8945-DE96-E16C5CC871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4995" y="2300667"/>
              <a:ext cx="2160240" cy="2030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351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9076" y="1297001"/>
            <a:ext cx="7633231" cy="757698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 convergentes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 permiten ahorrar costos.</a:t>
            </a:r>
            <a:endParaRPr lang="en-US" sz="26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7721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4F4B66-8A95-739C-41A2-2AF59D9C4930}"/>
              </a:ext>
            </a:extLst>
          </p:cNvPr>
          <p:cNvGrpSpPr/>
          <p:nvPr/>
        </p:nvGrpSpPr>
        <p:grpSpPr>
          <a:xfrm>
            <a:off x="611560" y="1988840"/>
            <a:ext cx="7818039" cy="4578801"/>
            <a:chOff x="479285" y="2210223"/>
            <a:chExt cx="7818039" cy="4578801"/>
          </a:xfrm>
        </p:grpSpPr>
        <p:sp>
          <p:nvSpPr>
            <p:cNvPr id="7" name="Content Placeholder 1">
              <a:extLst>
                <a:ext uri="{FF2B5EF4-FFF2-40B4-BE49-F238E27FC236}">
                  <a16:creationId xmlns:a16="http://schemas.microsoft.com/office/drawing/2014/main" id="{85DE273E-42E0-636F-ADC8-BE928AD82509}"/>
                </a:ext>
              </a:extLst>
            </p:cNvPr>
            <p:cNvSpPr txBox="1">
              <a:spLocks/>
            </p:cNvSpPr>
            <p:nvPr/>
          </p:nvSpPr>
          <p:spPr>
            <a:xfrm>
              <a:off x="3241856" y="6333648"/>
              <a:ext cx="2736304" cy="45537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vert="horz" lIns="91420" tIns="45710" rIns="91420" bIns="45710" rtlCol="0">
              <a:noAutofit/>
            </a:bodyPr>
            <a:lstStyle>
              <a:lvl1pPr marL="285690" marR="0" indent="-285690" algn="ctr" defTabSz="457105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 sz="2000" b="0" i="0" kern="1200" baseline="0">
                  <a:solidFill>
                    <a:schemeClr val="bg1"/>
                  </a:solidFill>
                  <a:latin typeface="+mn-lt"/>
                  <a:ea typeface="+mn-ea"/>
                  <a:cs typeface="CiscoSans ExtraLight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just">
                <a:lnSpc>
                  <a:spcPct val="150000"/>
                </a:lnSpc>
                <a:spcBef>
                  <a:spcPts val="0"/>
                </a:spcBef>
              </a:pPr>
              <a:r>
                <a:rPr lang="es-E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WAN IP empresarial</a:t>
              </a:r>
              <a:endParaRPr lang="es-ES" sz="1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028700" lvl="1" algn="just">
                <a:lnSpc>
                  <a:spcPct val="150000"/>
                </a:lnSpc>
                <a:spcBef>
                  <a:spcPts val="0"/>
                </a:spcBef>
                <a:buFont typeface="Courier New" panose="02070309020205020404" pitchFamily="49" charset="0"/>
                <a:buChar char="o"/>
              </a:pPr>
              <a:endParaRPr lang="en-US" sz="2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29833350-029F-C062-0CA3-9A371108E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285" y="3645669"/>
              <a:ext cx="7818039" cy="2750064"/>
            </a:xfrm>
            <a:prstGeom prst="rect">
              <a:avLst/>
            </a:prstGeom>
          </p:spPr>
        </p:pic>
        <p:pic>
          <p:nvPicPr>
            <p:cNvPr id="5" name="Imagen 4" descr="Gráfico, Gráfico de burbujas&#10;&#10;Descripción generada automáticamente">
              <a:extLst>
                <a:ext uri="{FF2B5EF4-FFF2-40B4-BE49-F238E27FC236}">
                  <a16:creationId xmlns:a16="http://schemas.microsoft.com/office/drawing/2014/main" id="{A4780E3E-4403-CF41-FA2B-F786CE54A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15543" y="2210223"/>
              <a:ext cx="2593143" cy="24375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098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9833350-029F-C062-0CA3-9A371108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3573016"/>
            <a:ext cx="8784976" cy="3090192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80721"/>
            <a:ext cx="8784976" cy="2248279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 embargo, los diferentes tipos de tráfico ahora tienen que competir por el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 de banda. 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hay mucho ancho de banda disponible y la red no está congestionada, esto no es un problema, pero una red ocupada puede traer problemas para el tráfico de voz y video que es sensible a situaciones como la demora.</a:t>
            </a:r>
            <a:endParaRPr lang="en-US" sz="2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7721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</p:spTree>
    <p:extLst>
      <p:ext uri="{BB962C8B-B14F-4D97-AF65-F5344CB8AC3E}">
        <p14:creationId xmlns:p14="http://schemas.microsoft.com/office/powerpoint/2010/main" val="314452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29833350-029F-C062-0CA3-9A371108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40" y="3212976"/>
            <a:ext cx="8538119" cy="3003358"/>
          </a:xfrm>
          <a:prstGeom prst="rect">
            <a:avLst/>
          </a:prstGeom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80721"/>
            <a:ext cx="8784976" cy="2248279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un conjunto de herramientas utilizadas por los dispositivos de red para aplicar diferente trato a diferentes paquetes. Ciertos tipos de tráfico reciben un tratamiento de mayor prioridad y otros tipos de tráfico reciben un tratamiento de menor prioridad.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7721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Calidad del servicio</a:t>
            </a:r>
          </a:p>
        </p:txBody>
      </p:sp>
    </p:spTree>
    <p:extLst>
      <p:ext uri="{BB962C8B-B14F-4D97-AF65-F5344CB8AC3E}">
        <p14:creationId xmlns:p14="http://schemas.microsoft.com/office/powerpoint/2010/main" val="356722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1560" y="1700808"/>
            <a:ext cx="7575748" cy="2608319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utiliza para gestionar las siguientes características del tráfico de red:</a:t>
            </a: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AutoNum type="arabicParenR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 de banda</a:t>
            </a: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Arial"/>
              <a:buAutoNum type="arabicParenR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Demora (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Arial"/>
              <a:buAutoNum type="arabicParenR"/>
            </a:pP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Arial"/>
              <a:buAutoNum type="arabicParenR"/>
            </a:pP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Características del tráfico de red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28943F3-BAC6-D39C-E4EA-F473C1621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721" y="3068960"/>
            <a:ext cx="4111579" cy="287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5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180721"/>
            <a:ext cx="8590279" cy="2608319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 gestionar el 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 de banda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tráfico de una red.</a:t>
            </a:r>
          </a:p>
          <a:p>
            <a:pPr indent="0" algn="just">
              <a:spcBef>
                <a:spcPts val="0"/>
              </a:spcBef>
            </a:pPr>
            <a:endParaRPr lang="es-ES" sz="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 de banda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refiere a la capacidad total del enlace y se mide en bits por segundo (por ejemplo, Kbps, Mbps, Gbps, </a:t>
            </a:r>
            <a:r>
              <a:rPr lang="es-ES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indent="0" algn="just">
              <a:spcBef>
                <a:spcPts val="0"/>
              </a:spcBef>
            </a:pPr>
            <a:endParaRPr lang="es-ES" sz="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herramientas de </a:t>
            </a:r>
            <a:r>
              <a:rPr lang="es-E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 permiten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reservar una cierta cantidad de ancho de banda de un enlace para tipos específicos de tráfico</a:t>
            </a:r>
            <a:r>
              <a:rPr lang="es-ES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37721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Quality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of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service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(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s-ES_tradnl" altLang="es-MX" sz="18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Ancho de banda - </a:t>
            </a:r>
            <a:r>
              <a:rPr lang="es-ES_tradnl" altLang="es-MX" sz="18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Bandwidth</a:t>
            </a:r>
            <a:endParaRPr lang="es-ES_tradnl" altLang="es-MX" sz="18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28943F3-BAC6-D39C-E4EA-F473C1621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985" y="3627881"/>
            <a:ext cx="4111579" cy="2876733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333B5D2B-B544-E820-4461-3527D05B7EBA}"/>
              </a:ext>
            </a:extLst>
          </p:cNvPr>
          <p:cNvSpPr txBox="1">
            <a:spLocks/>
          </p:cNvSpPr>
          <p:nvPr/>
        </p:nvSpPr>
        <p:spPr>
          <a:xfrm>
            <a:off x="179513" y="3627881"/>
            <a:ext cx="3816424" cy="232140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chemeClr val="bg1"/>
                </a:solidFill>
                <a:latin typeface="+mn-lt"/>
                <a:ea typeface="+mn-ea"/>
                <a:cs typeface="CiscoSans ExtraLight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ejemplo, se podría reservar el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20%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 ancho de banda del enlace para el tráfico de voz, el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 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tipos específicos de tráfico de datos y dejar el </a:t>
            </a: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50%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el resto del tráfico.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s-ES" sz="1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6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95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91" name="Freeform: Shape 309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195133" y="2767106"/>
            <a:ext cx="2792691" cy="30719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Configuración</a:t>
            </a:r>
            <a:r>
              <a:rPr lang="en-US" sz="3500" b="1" kern="12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rPr>
              <a:t> QoS</a:t>
            </a:r>
          </a:p>
        </p:txBody>
      </p:sp>
      <p:pic>
        <p:nvPicPr>
          <p:cNvPr id="2" name="Imagen 1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E3F98FCC-D2F6-2828-30A3-5A1EA1E9C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821" y="1749013"/>
            <a:ext cx="5419311" cy="335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696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484784"/>
            <a:ext cx="8450682" cy="3024336"/>
          </a:xfrm>
        </p:spPr>
        <p:txBody>
          <a:bodyPr/>
          <a:lstStyle/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los tipos de tráfico a los que se desea aplicar un tratamiento especial. </a:t>
            </a:r>
          </a:p>
          <a:p>
            <a:pPr marL="1085850" lvl="1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dar un tratamiento especial a ciertos tipos de tráfico, debemos decirle al ruteador a qué tipo de tráfico deseamos darle ese tratamiento especial. </a:t>
            </a:r>
          </a:p>
          <a:p>
            <a:pPr marL="1085850" lvl="1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identificar el tráfico en una configuración de </a:t>
            </a: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usamos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mapas de clase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El comando es </a:t>
            </a:r>
            <a:r>
              <a:rPr lang="es-ES" sz="1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class-map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s-ES" sz="1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89CEFD-E50F-A306-556C-88A39EA26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4869160"/>
            <a:ext cx="6192688" cy="1365891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1. Mapas de clase</a:t>
            </a:r>
          </a:p>
        </p:txBody>
      </p:sp>
    </p:spTree>
    <p:extLst>
      <p:ext uri="{BB962C8B-B14F-4D97-AF65-F5344CB8AC3E}">
        <p14:creationId xmlns:p14="http://schemas.microsoft.com/office/powerpoint/2010/main" val="371344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484784"/>
            <a:ext cx="8421194" cy="3456384"/>
          </a:xfrm>
        </p:spPr>
        <p:txBody>
          <a:bodyPr/>
          <a:lstStyle/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Identificar los tipos de tráfico a los que se desea aplicar un tratamiento especial. </a:t>
            </a:r>
          </a:p>
          <a:p>
            <a:pPr marL="1028700" lvl="1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el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de clase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HTTP_MAP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que se usará para hacer coincidir el tráfico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class-map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HTTP_MAP</a:t>
            </a:r>
          </a:p>
          <a:p>
            <a:pPr marL="1028700" lvl="1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Este </a:t>
            </a: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mapa de clase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se usará para identificar el tráfico </a:t>
            </a:r>
            <a:r>
              <a:rPr lang="es-E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</a:t>
            </a:r>
            <a:r>
              <a:rPr lang="es-E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s-E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</a:t>
            </a: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s-ES" sz="1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1. Mapas de clase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289CEFD-E50F-A306-556C-88A39EA26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5157192"/>
            <a:ext cx="5518870" cy="121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5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1560" y="1608609"/>
            <a:ext cx="7416824" cy="1019175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verificar los mapas de clase utiliza el siguiente comando:</a:t>
            </a: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run | section 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class-map</a:t>
            </a:r>
            <a:endParaRPr lang="es-E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s-ES" sz="18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Verificar mapas de clase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EAA70E-08BE-E893-1C8E-D25F63832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3235554"/>
            <a:ext cx="3971925" cy="101917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EA1AD29-2958-D9B0-5854-0AA4E325F932}"/>
              </a:ext>
            </a:extLst>
          </p:cNvPr>
          <p:cNvSpPr txBox="1"/>
          <p:nvPr/>
        </p:nvSpPr>
        <p:spPr>
          <a:xfrm>
            <a:off x="899592" y="4649226"/>
            <a:ext cx="7488832" cy="878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muestran los mapas de clase que se configuraron.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todos los mapas de clase, se aplicó el modo default </a:t>
            </a:r>
            <a:r>
              <a:rPr lang="es-ES" sz="18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match-</a:t>
            </a:r>
            <a:r>
              <a:rPr lang="es-ES" sz="18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4116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331640"/>
            <a:ext cx="8352928" cy="4248472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mach-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endParaRPr lang="es-E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 significa que, para que coincida con este mapa de clase,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tráfico debe coincidir con </a:t>
            </a:r>
            <a:r>
              <a:rPr lang="es-ES" sz="18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todas las declaraciones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coincidencia en ese mapa de clase</a:t>
            </a:r>
            <a:r>
              <a:rPr lang="es-ES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class-map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mach-</a:t>
            </a:r>
            <a:r>
              <a:rPr lang="es-ES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s-E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HTTP_FTP_MAP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match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http 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match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ftp</a:t>
            </a: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 hay varias declaraciones de coincidencia, deben cumplirse todas.</a:t>
            </a: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Diferencia entre match-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all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y match-any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391EDA6-FD5B-695E-D18D-18E3BC718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373216"/>
            <a:ext cx="7088059" cy="10379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774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8164" y="1412776"/>
            <a:ext cx="8056283" cy="3528392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mach-</a:t>
            </a: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endParaRPr lang="es-ES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este caso, cada mapa de clase solo tiene una declaración match, por lo que no importa, pero si hay varias declaraciones de coincidencia, deben cumplirse todas.</a:t>
            </a: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Diferencia entre match-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all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y match-any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EAA70E-08BE-E893-1C8E-D25F63832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037" y="3789040"/>
            <a:ext cx="3971925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65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11560" y="1334840"/>
            <a:ext cx="7992888" cy="3330370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mach-any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  <a:spcAft>
                <a:spcPts val="1200"/>
              </a:spcAft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 significa que, para que coincida con este mapa de clase, 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tráfico debe coincidir con </a:t>
            </a:r>
            <a:r>
              <a:rPr lang="es-ES" sz="1800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 menos una</a:t>
            </a:r>
            <a:r>
              <a:rPr lang="es-ES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las declaraciones de coincidencia</a:t>
            </a:r>
            <a:r>
              <a:rPr lang="es-ES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ese mapa de clase. 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class-map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mach-any</a:t>
            </a:r>
            <a:r>
              <a:rPr lang="es-E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HTTP_HTTPS_MAP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match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http </a:t>
            </a:r>
          </a:p>
          <a:p>
            <a:pPr indent="0" algn="just">
              <a:lnSpc>
                <a:spcPts val="3000"/>
              </a:lnSpc>
              <a:spcBef>
                <a:spcPts val="0"/>
              </a:spcBef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match </a:t>
            </a:r>
            <a:r>
              <a:rPr lang="es-ES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https</a:t>
            </a:r>
          </a:p>
          <a:p>
            <a:pPr indent="0" algn="just">
              <a:lnSpc>
                <a:spcPts val="3000"/>
              </a:lnSpc>
              <a:spcBef>
                <a:spcPts val="1200"/>
              </a:spcBef>
              <a:spcAft>
                <a:spcPts val="1200"/>
              </a:spcAft>
            </a:pP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59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D2FAA3E-64BB-4FFB-46CC-02579F1E6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Diferencia entre match-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all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y match-any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811DE5-DB42-F94B-A9EE-F6B7057E5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4869160"/>
            <a:ext cx="6711652" cy="9828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0CBB0A7-10BD-D26D-6721-6A689FE1016B}"/>
              </a:ext>
            </a:extLst>
          </p:cNvPr>
          <p:cNvSpPr txBox="1"/>
          <p:nvPr/>
        </p:nvSpPr>
        <p:spPr>
          <a:xfrm>
            <a:off x="4355976" y="3861048"/>
            <a:ext cx="4176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ese caso, si un paquete es un paquete HTTP o un paquete HTTPS, coincidiría con este mapa de clase.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34313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589240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Configure el mapa de políticas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definir qué tipo de tratamiento le queremos dar a cada tipo de tráfico. </a:t>
            </a:r>
          </a:p>
          <a:p>
            <a:pPr lvl="1" indent="0" algn="just">
              <a:lnSpc>
                <a:spcPct val="150000"/>
              </a:lnSpc>
              <a:spcBef>
                <a:spcPts val="1200"/>
              </a:spcBef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olicy-map</a:t>
            </a:r>
            <a:r>
              <a:rPr lang="es-E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 LA POLÍTICA</a:t>
            </a:r>
          </a:p>
          <a:p>
            <a:pPr lvl="1" indent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DE CLASE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hacer con el tráfico que coincide con este mapa de clases:</a:t>
            </a:r>
          </a:p>
          <a:p>
            <a:pPr marL="57144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Marca el paquete con un valor </a:t>
            </a:r>
            <a:r>
              <a:rPr lang="es-ES" sz="1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Differentiated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Services </a:t>
            </a:r>
            <a:r>
              <a:rPr lang="es-E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Point – Punto de código de servicios diferenciados) </a:t>
            </a:r>
          </a:p>
          <a:p>
            <a:pPr marL="74301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dscp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7144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una prioridad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301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percent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57144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un ancho de banda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3010" lvl="1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bandwidth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3010" lvl="1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3010" lvl="1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2. Configure el mapa de políticas</a:t>
            </a:r>
          </a:p>
        </p:txBody>
      </p:sp>
    </p:spTree>
    <p:extLst>
      <p:ext uri="{BB962C8B-B14F-4D97-AF65-F5344CB8AC3E}">
        <p14:creationId xmlns:p14="http://schemas.microsoft.com/office/powerpoint/2010/main" val="305250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7551" y="1484784"/>
            <a:ext cx="4282441" cy="3024336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(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Differentiated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Point) 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Hace referencia al segundo byte del encabezado de los paquetes IP y se utiliza para diferenciar la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calidad en la comunicación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tienen los datos que se transportan.</a:t>
            </a:r>
          </a:p>
          <a:p>
            <a:pPr marL="571440" indent="-28575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marcado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calidad del servicio (</a:t>
            </a:r>
            <a:r>
              <a:rPr lang="es-ES" sz="1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QoS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determina la 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clasificación del tráfico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los datos de red. </a:t>
            </a:r>
            <a:endParaRPr lang="es-ES" sz="1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DSCP -DSCP (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Differentiated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Services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Code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Point)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785B9D-9A5D-0303-7FC0-BE954C150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2060848"/>
            <a:ext cx="3744416" cy="449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2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8717" y="1556791"/>
            <a:ext cx="4423283" cy="4709323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</a:t>
            </a: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utiliza para determinar </a:t>
            </a:r>
            <a:r>
              <a:rPr lang="es-E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tráfico de red requiere un mayor ancho de banda, tiene una mayor prioridad y tiene más probabilidades de pérdida de paquetes</a:t>
            </a:r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endParaRPr lang="es-MX" sz="800" b="0" i="0" dirty="0">
              <a:solidFill>
                <a:srgbClr val="001D3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MX" sz="16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s-MX" sz="1600" b="1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precedencia IP </a:t>
            </a:r>
            <a:r>
              <a:rPr lang="es-MX" sz="16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 un campo de tres bits dentro del encabezado IP que indica la </a:t>
            </a:r>
            <a:r>
              <a:rPr lang="es-MX" sz="1600" b="1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prioridad de un paquete en la red</a:t>
            </a:r>
            <a:r>
              <a:rPr lang="es-MX" sz="1600" b="0" i="0" dirty="0">
                <a:solidFill>
                  <a:srgbClr val="001D3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  <a:r>
              <a:rPr lang="es-MX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Cuanto mayor sea el valor, mayor será la importancia del paquete IP; en caso de congestión, el ruteador descartará primero los paquetes de baja prioridad. </a:t>
            </a:r>
            <a:endParaRPr lang="es-ES" sz="1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DSCP -DSCP (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Differentiated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Services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Code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Point)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785B9D-9A5D-0303-7FC0-BE954C150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664802"/>
            <a:ext cx="3744416" cy="449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0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484784"/>
            <a:ext cx="8450682" cy="3024336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(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Differentiated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Point)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precedence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alta implica mayor probabilidad de descarte.</a:t>
            </a:r>
            <a:endParaRPr lang="es-ES" sz="1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DSCP -DSCP (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Differentiated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Services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Code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Point)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901ADB4-1F8A-94B6-A736-4AB8CEFD3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37" y="2604120"/>
            <a:ext cx="56483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1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51520" y="1753920"/>
            <a:ext cx="4176464" cy="3024336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DSCP (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Differentiated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Services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Point) </a:t>
            </a:r>
          </a:p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precedence</a:t>
            </a:r>
            <a:r>
              <a:rPr lang="es-ES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alta implica mayor probabilidad de descarte.</a:t>
            </a:r>
            <a:endParaRPr lang="es-ES" sz="1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DSCP -DSCP (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Differentiated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Services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</a:t>
            </a:r>
            <a:r>
              <a:rPr lang="es-ES_tradnl" altLang="es-MX" sz="2000" b="1" dirty="0" err="1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Code</a:t>
            </a: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 Point)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08DDC91-27B8-26B1-0870-586AD7D31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420416"/>
            <a:ext cx="3528392" cy="522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6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9512" y="1484784"/>
            <a:ext cx="8856984" cy="4968552"/>
          </a:xfrm>
        </p:spPr>
        <p:txBody>
          <a:bodyPr/>
          <a:lstStyle/>
          <a:p>
            <a:pPr indent="0" algn="just">
              <a:lnSpc>
                <a:spcPct val="15000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Aplique el mapa de políticas usando una política de servicios</a:t>
            </a:r>
            <a:endParaRPr lang="es-E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0" algn="just">
              <a:lnSpc>
                <a:spcPct val="150000"/>
              </a:lnSpc>
              <a:spcBef>
                <a:spcPts val="1800"/>
              </a:spcBef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interfaz de salida del ruteador</a:t>
            </a:r>
          </a:p>
          <a:p>
            <a:pPr lvl="1" indent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service-police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 output </a:t>
            </a:r>
            <a:r>
              <a:rPr lang="es-ES" sz="20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 LA POLÍTICA DE SERVICIOS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9507BCF-1FAB-8CE7-567E-0ED326A82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88640"/>
            <a:ext cx="708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4C6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Principales pasos para configurar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QoS</a:t>
            </a:r>
            <a:endParaRPr lang="es-ES_tradnl" altLang="es-MX" sz="2000" b="1" dirty="0">
              <a:solidFill>
                <a:schemeClr val="accent3">
                  <a:lumMod val="75000"/>
                </a:schemeClr>
              </a:solidFill>
              <a:latin typeface="Dom Casual" charset="0"/>
            </a:endParaRPr>
          </a:p>
          <a:p>
            <a:pPr>
              <a:spcBef>
                <a:spcPts val="0"/>
              </a:spcBef>
            </a:pPr>
            <a:r>
              <a:rPr lang="es-ES_tradnl" altLang="es-MX" sz="2000" b="1" dirty="0">
                <a:solidFill>
                  <a:schemeClr val="accent3">
                    <a:lumMod val="75000"/>
                  </a:schemeClr>
                </a:solidFill>
                <a:latin typeface="Dom Casual" charset="0"/>
              </a:rPr>
              <a:t>3. Aplique el mapa de políticas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798AC2A-DA85-876A-BA73-1822B21AF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528" y="3645024"/>
            <a:ext cx="5648943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2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5054</TotalTime>
  <Words>1321</Words>
  <Application>Microsoft Office PowerPoint</Application>
  <PresentationFormat>On-screen Show (4:3)</PresentationFormat>
  <Paragraphs>147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Courier New</vt:lpstr>
      <vt:lpstr>Dom Casual</vt:lpstr>
      <vt:lpstr>Tema de Office</vt:lpstr>
      <vt:lpstr>TC 3003B Implementación de redes de área amplia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 2022 Interconexión de redes</dc:title>
  <dc:creator>Lizethe Pérez Fuertes</dc:creator>
  <cp:lastModifiedBy>Lizethe Pérez Fuertes</cp:lastModifiedBy>
  <cp:revision>48</cp:revision>
  <dcterms:created xsi:type="dcterms:W3CDTF">2021-02-08T03:07:42Z</dcterms:created>
  <dcterms:modified xsi:type="dcterms:W3CDTF">2025-04-28T22:51:45Z</dcterms:modified>
</cp:coreProperties>
</file>