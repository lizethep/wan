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1.xml" ContentType="application/vnd.openxmlformats-officedocument.presentationml.tags+xml"/>
  <Override PartName="/ppt/notesSlides/notesSlide10.xml" ContentType="application/vnd.openxmlformats-officedocument.presentationml.notesSlide+xml"/>
  <Override PartName="/ppt/tags/tag2.xml" ContentType="application/vnd.openxmlformats-officedocument.presentationml.tags+xml"/>
  <Override PartName="/ppt/notesSlides/notesSlide11.xml" ContentType="application/vnd.openxmlformats-officedocument.presentationml.notesSlide+xml"/>
  <Override PartName="/ppt/tags/tag3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7" r:id="rId2"/>
    <p:sldId id="258" r:id="rId3"/>
    <p:sldId id="262" r:id="rId4"/>
    <p:sldId id="263" r:id="rId5"/>
    <p:sldId id="264" r:id="rId6"/>
    <p:sldId id="265" r:id="rId7"/>
    <p:sldId id="266" r:id="rId8"/>
    <p:sldId id="267" r:id="rId9"/>
    <p:sldId id="326" r:id="rId10"/>
    <p:sldId id="1110" r:id="rId11"/>
    <p:sldId id="1136" r:id="rId12"/>
    <p:sldId id="1111" r:id="rId13"/>
    <p:sldId id="269" r:id="rId14"/>
    <p:sldId id="325" r:id="rId15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2200"/>
    <a:srgbClr val="050A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13" autoAdjust="0"/>
    <p:restoredTop sz="92819" autoAdjust="0"/>
  </p:normalViewPr>
  <p:slideViewPr>
    <p:cSldViewPr>
      <p:cViewPr varScale="1">
        <p:scale>
          <a:sx n="99" d="100"/>
          <a:sy n="99" d="100"/>
        </p:scale>
        <p:origin x="1878" y="84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445F07-8756-451B-A938-0248325FC7BB}" type="datetimeFigureOut">
              <a:rPr lang="es-MX" smtClean="0"/>
              <a:t>21/04/2025</a:t>
            </a:fld>
            <a:endParaRPr lang="es-MX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93AEC0-242E-4FA7-9D3C-51E1036AC3CB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817066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54257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dirty="0"/>
          </a:p>
        </p:txBody>
      </p:sp>
      <p:sp>
        <p:nvSpPr>
          <p:cNvPr id="17412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1E45F731-13C2-4CED-BDB7-5B5B0FDBC4E8}" type="slidenum">
              <a:rPr lang="es-MX" sz="1200" smtClean="0"/>
              <a:pPr/>
              <a:t>2</a:t>
            </a:fld>
            <a:endParaRPr lang="es-MX" sz="1200" dirty="0"/>
          </a:p>
        </p:txBody>
      </p:sp>
    </p:spTree>
    <p:extLst>
      <p:ext uri="{BB962C8B-B14F-4D97-AF65-F5344CB8AC3E}">
        <p14:creationId xmlns:p14="http://schemas.microsoft.com/office/powerpoint/2010/main" val="25684279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24265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s-419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937491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s-419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0689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s-419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986175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152503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21/04/2025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31367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21/04/2025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3379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21/04/2025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12786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21/04/2025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72760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21/04/2025</a:t>
            </a:fld>
            <a:endParaRPr lang="es-MX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79156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21/04/2025</a:t>
            </a:fld>
            <a:endParaRPr lang="es-MX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79741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21/04/2025</a:t>
            </a:fld>
            <a:endParaRPr lang="es-MX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25150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21/04/2025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44704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21/04/2025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95927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21/04/2025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32895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21/04/2025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788415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4663" y="1797051"/>
            <a:ext cx="8280057" cy="4098595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baseline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437766" y="455085"/>
            <a:ext cx="8345488" cy="975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7085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="http://schemas.openxmlformats.org/drawingml/2006/chart" xmlns:c15="http://schemas.microsoft.com/office/drawing/2012/chart" xmlns="">
      <p:transition xmlns:p14="http://schemas.microsoft.com/office/powerpoint/2010/main"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5A0DC-66C6-4CEC-A5EB-F8C97CEC3796}" type="datetimeFigureOut">
              <a:rPr lang="es-MX" smtClean="0"/>
              <a:t>21/04/2025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0176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376463"/>
            <a:ext cx="6400800" cy="1249288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</a:rPr>
              <a:t>Listas de control de acceso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MX" sz="2000" dirty="0">
                <a:solidFill>
                  <a:schemeClr val="accent4">
                    <a:lumMod val="50000"/>
                  </a:schemeClr>
                </a:solidFill>
              </a:rPr>
              <a:t>Tecnológico de Monterrey, Campus Querétaro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4748EDA7-6AB6-4F77-A4FA-5B9AD7A2D1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1840" y="3625751"/>
            <a:ext cx="2591353" cy="183554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6FBEED0-3AE1-0CA1-F9DE-D61A3200B872}"/>
              </a:ext>
            </a:extLst>
          </p:cNvPr>
          <p:cNvSpPr txBox="1">
            <a:spLocks/>
          </p:cNvSpPr>
          <p:nvPr/>
        </p:nvSpPr>
        <p:spPr>
          <a:xfrm>
            <a:off x="802556" y="444008"/>
            <a:ext cx="7657876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TC 3003B </a:t>
            </a:r>
            <a:br>
              <a:rPr lang="es-MX" sz="32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Implementación de redes de área amplia</a:t>
            </a:r>
          </a:p>
        </p:txBody>
      </p:sp>
    </p:spTree>
    <p:extLst>
      <p:ext uri="{BB962C8B-B14F-4D97-AF65-F5344CB8AC3E}">
        <p14:creationId xmlns:p14="http://schemas.microsoft.com/office/powerpoint/2010/main" val="2553855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0394562"/>
              </p:ext>
            </p:extLst>
          </p:nvPr>
        </p:nvGraphicFramePr>
        <p:xfrm>
          <a:off x="569642" y="1792726"/>
          <a:ext cx="1819275" cy="255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1819280" imgH="2552567" progId="PBrush">
                  <p:embed/>
                </p:oleObj>
              </mc:Choice>
              <mc:Fallback>
                <p:oleObj name="Bitmap Image" r:id="rId3" imgW="1819280" imgH="2552567" progId="PBrush">
                  <p:embed/>
                  <p:pic>
                    <p:nvPicPr>
                      <p:cNvPr id="307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642" y="1792726"/>
                        <a:ext cx="1819275" cy="2552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533400" y="548680"/>
            <a:ext cx="8077200" cy="641350"/>
          </a:xfrm>
          <a:prstGeom prst="rect">
            <a:avLst/>
          </a:prstGeom>
          <a:gradFill rotWithShape="0">
            <a:gsLst>
              <a:gs pos="0">
                <a:srgbClr val="185E76"/>
              </a:gs>
              <a:gs pos="50000">
                <a:srgbClr val="33CCFF"/>
              </a:gs>
              <a:gs pos="100000">
                <a:srgbClr val="185E76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s-MX" sz="3600" b="1" dirty="0"/>
              <a:t>Objetivos de esta sesión</a:t>
            </a: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9518658C-33C7-4ABF-9977-CAAD440BD411}"/>
              </a:ext>
            </a:extLst>
          </p:cNvPr>
          <p:cNvSpPr txBox="1"/>
          <p:nvPr/>
        </p:nvSpPr>
        <p:spPr>
          <a:xfrm>
            <a:off x="3059832" y="2276872"/>
            <a:ext cx="4680520" cy="1584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 marR="3810" algn="just">
              <a:lnSpc>
                <a:spcPct val="200000"/>
              </a:lnSpc>
            </a:pPr>
            <a:r>
              <a:rPr b="1" spc="-15" dirty="0" err="1">
                <a:solidFill>
                  <a:schemeClr val="accent6">
                    <a:lumMod val="75000"/>
                  </a:schemeClr>
                </a:solidFill>
                <a:cs typeface="Arial Narrow"/>
              </a:rPr>
              <a:t>E</a:t>
            </a:r>
            <a:r>
              <a:rPr b="1" spc="-19" dirty="0" err="1">
                <a:solidFill>
                  <a:schemeClr val="accent6">
                    <a:lumMod val="75000"/>
                  </a:schemeClr>
                </a:solidFill>
                <a:cs typeface="Arial Narrow"/>
              </a:rPr>
              <a:t>s</a:t>
            </a:r>
            <a:r>
              <a:rPr b="1" spc="-11" dirty="0" err="1">
                <a:solidFill>
                  <a:schemeClr val="accent6">
                    <a:lumMod val="75000"/>
                  </a:schemeClr>
                </a:solidFill>
                <a:cs typeface="Arial Narrow"/>
              </a:rPr>
              <a:t>tu</a:t>
            </a:r>
            <a:r>
              <a:rPr b="1" spc="-8" dirty="0" err="1">
                <a:solidFill>
                  <a:schemeClr val="accent6">
                    <a:lumMod val="75000"/>
                  </a:schemeClr>
                </a:solidFill>
                <a:cs typeface="Arial Narrow"/>
              </a:rPr>
              <a:t>di</a:t>
            </a:r>
            <a:r>
              <a:rPr b="1" spc="-26" dirty="0" err="1">
                <a:solidFill>
                  <a:schemeClr val="accent6">
                    <a:lumMod val="75000"/>
                  </a:schemeClr>
                </a:solidFill>
                <a:cs typeface="Arial Narrow"/>
              </a:rPr>
              <a:t>a</a:t>
            </a:r>
            <a:r>
              <a:rPr b="1" spc="-8" dirty="0" err="1">
                <a:solidFill>
                  <a:schemeClr val="accent6">
                    <a:lumMod val="75000"/>
                  </a:schemeClr>
                </a:solidFill>
                <a:cs typeface="Arial Narrow"/>
              </a:rPr>
              <a:t>r</a:t>
            </a:r>
            <a:r>
              <a:rPr b="1" dirty="0">
                <a:solidFill>
                  <a:srgbClr val="3333CC"/>
                </a:solidFill>
                <a:cs typeface="Arial Narrow"/>
              </a:rPr>
              <a:t> </a:t>
            </a:r>
            <a:r>
              <a:rPr b="1" spc="-15" dirty="0">
                <a:solidFill>
                  <a:srgbClr val="3333CC"/>
                </a:solidFill>
                <a:cs typeface="Arial Narrow"/>
              </a:rPr>
              <a:t> </a:t>
            </a:r>
            <a:r>
              <a:rPr spc="-1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e</a:t>
            </a:r>
            <a:r>
              <a:rPr spc="-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l</a:t>
            </a:r>
            <a:r>
              <a:rPr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conjunto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de</a:t>
            </a:r>
            <a:r>
              <a:rPr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26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proto</a:t>
            </a:r>
            <a:r>
              <a:rPr spc="-23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c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olos</a:t>
            </a:r>
            <a:r>
              <a:rPr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30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b="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TCP/IP </a:t>
            </a:r>
            <a:r>
              <a:rPr b="1" spc="-24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b="1"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y</a:t>
            </a:r>
            <a:r>
              <a:rPr b="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b="1" spc="3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diseñar</a:t>
            </a:r>
            <a:r>
              <a:rPr b="1" spc="-8" dirty="0">
                <a:solidFill>
                  <a:srgbClr val="3333CC"/>
                </a:solidFill>
                <a:cs typeface="Arial Narrow"/>
              </a:rPr>
              <a:t> </a:t>
            </a:r>
            <a:r>
              <a:rPr spc="-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listas</a:t>
            </a:r>
            <a:r>
              <a:rPr spc="116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de</a:t>
            </a:r>
            <a:r>
              <a:rPr spc="127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c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on</a:t>
            </a:r>
            <a:r>
              <a:rPr spc="-4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t</a:t>
            </a:r>
            <a:r>
              <a:rPr spc="-23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r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ol</a:t>
            </a:r>
            <a:r>
              <a:rPr spc="13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de</a:t>
            </a:r>
            <a:r>
              <a:rPr spc="120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a</a:t>
            </a:r>
            <a:r>
              <a:rPr spc="-1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cc</a:t>
            </a:r>
            <a:r>
              <a:rPr spc="-19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e</a:t>
            </a:r>
            <a:r>
              <a:rPr spc="-1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s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o</a:t>
            </a:r>
            <a:r>
              <a:rPr b="1" spc="124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b="1" spc="-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(AC</a:t>
            </a:r>
            <a:r>
              <a:rPr b="1" spc="-10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L</a:t>
            </a:r>
            <a:r>
              <a:rPr b="1" spc="-7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’</a:t>
            </a:r>
            <a:r>
              <a:rPr b="1" spc="-19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s</a:t>
            </a:r>
            <a:r>
              <a:rPr b="1" spc="-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) </a:t>
            </a:r>
            <a:r>
              <a:rPr spc="-1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e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n</a:t>
            </a:r>
            <a:r>
              <a:rPr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los</a:t>
            </a:r>
            <a:r>
              <a:rPr spc="-4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ruteadores</a:t>
            </a:r>
            <a:r>
              <a:rPr b="1" spc="-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b="1"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CISC</a:t>
            </a:r>
            <a:r>
              <a:rPr b="1" spc="-19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O</a:t>
            </a:r>
            <a:r>
              <a:rPr b="1" spc="-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.</a:t>
            </a:r>
            <a:endParaRPr dirty="0">
              <a:solidFill>
                <a:schemeClr val="bg2">
                  <a:lumMod val="25000"/>
                </a:schemeClr>
              </a:solidFill>
              <a:cs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1059079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259632" y="1628800"/>
            <a:ext cx="6696744" cy="39459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 marR="3810" algn="just">
              <a:lnSpc>
                <a:spcPct val="150000"/>
              </a:lnSpc>
              <a:spcAft>
                <a:spcPts val="1200"/>
              </a:spcAft>
            </a:pPr>
            <a:r>
              <a:rPr spc="-11" dirty="0">
                <a:cs typeface="Arial Narrow"/>
              </a:rPr>
              <a:t>Los  </a:t>
            </a:r>
            <a:r>
              <a:rPr spc="169" dirty="0">
                <a:cs typeface="Arial Narrow"/>
              </a:rPr>
              <a:t> </a:t>
            </a:r>
            <a:r>
              <a:rPr spc="-11" dirty="0">
                <a:cs typeface="Arial Narrow"/>
              </a:rPr>
              <a:t>pr</a:t>
            </a:r>
            <a:r>
              <a:rPr spc="-19" dirty="0">
                <a:cs typeface="Arial Narrow"/>
              </a:rPr>
              <a:t>o</a:t>
            </a:r>
            <a:r>
              <a:rPr spc="-11" dirty="0">
                <a:cs typeface="Arial Narrow"/>
              </a:rPr>
              <a:t>g</a:t>
            </a:r>
            <a:r>
              <a:rPr spc="-19" dirty="0">
                <a:cs typeface="Arial Narrow"/>
              </a:rPr>
              <a:t>rama</a:t>
            </a:r>
            <a:r>
              <a:rPr spc="-11" dirty="0">
                <a:cs typeface="Arial Narrow"/>
              </a:rPr>
              <a:t>s</a:t>
            </a:r>
            <a:r>
              <a:rPr dirty="0">
                <a:cs typeface="Arial Narrow"/>
              </a:rPr>
              <a:t>  </a:t>
            </a:r>
            <a:r>
              <a:rPr spc="169" dirty="0">
                <a:cs typeface="Arial Narrow"/>
              </a:rPr>
              <a:t> </a:t>
            </a:r>
            <a:r>
              <a:rPr spc="-11" dirty="0">
                <a:cs typeface="Arial Narrow"/>
              </a:rPr>
              <a:t>de</a:t>
            </a:r>
            <a:r>
              <a:rPr dirty="0">
                <a:cs typeface="Arial Narrow"/>
              </a:rPr>
              <a:t>  </a:t>
            </a:r>
            <a:r>
              <a:rPr spc="169" dirty="0">
                <a:cs typeface="Arial Narrow"/>
              </a:rPr>
              <a:t> </a:t>
            </a:r>
            <a:r>
              <a:rPr spc="-15" dirty="0">
                <a:cs typeface="Arial Narrow"/>
              </a:rPr>
              <a:t>aplic</a:t>
            </a:r>
            <a:r>
              <a:rPr spc="-19" dirty="0">
                <a:cs typeface="Arial Narrow"/>
              </a:rPr>
              <a:t>a</a:t>
            </a:r>
            <a:r>
              <a:rPr spc="-15" dirty="0">
                <a:cs typeface="Arial Narrow"/>
              </a:rPr>
              <a:t>ció</a:t>
            </a:r>
            <a:r>
              <a:rPr spc="-11" dirty="0">
                <a:cs typeface="Arial Narrow"/>
              </a:rPr>
              <a:t>n</a:t>
            </a:r>
            <a:r>
              <a:rPr dirty="0">
                <a:cs typeface="Arial Narrow"/>
              </a:rPr>
              <a:t>  </a:t>
            </a:r>
            <a:r>
              <a:rPr spc="165" dirty="0">
                <a:cs typeface="Arial Narrow"/>
              </a:rPr>
              <a:t> </a:t>
            </a:r>
            <a:r>
              <a:rPr spc="-11" dirty="0">
                <a:cs typeface="Arial Narrow"/>
              </a:rPr>
              <a:t>que</a:t>
            </a:r>
            <a:r>
              <a:rPr dirty="0">
                <a:cs typeface="Arial Narrow"/>
              </a:rPr>
              <a:t>  </a:t>
            </a:r>
            <a:r>
              <a:rPr spc="161" dirty="0">
                <a:cs typeface="Arial Narrow"/>
              </a:rPr>
              <a:t> </a:t>
            </a:r>
            <a:r>
              <a:rPr spc="-8" dirty="0">
                <a:cs typeface="Arial Narrow"/>
              </a:rPr>
              <a:t>utiliz</a:t>
            </a:r>
            <a:r>
              <a:rPr spc="-15" dirty="0">
                <a:cs typeface="Arial Narrow"/>
              </a:rPr>
              <a:t>a</a:t>
            </a:r>
            <a:r>
              <a:rPr spc="-11" dirty="0">
                <a:cs typeface="Arial Narrow"/>
              </a:rPr>
              <a:t>n</a:t>
            </a:r>
            <a:r>
              <a:rPr dirty="0">
                <a:cs typeface="Arial Narrow"/>
              </a:rPr>
              <a:t>  </a:t>
            </a:r>
            <a:r>
              <a:rPr spc="165" dirty="0">
                <a:cs typeface="Arial Narrow"/>
              </a:rPr>
              <a:t> </a:t>
            </a:r>
            <a:r>
              <a:rPr spc="-11" dirty="0">
                <a:cs typeface="Arial Narrow"/>
              </a:rPr>
              <a:t>los</a:t>
            </a:r>
            <a:r>
              <a:rPr spc="-8" dirty="0">
                <a:cs typeface="Arial Narrow"/>
              </a:rPr>
              <a:t> </a:t>
            </a:r>
            <a:r>
              <a:rPr spc="-15" dirty="0">
                <a:cs typeface="Arial Narrow"/>
              </a:rPr>
              <a:t>se</a:t>
            </a:r>
            <a:r>
              <a:rPr spc="-19" dirty="0">
                <a:cs typeface="Arial Narrow"/>
              </a:rPr>
              <a:t>r</a:t>
            </a:r>
            <a:r>
              <a:rPr spc="-11" dirty="0">
                <a:cs typeface="Arial Narrow"/>
              </a:rPr>
              <a:t>vi</a:t>
            </a:r>
            <a:r>
              <a:rPr spc="-23" dirty="0">
                <a:cs typeface="Arial Narrow"/>
              </a:rPr>
              <a:t>c</a:t>
            </a:r>
            <a:r>
              <a:rPr spc="-11" dirty="0">
                <a:cs typeface="Arial Narrow"/>
              </a:rPr>
              <a:t>ios</a:t>
            </a:r>
            <a:r>
              <a:rPr dirty="0">
                <a:cs typeface="Arial Narrow"/>
              </a:rPr>
              <a:t> </a:t>
            </a:r>
            <a:r>
              <a:rPr spc="229" dirty="0">
                <a:cs typeface="Arial Narrow"/>
              </a:rPr>
              <a:t> </a:t>
            </a:r>
            <a:r>
              <a:rPr spc="-11" dirty="0">
                <a:cs typeface="Arial Narrow"/>
              </a:rPr>
              <a:t>del</a:t>
            </a:r>
            <a:r>
              <a:rPr dirty="0">
                <a:cs typeface="Arial Narrow"/>
              </a:rPr>
              <a:t> </a:t>
            </a:r>
            <a:r>
              <a:rPr spc="217" dirty="0">
                <a:cs typeface="Arial Narrow"/>
              </a:rPr>
              <a:t> </a:t>
            </a:r>
            <a:r>
              <a:rPr spc="-11" dirty="0">
                <a:cs typeface="Arial Narrow"/>
              </a:rPr>
              <a:t>proto</a:t>
            </a:r>
            <a:r>
              <a:rPr spc="-23" dirty="0">
                <a:cs typeface="Arial Narrow"/>
              </a:rPr>
              <a:t>c</a:t>
            </a:r>
            <a:r>
              <a:rPr spc="-11" dirty="0">
                <a:cs typeface="Arial Narrow"/>
              </a:rPr>
              <a:t>olo</a:t>
            </a:r>
            <a:r>
              <a:rPr dirty="0">
                <a:cs typeface="Arial Narrow"/>
              </a:rPr>
              <a:t> </a:t>
            </a:r>
            <a:r>
              <a:rPr spc="221" dirty="0">
                <a:cs typeface="Arial Narrow"/>
              </a:rPr>
              <a:t> </a:t>
            </a:r>
            <a:r>
              <a:rPr spc="-11" dirty="0">
                <a:solidFill>
                  <a:srgbClr val="006FC0"/>
                </a:solidFill>
                <a:cs typeface="Arial Narrow"/>
              </a:rPr>
              <a:t>TCP/IP</a:t>
            </a:r>
            <a:r>
              <a:rPr dirty="0">
                <a:solidFill>
                  <a:srgbClr val="006FC0"/>
                </a:solidFill>
                <a:cs typeface="Arial Narrow"/>
              </a:rPr>
              <a:t> </a:t>
            </a:r>
            <a:r>
              <a:rPr spc="191" dirty="0">
                <a:solidFill>
                  <a:srgbClr val="006FC0"/>
                </a:solidFill>
                <a:cs typeface="Arial Narrow"/>
              </a:rPr>
              <a:t> </a:t>
            </a:r>
            <a:r>
              <a:rPr spc="-11" dirty="0">
                <a:cs typeface="Arial Narrow"/>
              </a:rPr>
              <a:t>necesitan</a:t>
            </a:r>
            <a:r>
              <a:rPr dirty="0">
                <a:cs typeface="Arial Narrow"/>
              </a:rPr>
              <a:t> </a:t>
            </a:r>
            <a:r>
              <a:rPr spc="217" dirty="0">
                <a:cs typeface="Arial Narrow"/>
              </a:rPr>
              <a:t> </a:t>
            </a:r>
            <a:r>
              <a:rPr spc="-11" dirty="0">
                <a:cs typeface="Arial Narrow"/>
              </a:rPr>
              <a:t>de</a:t>
            </a:r>
            <a:r>
              <a:rPr dirty="0">
                <a:cs typeface="Arial Narrow"/>
              </a:rPr>
              <a:t> </a:t>
            </a:r>
            <a:r>
              <a:rPr spc="217" dirty="0">
                <a:cs typeface="Arial Narrow"/>
              </a:rPr>
              <a:t> </a:t>
            </a:r>
            <a:r>
              <a:rPr spc="-11" dirty="0">
                <a:cs typeface="Arial Narrow"/>
              </a:rPr>
              <a:t>una</a:t>
            </a:r>
            <a:r>
              <a:rPr spc="-8" dirty="0">
                <a:cs typeface="Arial Narrow"/>
              </a:rPr>
              <a:t> identi</a:t>
            </a:r>
            <a:r>
              <a:rPr spc="-4" dirty="0">
                <a:cs typeface="Arial Narrow"/>
              </a:rPr>
              <a:t>f</a:t>
            </a:r>
            <a:r>
              <a:rPr spc="-11" dirty="0">
                <a:cs typeface="Arial Narrow"/>
              </a:rPr>
              <a:t>ica</a:t>
            </a:r>
            <a:r>
              <a:rPr spc="-23" dirty="0">
                <a:cs typeface="Arial Narrow"/>
              </a:rPr>
              <a:t>c</a:t>
            </a:r>
            <a:r>
              <a:rPr spc="-11" dirty="0">
                <a:cs typeface="Arial Narrow"/>
              </a:rPr>
              <a:t>ión</a:t>
            </a:r>
            <a:r>
              <a:rPr dirty="0">
                <a:cs typeface="Arial Narrow"/>
              </a:rPr>
              <a:t> </a:t>
            </a:r>
            <a:r>
              <a:rPr spc="-116" dirty="0">
                <a:cs typeface="Arial Narrow"/>
              </a:rPr>
              <a:t> </a:t>
            </a:r>
            <a:r>
              <a:rPr spc="-11" dirty="0">
                <a:cs typeface="Arial Narrow"/>
              </a:rPr>
              <a:t>lógica</a:t>
            </a:r>
            <a:r>
              <a:rPr dirty="0">
                <a:cs typeface="Arial Narrow"/>
              </a:rPr>
              <a:t> </a:t>
            </a:r>
            <a:r>
              <a:rPr spc="-124" dirty="0">
                <a:cs typeface="Arial Narrow"/>
              </a:rPr>
              <a:t> </a:t>
            </a:r>
            <a:r>
              <a:rPr spc="-11" dirty="0">
                <a:cs typeface="Arial Narrow"/>
              </a:rPr>
              <a:t>para</a:t>
            </a:r>
            <a:r>
              <a:rPr dirty="0">
                <a:cs typeface="Arial Narrow"/>
              </a:rPr>
              <a:t> </a:t>
            </a:r>
            <a:r>
              <a:rPr spc="-127" dirty="0">
                <a:cs typeface="Arial Narrow"/>
              </a:rPr>
              <a:t> </a:t>
            </a:r>
            <a:r>
              <a:rPr spc="-11" dirty="0">
                <a:cs typeface="Arial Narrow"/>
              </a:rPr>
              <a:t>po</a:t>
            </a:r>
            <a:r>
              <a:rPr spc="-8" dirty="0">
                <a:cs typeface="Arial Narrow"/>
              </a:rPr>
              <a:t>d</a:t>
            </a:r>
            <a:r>
              <a:rPr spc="-15" dirty="0">
                <a:cs typeface="Arial Narrow"/>
              </a:rPr>
              <a:t>e</a:t>
            </a:r>
            <a:r>
              <a:rPr spc="-8" dirty="0">
                <a:cs typeface="Arial Narrow"/>
              </a:rPr>
              <a:t>r</a:t>
            </a:r>
            <a:r>
              <a:rPr dirty="0">
                <a:cs typeface="Arial Narrow"/>
              </a:rPr>
              <a:t> </a:t>
            </a:r>
            <a:r>
              <a:rPr spc="-124" dirty="0">
                <a:cs typeface="Arial Narrow"/>
              </a:rPr>
              <a:t> </a:t>
            </a:r>
            <a:r>
              <a:rPr spc="-15" dirty="0">
                <a:cs typeface="Arial Narrow"/>
              </a:rPr>
              <a:t>comunicars</a:t>
            </a:r>
            <a:r>
              <a:rPr spc="-11" dirty="0">
                <a:cs typeface="Arial Narrow"/>
              </a:rPr>
              <a:t>e</a:t>
            </a:r>
            <a:r>
              <a:rPr dirty="0">
                <a:cs typeface="Arial Narrow"/>
              </a:rPr>
              <a:t> </a:t>
            </a:r>
            <a:r>
              <a:rPr spc="-127" dirty="0">
                <a:cs typeface="Arial Narrow"/>
              </a:rPr>
              <a:t> </a:t>
            </a:r>
            <a:r>
              <a:rPr spc="-15" dirty="0">
                <a:cs typeface="Arial Narrow"/>
              </a:rPr>
              <a:t>entre</a:t>
            </a:r>
            <a:r>
              <a:rPr spc="-11" dirty="0">
                <a:cs typeface="Arial Narrow"/>
              </a:rPr>
              <a:t> si</a:t>
            </a:r>
            <a:r>
              <a:rPr spc="-8" dirty="0">
                <a:cs typeface="Arial Narrow"/>
              </a:rPr>
              <a:t>.</a:t>
            </a:r>
            <a:endParaRPr dirty="0">
              <a:cs typeface="Arial Narrow"/>
            </a:endParaRPr>
          </a:p>
          <a:p>
            <a:pPr marR="203359">
              <a:lnSpc>
                <a:spcPts val="2500"/>
              </a:lnSpc>
            </a:pPr>
            <a:r>
              <a:rPr b="1" spc="-15" dirty="0">
                <a:cs typeface="Arial Narrow"/>
              </a:rPr>
              <a:t>20</a:t>
            </a:r>
            <a:r>
              <a:rPr b="1" spc="-8" dirty="0">
                <a:cs typeface="Arial Narrow"/>
              </a:rPr>
              <a:t>,</a:t>
            </a:r>
            <a:r>
              <a:rPr b="1" spc="4" dirty="0">
                <a:cs typeface="Arial Narrow"/>
              </a:rPr>
              <a:t> </a:t>
            </a:r>
            <a:r>
              <a:rPr b="1" spc="-15" dirty="0">
                <a:cs typeface="Arial Narrow"/>
              </a:rPr>
              <a:t>2</a:t>
            </a:r>
            <a:r>
              <a:rPr b="1" spc="-11" dirty="0">
                <a:cs typeface="Arial Narrow"/>
              </a:rPr>
              <a:t>1</a:t>
            </a:r>
            <a:r>
              <a:rPr b="1" spc="-8" dirty="0">
                <a:cs typeface="Arial Narrow"/>
              </a:rPr>
              <a:t> </a:t>
            </a:r>
            <a:r>
              <a:rPr lang="es-ES" b="1" spc="-8" dirty="0">
                <a:cs typeface="Arial Narrow"/>
              </a:rPr>
              <a:t>	</a:t>
            </a:r>
            <a:r>
              <a:rPr b="1" spc="-11" dirty="0">
                <a:cs typeface="Arial Narrow"/>
              </a:rPr>
              <a:t>FTP</a:t>
            </a:r>
            <a:endParaRPr lang="es-ES" b="1" spc="-11" dirty="0">
              <a:cs typeface="Arial Narrow"/>
            </a:endParaRPr>
          </a:p>
          <a:p>
            <a:pPr marR="203359">
              <a:lnSpc>
                <a:spcPts val="2500"/>
              </a:lnSpc>
            </a:pPr>
            <a:r>
              <a:rPr lang="es-ES" b="1" spc="-19" dirty="0">
                <a:cs typeface="Arial Narrow"/>
              </a:rPr>
              <a:t>22 	</a:t>
            </a:r>
            <a:r>
              <a:rPr b="1" spc="-19" dirty="0">
                <a:cs typeface="Arial Narrow"/>
              </a:rPr>
              <a:t>SSH</a:t>
            </a:r>
            <a:endParaRPr lang="es-ES" b="1" spc="-19" dirty="0">
              <a:cs typeface="Arial Narrow"/>
            </a:endParaRPr>
          </a:p>
          <a:p>
            <a:pPr marR="203359">
              <a:lnSpc>
                <a:spcPts val="2500"/>
              </a:lnSpc>
            </a:pPr>
            <a:r>
              <a:rPr lang="es-ES" b="1" spc="-135" dirty="0">
                <a:cs typeface="Arial Narrow"/>
              </a:rPr>
              <a:t>23  	</a:t>
            </a:r>
            <a:r>
              <a:rPr b="1" spc="-135" dirty="0">
                <a:cs typeface="Arial Narrow"/>
              </a:rPr>
              <a:t>T</a:t>
            </a:r>
            <a:r>
              <a:rPr b="1" spc="-15" dirty="0">
                <a:cs typeface="Arial Narrow"/>
              </a:rPr>
              <a:t>elnet</a:t>
            </a:r>
            <a:endParaRPr b="1" dirty="0">
              <a:cs typeface="Arial Narrow"/>
            </a:endParaRPr>
          </a:p>
          <a:p>
            <a:pPr marR="458153">
              <a:lnSpc>
                <a:spcPts val="2500"/>
              </a:lnSpc>
              <a:tabLst>
                <a:tab pos="364331" algn="l"/>
              </a:tabLst>
            </a:pPr>
            <a:r>
              <a:rPr b="1" spc="-15" dirty="0">
                <a:cs typeface="Arial Narrow"/>
              </a:rPr>
              <a:t>5</a:t>
            </a:r>
            <a:r>
              <a:rPr b="1" spc="-11" dirty="0">
                <a:cs typeface="Arial Narrow"/>
              </a:rPr>
              <a:t>3</a:t>
            </a:r>
            <a:r>
              <a:rPr b="1" dirty="0">
                <a:cs typeface="Arial Narrow"/>
              </a:rPr>
              <a:t>	</a:t>
            </a:r>
            <a:r>
              <a:rPr lang="es-ES" b="1" dirty="0">
                <a:cs typeface="Arial Narrow"/>
              </a:rPr>
              <a:t>	</a:t>
            </a:r>
            <a:r>
              <a:rPr b="1" spc="-15" dirty="0">
                <a:cs typeface="Arial Narrow"/>
              </a:rPr>
              <a:t>DNS</a:t>
            </a:r>
            <a:endParaRPr b="1" dirty="0">
              <a:cs typeface="Arial Narrow"/>
            </a:endParaRPr>
          </a:p>
          <a:p>
            <a:pPr marR="372428">
              <a:lnSpc>
                <a:spcPts val="2500"/>
              </a:lnSpc>
              <a:tabLst>
                <a:tab pos="364331" algn="l"/>
              </a:tabLst>
            </a:pPr>
            <a:r>
              <a:rPr b="1" spc="-15" dirty="0">
                <a:cs typeface="Arial Narrow"/>
              </a:rPr>
              <a:t>6</a:t>
            </a:r>
            <a:r>
              <a:rPr b="1" spc="-11" dirty="0">
                <a:cs typeface="Arial Narrow"/>
              </a:rPr>
              <a:t>9</a:t>
            </a:r>
            <a:r>
              <a:rPr b="1" dirty="0">
                <a:cs typeface="Arial Narrow"/>
              </a:rPr>
              <a:t>	</a:t>
            </a:r>
            <a:r>
              <a:rPr lang="es-ES" b="1" dirty="0">
                <a:cs typeface="Arial Narrow"/>
              </a:rPr>
              <a:t>	</a:t>
            </a:r>
            <a:r>
              <a:rPr b="1" spc="-11" dirty="0">
                <a:cs typeface="Arial Narrow"/>
              </a:rPr>
              <a:t>TFTP</a:t>
            </a:r>
            <a:endParaRPr lang="es-ES" b="1" spc="-11" dirty="0">
              <a:cs typeface="Arial Narrow"/>
            </a:endParaRPr>
          </a:p>
          <a:p>
            <a:pPr marR="372428">
              <a:lnSpc>
                <a:spcPts val="2500"/>
              </a:lnSpc>
              <a:tabLst>
                <a:tab pos="364331" algn="l"/>
              </a:tabLst>
            </a:pPr>
            <a:r>
              <a:rPr lang="es-MX" b="1" spc="-11" dirty="0">
                <a:cs typeface="Arial Narrow"/>
              </a:rPr>
              <a:t>80		HTTP</a:t>
            </a:r>
            <a:endParaRPr b="1" dirty="0">
              <a:cs typeface="Arial Narrow"/>
            </a:endParaRPr>
          </a:p>
          <a:p>
            <a:pPr marR="228124">
              <a:lnSpc>
                <a:spcPts val="2500"/>
              </a:lnSpc>
            </a:pPr>
            <a:r>
              <a:rPr b="1" spc="-15" dirty="0">
                <a:cs typeface="Arial Narrow"/>
              </a:rPr>
              <a:t>16</a:t>
            </a:r>
            <a:r>
              <a:rPr b="1" spc="-11" dirty="0">
                <a:cs typeface="Arial Narrow"/>
              </a:rPr>
              <a:t>1</a:t>
            </a:r>
            <a:r>
              <a:rPr b="1" dirty="0">
                <a:cs typeface="Arial Narrow"/>
              </a:rPr>
              <a:t> </a:t>
            </a:r>
            <a:r>
              <a:rPr lang="es-ES" b="1" dirty="0">
                <a:cs typeface="Arial Narrow"/>
              </a:rPr>
              <a:t>	</a:t>
            </a:r>
            <a:r>
              <a:rPr b="1" spc="-15" dirty="0">
                <a:cs typeface="Arial Narrow"/>
              </a:rPr>
              <a:t>SNMP</a:t>
            </a:r>
            <a:endParaRPr lang="es-ES" b="1" spc="-15" dirty="0">
              <a:cs typeface="Arial Narrow"/>
            </a:endParaRPr>
          </a:p>
          <a:p>
            <a:pPr marR="228124">
              <a:lnSpc>
                <a:spcPts val="2500"/>
              </a:lnSpc>
            </a:pPr>
            <a:r>
              <a:rPr lang="es-MX" b="1" spc="-15" dirty="0">
                <a:cs typeface="Arial Narrow"/>
              </a:rPr>
              <a:t>443	HTTPS</a:t>
            </a:r>
            <a:endParaRPr b="1" dirty="0">
              <a:cs typeface="Arial Narrow"/>
            </a:endParaRP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AE92A959-F04E-47CB-AB7E-8B70E57DDCE1}"/>
              </a:ext>
            </a:extLst>
          </p:cNvPr>
          <p:cNvSpPr txBox="1">
            <a:spLocks/>
          </p:cNvSpPr>
          <p:nvPr/>
        </p:nvSpPr>
        <p:spPr>
          <a:xfrm>
            <a:off x="899592" y="764704"/>
            <a:ext cx="6624736" cy="49244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700" b="1" i="0" kern="1200">
                <a:solidFill>
                  <a:schemeClr val="bg1"/>
                </a:solidFill>
                <a:latin typeface="Arial Narrow"/>
                <a:ea typeface="+mj-ea"/>
                <a:cs typeface="Arial Narrow"/>
              </a:defRPr>
            </a:lvl1pPr>
          </a:lstStyle>
          <a:p>
            <a:pPr marL="1463516" algn="l"/>
            <a:r>
              <a:rPr lang="es-MX" sz="3200" spc="-15" dirty="0">
                <a:solidFill>
                  <a:schemeClr val="accent4">
                    <a:lumMod val="50000"/>
                  </a:schemeClr>
                </a:solidFill>
                <a:latin typeface="Dom Casual"/>
              </a:rPr>
              <a:t>Puertos del protocolo</a:t>
            </a:r>
            <a:r>
              <a:rPr lang="es-MX" sz="3200" spc="-4" dirty="0">
                <a:solidFill>
                  <a:schemeClr val="accent4">
                    <a:lumMod val="50000"/>
                  </a:schemeClr>
                </a:solidFill>
                <a:latin typeface="Dom Casual"/>
              </a:rPr>
              <a:t> </a:t>
            </a:r>
            <a:r>
              <a:rPr lang="es-MX" sz="3200" spc="-15" dirty="0">
                <a:solidFill>
                  <a:schemeClr val="accent4">
                    <a:lumMod val="50000"/>
                  </a:schemeClr>
                </a:solidFill>
                <a:latin typeface="Dom Casual"/>
              </a:rPr>
              <a:t>TCP/IP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336668" y="1772816"/>
            <a:ext cx="6470663" cy="35888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 marR="4286" algn="just">
              <a:lnSpc>
                <a:spcPct val="150000"/>
              </a:lnSpc>
              <a:spcAft>
                <a:spcPts val="1200"/>
              </a:spcAft>
            </a:pP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Una</a:t>
            </a:r>
            <a:r>
              <a:rPr spc="6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lista</a:t>
            </a:r>
            <a:r>
              <a:rPr spc="64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d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e</a:t>
            </a:r>
            <a:r>
              <a:rPr spc="6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ac</a:t>
            </a:r>
            <a:r>
              <a:rPr spc="-19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c</a:t>
            </a:r>
            <a:r>
              <a:rPr spc="-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e</a:t>
            </a:r>
            <a:r>
              <a:rPr spc="-1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s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o</a:t>
            </a:r>
            <a:r>
              <a:rPr spc="7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e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s</a:t>
            </a:r>
            <a:r>
              <a:rPr spc="6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un</a:t>
            </a:r>
            <a:r>
              <a:rPr spc="7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conjunt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o</a:t>
            </a:r>
            <a:r>
              <a:rPr spc="7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de</a:t>
            </a:r>
            <a:r>
              <a:rPr spc="6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lang="es-ES" spc="6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acciones</a:t>
            </a:r>
            <a:r>
              <a:rPr spc="-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le</a:t>
            </a:r>
            <a:r>
              <a:rPr spc="10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indican</a:t>
            </a:r>
            <a:r>
              <a:rPr spc="10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a</a:t>
            </a:r>
            <a:r>
              <a:rPr spc="-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l</a:t>
            </a:r>
            <a:r>
              <a:rPr spc="10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ruteador</a:t>
            </a:r>
            <a:r>
              <a:rPr spc="90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la</a:t>
            </a:r>
            <a:r>
              <a:rPr spc="10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ac</a:t>
            </a:r>
            <a:r>
              <a:rPr spc="-23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c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ión</a:t>
            </a:r>
            <a:r>
              <a:rPr spc="10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que</a:t>
            </a:r>
            <a:r>
              <a:rPr spc="10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debe</a:t>
            </a:r>
            <a:r>
              <a:rPr spc="10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tom</a:t>
            </a:r>
            <a:r>
              <a:rPr spc="-23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a</a:t>
            </a:r>
            <a:r>
              <a:rPr spc="-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r</a:t>
            </a:r>
            <a:r>
              <a:rPr spc="10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para</a:t>
            </a:r>
            <a:r>
              <a:rPr spc="-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cad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a</a:t>
            </a:r>
            <a:r>
              <a:rPr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paquete</a:t>
            </a:r>
            <a:r>
              <a:rPr spc="-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que</a:t>
            </a:r>
            <a:r>
              <a:rPr spc="-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entr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a</a:t>
            </a:r>
            <a:r>
              <a:rPr spc="-1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a</a:t>
            </a:r>
            <a:r>
              <a:rPr spc="-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l</a:t>
            </a:r>
            <a:r>
              <a:rPr spc="4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1" dirty="0" err="1">
                <a:solidFill>
                  <a:schemeClr val="bg2">
                    <a:lumMod val="25000"/>
                  </a:schemeClr>
                </a:solidFill>
                <a:cs typeface="Arial Narrow"/>
              </a:rPr>
              <a:t>ruteador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lang="es-ES"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: </a:t>
            </a:r>
            <a:r>
              <a:rPr lang="es-ES" b="1" spc="-1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permitir </a:t>
            </a:r>
            <a:r>
              <a:rPr lang="es-ES" spc="-11" dirty="0">
                <a:solidFill>
                  <a:schemeClr val="bg2">
                    <a:lumMod val="25000"/>
                  </a:schemeClr>
                </a:solidFill>
              </a:rPr>
              <a:t>o </a:t>
            </a:r>
            <a:r>
              <a:rPr lang="es-ES" b="1" spc="-1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negar</a:t>
            </a:r>
            <a:r>
              <a:rPr lang="es-ES" b="1"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lang="es-ES"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el flujo del tráfico</a:t>
            </a:r>
            <a:r>
              <a:rPr spc="-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.</a:t>
            </a:r>
            <a:endParaRPr dirty="0">
              <a:solidFill>
                <a:schemeClr val="bg2">
                  <a:lumMod val="25000"/>
                </a:schemeClr>
              </a:solidFill>
              <a:cs typeface="Arial Narrow"/>
            </a:endParaRPr>
          </a:p>
          <a:p>
            <a:pPr marL="9525" marR="3810" algn="just">
              <a:lnSpc>
                <a:spcPct val="150000"/>
              </a:lnSpc>
              <a:spcAft>
                <a:spcPts val="1200"/>
              </a:spcAft>
            </a:pP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La</a:t>
            </a:r>
            <a:r>
              <a:rPr spc="172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ac</a:t>
            </a:r>
            <a:r>
              <a:rPr spc="-19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c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ión</a:t>
            </a:r>
            <a:r>
              <a:rPr spc="180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qu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e</a:t>
            </a:r>
            <a:r>
              <a:rPr spc="172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e</a:t>
            </a:r>
            <a:r>
              <a:rPr spc="-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l</a:t>
            </a:r>
            <a:r>
              <a:rPr spc="176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rut</a:t>
            </a:r>
            <a:r>
              <a:rPr spc="-23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e</a:t>
            </a:r>
            <a:r>
              <a:rPr spc="-1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ado</a:t>
            </a:r>
            <a:r>
              <a:rPr spc="-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r</a:t>
            </a:r>
            <a:r>
              <a:rPr spc="176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to</a:t>
            </a:r>
            <a:r>
              <a:rPr spc="-1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m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a</a:t>
            </a:r>
            <a:r>
              <a:rPr spc="169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sobr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e</a:t>
            </a:r>
            <a:r>
              <a:rPr spc="176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cad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a</a:t>
            </a:r>
            <a:r>
              <a:rPr spc="172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paquete puede</a:t>
            </a:r>
            <a:r>
              <a:rPr spc="18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esta</a:t>
            </a:r>
            <a:r>
              <a:rPr spc="-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r</a:t>
            </a:r>
            <a:r>
              <a:rPr spc="184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basada</a:t>
            </a:r>
            <a:r>
              <a:rPr spc="19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e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n</a:t>
            </a:r>
            <a:r>
              <a:rPr spc="18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la</a:t>
            </a:r>
            <a:r>
              <a:rPr spc="184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direc</a:t>
            </a:r>
            <a:r>
              <a:rPr b="1" spc="-4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c</a:t>
            </a:r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ión</a:t>
            </a:r>
            <a:r>
              <a:rPr b="1" spc="19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 </a:t>
            </a:r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I</a:t>
            </a:r>
            <a:r>
              <a:rPr b="1" spc="-15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P</a:t>
            </a:r>
            <a:r>
              <a:rPr b="1" spc="165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 </a:t>
            </a:r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del</a:t>
            </a:r>
            <a:r>
              <a:rPr b="1" spc="195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 </a:t>
            </a:r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origen</a:t>
            </a:r>
            <a:r>
              <a:rPr b="1" spc="-8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,</a:t>
            </a:r>
            <a:r>
              <a:rPr b="1" spc="188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 </a:t>
            </a:r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la direc</a:t>
            </a:r>
            <a:r>
              <a:rPr b="1" spc="-23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c</a:t>
            </a:r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ión</a:t>
            </a:r>
            <a:r>
              <a:rPr b="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 </a:t>
            </a:r>
            <a:r>
              <a:rPr b="1" spc="34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 </a:t>
            </a:r>
            <a:r>
              <a:rPr b="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I</a:t>
            </a:r>
            <a:r>
              <a:rPr b="1" spc="-15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P</a:t>
            </a:r>
            <a:r>
              <a:rPr b="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 </a:t>
            </a:r>
            <a:r>
              <a:rPr b="1" spc="4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 </a:t>
            </a:r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del</a:t>
            </a:r>
            <a:r>
              <a:rPr b="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 </a:t>
            </a:r>
            <a:r>
              <a:rPr b="1" spc="38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 </a:t>
            </a:r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des</a:t>
            </a:r>
            <a:r>
              <a:rPr b="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t</a:t>
            </a:r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in</a:t>
            </a:r>
            <a:r>
              <a:rPr b="1" spc="-8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o,</a:t>
            </a:r>
            <a:r>
              <a:rPr b="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 </a:t>
            </a:r>
            <a:r>
              <a:rPr b="1" spc="30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 </a:t>
            </a:r>
            <a:r>
              <a:rPr b="1" spc="-15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e</a:t>
            </a:r>
            <a:r>
              <a:rPr b="1" spc="-8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l</a:t>
            </a:r>
            <a:r>
              <a:rPr b="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 </a:t>
            </a:r>
            <a:r>
              <a:rPr b="1" spc="30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 </a:t>
            </a:r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p</a:t>
            </a:r>
            <a:r>
              <a:rPr b="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r</a:t>
            </a:r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o</a:t>
            </a:r>
            <a:r>
              <a:rPr b="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t</a:t>
            </a:r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oc</a:t>
            </a:r>
            <a:r>
              <a:rPr b="1" spc="-8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o</a:t>
            </a:r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lo</a:t>
            </a:r>
            <a:r>
              <a:rPr b="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 </a:t>
            </a:r>
            <a:r>
              <a:rPr b="1" spc="26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 </a:t>
            </a:r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o</a:t>
            </a:r>
            <a:r>
              <a:rPr b="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 </a:t>
            </a:r>
            <a:r>
              <a:rPr b="1" spc="23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 </a:t>
            </a:r>
            <a:r>
              <a:rPr b="1" spc="-15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e</a:t>
            </a:r>
            <a:r>
              <a:rPr b="1" spc="-8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l</a:t>
            </a:r>
            <a:r>
              <a:rPr b="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 </a:t>
            </a:r>
            <a:r>
              <a:rPr b="1" spc="38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 </a:t>
            </a:r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puerto</a:t>
            </a:r>
            <a:r>
              <a:rPr b="1" spc="-8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 utiliz</a:t>
            </a:r>
            <a:r>
              <a:rPr b="1" spc="-15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ad</a:t>
            </a:r>
            <a:r>
              <a:rPr b="1" spc="-8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o.</a:t>
            </a:r>
            <a:endParaRPr b="1" dirty="0">
              <a:solidFill>
                <a:schemeClr val="accent6">
                  <a:lumMod val="75000"/>
                </a:schemeClr>
              </a:solidFill>
              <a:cs typeface="Arial Narrow"/>
            </a:endParaRPr>
          </a:p>
          <a:p>
            <a:pPr marL="9525" marR="5715" algn="just">
              <a:lnSpc>
                <a:spcPct val="150000"/>
              </a:lnSpc>
              <a:spcAft>
                <a:spcPts val="1200"/>
              </a:spcAft>
            </a:pP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Las</a:t>
            </a:r>
            <a:r>
              <a:rPr spc="184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listas</a:t>
            </a:r>
            <a:r>
              <a:rPr spc="18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d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e</a:t>
            </a:r>
            <a:r>
              <a:rPr spc="184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contro</a:t>
            </a:r>
            <a:r>
              <a:rPr spc="-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l</a:t>
            </a:r>
            <a:r>
              <a:rPr spc="184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de</a:t>
            </a:r>
            <a:r>
              <a:rPr spc="184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acces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o</a:t>
            </a:r>
            <a:r>
              <a:rPr spc="199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permiten</a:t>
            </a:r>
            <a:r>
              <a:rPr spc="18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estable</a:t>
            </a:r>
            <a:r>
              <a:rPr spc="-19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c</a:t>
            </a:r>
            <a:r>
              <a:rPr spc="-1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er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un nivel</a:t>
            </a:r>
            <a:r>
              <a:rPr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de</a:t>
            </a:r>
            <a:r>
              <a:rPr spc="-4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segurida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d</a:t>
            </a:r>
            <a:r>
              <a:rPr spc="-4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básico</a:t>
            </a:r>
            <a:r>
              <a:rPr spc="-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dentro</a:t>
            </a:r>
            <a:r>
              <a:rPr spc="-4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del</a:t>
            </a:r>
            <a:r>
              <a:rPr spc="-4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ruteado</a:t>
            </a:r>
            <a:r>
              <a:rPr spc="-10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r</a:t>
            </a:r>
            <a:r>
              <a:rPr spc="-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.</a:t>
            </a:r>
            <a:endParaRPr dirty="0">
              <a:solidFill>
                <a:schemeClr val="bg2">
                  <a:lumMod val="25000"/>
                </a:schemeClr>
              </a:solidFill>
              <a:cs typeface="Arial Narrow"/>
            </a:endParaRP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BEF5F858-B7ED-4186-A124-93E9DDA48FF6}"/>
              </a:ext>
            </a:extLst>
          </p:cNvPr>
          <p:cNvSpPr txBox="1">
            <a:spLocks/>
          </p:cNvSpPr>
          <p:nvPr/>
        </p:nvSpPr>
        <p:spPr>
          <a:xfrm>
            <a:off x="1007981" y="764705"/>
            <a:ext cx="6624736" cy="49244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700" b="1" i="0" kern="1200">
                <a:solidFill>
                  <a:schemeClr val="bg1"/>
                </a:solidFill>
                <a:latin typeface="Arial Narrow"/>
                <a:ea typeface="+mj-ea"/>
                <a:cs typeface="Arial Narrow"/>
              </a:defRPr>
            </a:lvl1pPr>
          </a:lstStyle>
          <a:p>
            <a:pPr marL="1463516" algn="l"/>
            <a:r>
              <a:rPr lang="es-MX" sz="3200" spc="-15" dirty="0">
                <a:solidFill>
                  <a:schemeClr val="accent4">
                    <a:lumMod val="50000"/>
                  </a:schemeClr>
                </a:solidFill>
                <a:latin typeface="Dom Casual"/>
              </a:rPr>
              <a:t>Listas de control de acceso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03648" y="1772816"/>
            <a:ext cx="6552728" cy="3299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200000"/>
              </a:lnSpc>
              <a:spcAft>
                <a:spcPts val="600"/>
              </a:spcAft>
            </a:pPr>
            <a:r>
              <a:rPr lang="es-ES" sz="2000" b="1" spc="-15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Las listas de control de acceso</a:t>
            </a:r>
            <a:r>
              <a:rPr lang="es-ES" sz="2000" b="1" spc="-11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 se utilizan para:</a:t>
            </a:r>
            <a:endParaRPr sz="2000" dirty="0">
              <a:solidFill>
                <a:schemeClr val="accent6">
                  <a:lumMod val="75000"/>
                </a:schemeClr>
              </a:solidFill>
              <a:cs typeface="Times New Roman"/>
            </a:endParaRPr>
          </a:p>
          <a:p>
            <a:pPr marL="581025" marR="30480" indent="-285750" algn="just">
              <a:lnSpc>
                <a:spcPct val="200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54343" algn="l"/>
              </a:tabLst>
            </a:pPr>
            <a:r>
              <a:rPr sz="2000" spc="-15" dirty="0" err="1">
                <a:cs typeface="Times New Roman"/>
              </a:rPr>
              <a:t>L</a:t>
            </a:r>
            <a:r>
              <a:rPr sz="2000" spc="-4" dirty="0" err="1">
                <a:cs typeface="Times New Roman"/>
              </a:rPr>
              <a:t>i</a:t>
            </a:r>
            <a:r>
              <a:rPr sz="2000" spc="-30" dirty="0" err="1">
                <a:cs typeface="Times New Roman"/>
              </a:rPr>
              <a:t>m</a:t>
            </a:r>
            <a:r>
              <a:rPr sz="2000" spc="-8" dirty="0" err="1">
                <a:cs typeface="Times New Roman"/>
              </a:rPr>
              <a:t>itar</a:t>
            </a:r>
            <a:r>
              <a:rPr sz="2000" spc="199" dirty="0">
                <a:cs typeface="Times New Roman"/>
              </a:rPr>
              <a:t> </a:t>
            </a:r>
            <a:r>
              <a:rPr sz="2000" spc="-19" dirty="0">
                <a:cs typeface="Times New Roman"/>
              </a:rPr>
              <a:t>e</a:t>
            </a:r>
            <a:r>
              <a:rPr sz="2000" spc="-8" dirty="0">
                <a:cs typeface="Times New Roman"/>
              </a:rPr>
              <a:t>l</a:t>
            </a:r>
            <a:r>
              <a:rPr sz="2000" spc="203" dirty="0">
                <a:cs typeface="Times New Roman"/>
              </a:rPr>
              <a:t> </a:t>
            </a:r>
            <a:r>
              <a:rPr sz="2000" spc="-8" dirty="0">
                <a:cs typeface="Times New Roman"/>
              </a:rPr>
              <a:t>tráf</a:t>
            </a:r>
            <a:r>
              <a:rPr sz="2000" spc="-4" dirty="0">
                <a:cs typeface="Times New Roman"/>
              </a:rPr>
              <a:t>i</a:t>
            </a:r>
            <a:r>
              <a:rPr sz="2000" spc="-11" dirty="0">
                <a:cs typeface="Times New Roman"/>
              </a:rPr>
              <a:t>co</a:t>
            </a:r>
            <a:r>
              <a:rPr sz="2000" spc="195" dirty="0">
                <a:cs typeface="Times New Roman"/>
              </a:rPr>
              <a:t> </a:t>
            </a:r>
            <a:r>
              <a:rPr sz="2000" spc="-8" dirty="0">
                <a:cs typeface="Times New Roman"/>
              </a:rPr>
              <a:t>d</a:t>
            </a:r>
            <a:r>
              <a:rPr sz="2000" spc="-11" dirty="0">
                <a:cs typeface="Times New Roman"/>
              </a:rPr>
              <a:t>e</a:t>
            </a:r>
            <a:r>
              <a:rPr sz="2000" spc="199" dirty="0">
                <a:cs typeface="Times New Roman"/>
              </a:rPr>
              <a:t> </a:t>
            </a:r>
            <a:r>
              <a:rPr sz="2000" spc="-11" dirty="0">
                <a:cs typeface="Times New Roman"/>
              </a:rPr>
              <a:t>la</a:t>
            </a:r>
            <a:r>
              <a:rPr sz="2000" spc="188" dirty="0">
                <a:cs typeface="Times New Roman"/>
              </a:rPr>
              <a:t> </a:t>
            </a:r>
            <a:r>
              <a:rPr sz="2000" spc="-11" dirty="0">
                <a:cs typeface="Times New Roman"/>
              </a:rPr>
              <a:t>red</a:t>
            </a:r>
            <a:r>
              <a:rPr sz="2000" spc="206" dirty="0">
                <a:cs typeface="Times New Roman"/>
              </a:rPr>
              <a:t> </a:t>
            </a:r>
            <a:r>
              <a:rPr sz="2000" spc="-11" dirty="0">
                <a:cs typeface="Times New Roman"/>
              </a:rPr>
              <a:t>e</a:t>
            </a:r>
            <a:r>
              <a:rPr sz="2000" spc="199" dirty="0">
                <a:cs typeface="Times New Roman"/>
              </a:rPr>
              <a:t> </a:t>
            </a:r>
            <a:r>
              <a:rPr sz="2000" spc="-8" dirty="0" err="1">
                <a:cs typeface="Times New Roman"/>
              </a:rPr>
              <a:t>in</a:t>
            </a:r>
            <a:r>
              <a:rPr sz="2000" spc="-11" dirty="0" err="1">
                <a:cs typeface="Times New Roman"/>
              </a:rPr>
              <a:t>cre</a:t>
            </a:r>
            <a:r>
              <a:rPr sz="2000" spc="-38" dirty="0" err="1">
                <a:cs typeface="Times New Roman"/>
              </a:rPr>
              <a:t>m</a:t>
            </a:r>
            <a:r>
              <a:rPr sz="2000" spc="-11" dirty="0" err="1">
                <a:cs typeface="Times New Roman"/>
              </a:rPr>
              <a:t>ent</a:t>
            </a:r>
            <a:r>
              <a:rPr sz="2000" spc="-8" dirty="0" err="1">
                <a:cs typeface="Times New Roman"/>
              </a:rPr>
              <a:t>a</a:t>
            </a:r>
            <a:r>
              <a:rPr lang="es-ES" sz="2000" spc="-8" dirty="0">
                <a:cs typeface="Times New Roman"/>
              </a:rPr>
              <a:t>r su</a:t>
            </a:r>
            <a:r>
              <a:rPr lang="es-ES" sz="2000" spc="203" dirty="0">
                <a:cs typeface="Times New Roman"/>
              </a:rPr>
              <a:t> </a:t>
            </a:r>
            <a:r>
              <a:rPr sz="2000" spc="-11" dirty="0" err="1">
                <a:cs typeface="Times New Roman"/>
              </a:rPr>
              <a:t>dese</a:t>
            </a:r>
            <a:r>
              <a:rPr sz="2000" spc="-34" dirty="0" err="1">
                <a:cs typeface="Times New Roman"/>
              </a:rPr>
              <a:t>m</a:t>
            </a:r>
            <a:r>
              <a:rPr sz="2000" spc="-11" dirty="0" err="1">
                <a:cs typeface="Times New Roman"/>
              </a:rPr>
              <a:t>peño</a:t>
            </a:r>
            <a:r>
              <a:rPr lang="es-ES" sz="2000" spc="-11" dirty="0">
                <a:cs typeface="Times New Roman"/>
              </a:rPr>
              <a:t>.</a:t>
            </a:r>
            <a:endParaRPr sz="2000" dirty="0">
              <a:cs typeface="Times New Roman"/>
            </a:endParaRPr>
          </a:p>
          <a:p>
            <a:pPr marL="581025" indent="-285750">
              <a:lnSpc>
                <a:spcPct val="2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2000" spc="-15" dirty="0" err="1">
                <a:cs typeface="Times New Roman"/>
              </a:rPr>
              <a:t>S</a:t>
            </a:r>
            <a:r>
              <a:rPr sz="2000" spc="-8" dirty="0" err="1">
                <a:cs typeface="Times New Roman"/>
              </a:rPr>
              <a:t>u</a:t>
            </a:r>
            <a:r>
              <a:rPr sz="2000" spc="-30" dirty="0" err="1">
                <a:cs typeface="Times New Roman"/>
              </a:rPr>
              <a:t>m</a:t>
            </a:r>
            <a:r>
              <a:rPr sz="2000" spc="-8" dirty="0" err="1">
                <a:cs typeface="Times New Roman"/>
              </a:rPr>
              <a:t>inis</a:t>
            </a:r>
            <a:r>
              <a:rPr sz="2000" spc="-4" dirty="0" err="1">
                <a:cs typeface="Times New Roman"/>
              </a:rPr>
              <a:t>t</a:t>
            </a:r>
            <a:r>
              <a:rPr sz="2000" spc="-11" dirty="0" err="1">
                <a:cs typeface="Times New Roman"/>
              </a:rPr>
              <a:t>rar</a:t>
            </a:r>
            <a:r>
              <a:rPr sz="2000" spc="8" dirty="0">
                <a:cs typeface="Times New Roman"/>
              </a:rPr>
              <a:t> </a:t>
            </a:r>
            <a:r>
              <a:rPr sz="2000" spc="-30" dirty="0">
                <a:cs typeface="Times New Roman"/>
              </a:rPr>
              <a:t>m</a:t>
            </a:r>
            <a:r>
              <a:rPr sz="2000" spc="-11" dirty="0">
                <a:cs typeface="Times New Roman"/>
              </a:rPr>
              <a:t>e</a:t>
            </a:r>
            <a:r>
              <a:rPr sz="2000" spc="-23" dirty="0">
                <a:cs typeface="Times New Roman"/>
              </a:rPr>
              <a:t>c</a:t>
            </a:r>
            <a:r>
              <a:rPr sz="2000" spc="-11" dirty="0">
                <a:cs typeface="Times New Roman"/>
              </a:rPr>
              <a:t>anismos</a:t>
            </a:r>
            <a:r>
              <a:rPr sz="2000" spc="4" dirty="0">
                <a:cs typeface="Times New Roman"/>
              </a:rPr>
              <a:t> </a:t>
            </a:r>
            <a:r>
              <a:rPr sz="2000" spc="-8" dirty="0">
                <a:cs typeface="Times New Roman"/>
              </a:rPr>
              <a:t>d</a:t>
            </a:r>
            <a:r>
              <a:rPr sz="2000" spc="-11" dirty="0">
                <a:cs typeface="Times New Roman"/>
              </a:rPr>
              <a:t>e</a:t>
            </a:r>
            <a:r>
              <a:rPr sz="2000" spc="-8" dirty="0">
                <a:cs typeface="Times New Roman"/>
              </a:rPr>
              <a:t> </a:t>
            </a:r>
            <a:r>
              <a:rPr sz="2000" spc="-11" dirty="0">
                <a:cs typeface="Times New Roman"/>
              </a:rPr>
              <a:t>con</a:t>
            </a:r>
            <a:r>
              <a:rPr sz="2000" spc="-4" dirty="0">
                <a:cs typeface="Times New Roman"/>
              </a:rPr>
              <a:t>t</a:t>
            </a:r>
            <a:r>
              <a:rPr sz="2000" spc="-8" dirty="0">
                <a:cs typeface="Times New Roman"/>
              </a:rPr>
              <a:t>rol d</a:t>
            </a:r>
            <a:r>
              <a:rPr sz="2000" spc="-11" dirty="0">
                <a:cs typeface="Times New Roman"/>
              </a:rPr>
              <a:t>e</a:t>
            </a:r>
            <a:r>
              <a:rPr sz="2000" spc="-8" dirty="0">
                <a:cs typeface="Times New Roman"/>
              </a:rPr>
              <a:t> </a:t>
            </a:r>
            <a:r>
              <a:rPr sz="2000" spc="-8" dirty="0" err="1">
                <a:cs typeface="Times New Roman"/>
              </a:rPr>
              <a:t>fl</a:t>
            </a:r>
            <a:r>
              <a:rPr sz="2000" spc="-4" dirty="0" err="1">
                <a:cs typeface="Times New Roman"/>
              </a:rPr>
              <a:t>u</a:t>
            </a:r>
            <a:r>
              <a:rPr sz="2000" spc="-11" dirty="0" err="1">
                <a:cs typeface="Times New Roman"/>
              </a:rPr>
              <a:t>jo</a:t>
            </a:r>
            <a:r>
              <a:rPr lang="es-ES" sz="2000" spc="-11" dirty="0">
                <a:cs typeface="Times New Roman"/>
              </a:rPr>
              <a:t>.</a:t>
            </a:r>
            <a:endParaRPr sz="2000" dirty="0">
              <a:cs typeface="Times New Roman"/>
            </a:endParaRPr>
          </a:p>
          <a:p>
            <a:pPr marL="581025" indent="-285750">
              <a:lnSpc>
                <a:spcPct val="2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spc="-15" dirty="0">
                <a:cs typeface="Times New Roman"/>
              </a:rPr>
              <a:t>Establecer</a:t>
            </a:r>
            <a:r>
              <a:rPr sz="2000" spc="-8" dirty="0">
                <a:cs typeface="Times New Roman"/>
              </a:rPr>
              <a:t> </a:t>
            </a:r>
            <a:r>
              <a:rPr sz="2000" spc="-11" dirty="0">
                <a:cs typeface="Times New Roman"/>
              </a:rPr>
              <a:t>con</a:t>
            </a:r>
            <a:r>
              <a:rPr sz="2000" spc="-4" dirty="0">
                <a:cs typeface="Times New Roman"/>
              </a:rPr>
              <a:t>t</a:t>
            </a:r>
            <a:r>
              <a:rPr sz="2000" spc="-8" dirty="0">
                <a:cs typeface="Times New Roman"/>
              </a:rPr>
              <a:t>ro</a:t>
            </a:r>
            <a:r>
              <a:rPr sz="2000" spc="-11" dirty="0">
                <a:cs typeface="Times New Roman"/>
              </a:rPr>
              <a:t>les</a:t>
            </a:r>
            <a:r>
              <a:rPr sz="2000" spc="-8" dirty="0">
                <a:cs typeface="Times New Roman"/>
              </a:rPr>
              <a:t> </a:t>
            </a:r>
            <a:r>
              <a:rPr sz="2000" spc="-11" dirty="0">
                <a:cs typeface="Times New Roman"/>
              </a:rPr>
              <a:t>básicos</a:t>
            </a:r>
            <a:r>
              <a:rPr sz="2000" spc="-4" dirty="0">
                <a:cs typeface="Times New Roman"/>
              </a:rPr>
              <a:t> </a:t>
            </a:r>
            <a:r>
              <a:rPr sz="2000" spc="-8" dirty="0">
                <a:cs typeface="Times New Roman"/>
              </a:rPr>
              <a:t>d</a:t>
            </a:r>
            <a:r>
              <a:rPr sz="2000" spc="-11" dirty="0">
                <a:cs typeface="Times New Roman"/>
              </a:rPr>
              <a:t>e</a:t>
            </a:r>
            <a:r>
              <a:rPr sz="2000" spc="-8" dirty="0">
                <a:cs typeface="Times New Roman"/>
              </a:rPr>
              <a:t> </a:t>
            </a:r>
            <a:r>
              <a:rPr sz="2000" spc="-11" dirty="0" err="1">
                <a:cs typeface="Times New Roman"/>
              </a:rPr>
              <a:t>seg</a:t>
            </a:r>
            <a:r>
              <a:rPr sz="2000" spc="-8" dirty="0" err="1">
                <a:cs typeface="Times New Roman"/>
              </a:rPr>
              <a:t>uri</a:t>
            </a:r>
            <a:r>
              <a:rPr sz="2000" spc="-4" dirty="0" err="1">
                <a:cs typeface="Times New Roman"/>
              </a:rPr>
              <a:t>d</a:t>
            </a:r>
            <a:r>
              <a:rPr sz="2000" spc="-11" dirty="0" err="1">
                <a:cs typeface="Times New Roman"/>
              </a:rPr>
              <a:t>ad</a:t>
            </a:r>
            <a:r>
              <a:rPr lang="es-ES" sz="2000" spc="-11" dirty="0">
                <a:cs typeface="Times New Roman"/>
              </a:rPr>
              <a:t>.</a:t>
            </a:r>
            <a:endParaRPr sz="2000" dirty="0">
              <a:cs typeface="Times New Roman"/>
            </a:endParaRPr>
          </a:p>
          <a:p>
            <a:pPr marL="581025" indent="-285750">
              <a:lnSpc>
                <a:spcPct val="2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2000" spc="-11" dirty="0" err="1">
                <a:cs typeface="Times New Roman"/>
              </a:rPr>
              <a:t>Blo</a:t>
            </a:r>
            <a:r>
              <a:rPr sz="2000" spc="-8" dirty="0" err="1">
                <a:cs typeface="Times New Roman"/>
              </a:rPr>
              <a:t>q</a:t>
            </a:r>
            <a:r>
              <a:rPr sz="2000" spc="-11" dirty="0" err="1">
                <a:cs typeface="Times New Roman"/>
              </a:rPr>
              <a:t>uear</a:t>
            </a:r>
            <a:r>
              <a:rPr sz="2000" spc="-8" dirty="0">
                <a:cs typeface="Times New Roman"/>
              </a:rPr>
              <a:t> </a:t>
            </a:r>
            <a:r>
              <a:rPr sz="2000" spc="-11" dirty="0">
                <a:cs typeface="Times New Roman"/>
              </a:rPr>
              <a:t>alg</a:t>
            </a:r>
            <a:r>
              <a:rPr sz="2000" spc="-8" dirty="0">
                <a:cs typeface="Times New Roman"/>
              </a:rPr>
              <a:t>ú</a:t>
            </a:r>
            <a:r>
              <a:rPr sz="2000" spc="-11" dirty="0">
                <a:cs typeface="Times New Roman"/>
              </a:rPr>
              <a:t>n</a:t>
            </a:r>
            <a:r>
              <a:rPr sz="2000" spc="4" dirty="0">
                <a:cs typeface="Times New Roman"/>
              </a:rPr>
              <a:t> </a:t>
            </a:r>
            <a:r>
              <a:rPr sz="2000" spc="-8" dirty="0">
                <a:cs typeface="Times New Roman"/>
              </a:rPr>
              <a:t>tip</a:t>
            </a:r>
            <a:r>
              <a:rPr sz="2000" spc="-11" dirty="0">
                <a:cs typeface="Times New Roman"/>
              </a:rPr>
              <a:t>o</a:t>
            </a:r>
            <a:r>
              <a:rPr sz="2000" spc="-15" dirty="0">
                <a:cs typeface="Times New Roman"/>
              </a:rPr>
              <a:t> </a:t>
            </a:r>
            <a:r>
              <a:rPr sz="2000" spc="-8" dirty="0">
                <a:cs typeface="Times New Roman"/>
              </a:rPr>
              <a:t>d</a:t>
            </a:r>
            <a:r>
              <a:rPr sz="2000" spc="-11" dirty="0">
                <a:cs typeface="Times New Roman"/>
              </a:rPr>
              <a:t>e</a:t>
            </a:r>
            <a:r>
              <a:rPr sz="2000" dirty="0">
                <a:cs typeface="Times New Roman"/>
              </a:rPr>
              <a:t> </a:t>
            </a:r>
            <a:r>
              <a:rPr sz="2000" spc="-8" dirty="0" err="1">
                <a:cs typeface="Times New Roman"/>
              </a:rPr>
              <a:t>tráf</a:t>
            </a:r>
            <a:r>
              <a:rPr sz="2000" spc="-4" dirty="0" err="1">
                <a:cs typeface="Times New Roman"/>
              </a:rPr>
              <a:t>i</a:t>
            </a:r>
            <a:r>
              <a:rPr sz="2000" spc="-11" dirty="0" err="1">
                <a:cs typeface="Times New Roman"/>
              </a:rPr>
              <a:t>co</a:t>
            </a:r>
            <a:r>
              <a:rPr lang="es-ES" sz="2000" spc="-11" dirty="0">
                <a:cs typeface="Times New Roman"/>
              </a:rPr>
              <a:t>.</a:t>
            </a:r>
            <a:endParaRPr sz="2000" dirty="0">
              <a:cs typeface="Times New Roman"/>
            </a:endParaRP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FB6AA0D1-BBB7-4222-8B99-44C802F1C277}"/>
              </a:ext>
            </a:extLst>
          </p:cNvPr>
          <p:cNvSpPr txBox="1">
            <a:spLocks/>
          </p:cNvSpPr>
          <p:nvPr/>
        </p:nvSpPr>
        <p:spPr>
          <a:xfrm>
            <a:off x="1007981" y="764705"/>
            <a:ext cx="6624736" cy="49244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700" b="1" i="0" kern="1200">
                <a:solidFill>
                  <a:schemeClr val="bg1"/>
                </a:solidFill>
                <a:latin typeface="Arial Narrow"/>
                <a:ea typeface="+mj-ea"/>
                <a:cs typeface="Arial Narrow"/>
              </a:defRPr>
            </a:lvl1pPr>
          </a:lstStyle>
          <a:p>
            <a:pPr marL="1463516" algn="l"/>
            <a:r>
              <a:rPr lang="es-MX" sz="3200" spc="-15" dirty="0">
                <a:solidFill>
                  <a:schemeClr val="accent4">
                    <a:lumMod val="50000"/>
                  </a:schemeClr>
                </a:solidFill>
                <a:latin typeface="Dom Casual"/>
              </a:rPr>
              <a:t>Listas de control de acceso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563888" y="3429000"/>
            <a:ext cx="1652778" cy="162420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4" name="object 4"/>
          <p:cNvSpPr/>
          <p:nvPr/>
        </p:nvSpPr>
        <p:spPr>
          <a:xfrm>
            <a:off x="3518740" y="3498151"/>
            <a:ext cx="1628775" cy="1600200"/>
          </a:xfrm>
          <a:custGeom>
            <a:avLst/>
            <a:gdLst/>
            <a:ahLst/>
            <a:cxnLst/>
            <a:rect l="l" t="t" r="r" b="b"/>
            <a:pathLst>
              <a:path w="2171700" h="2133600">
                <a:moveTo>
                  <a:pt x="1085850" y="0"/>
                </a:moveTo>
                <a:lnTo>
                  <a:pt x="996794" y="3536"/>
                </a:lnTo>
                <a:lnTo>
                  <a:pt x="909720" y="13963"/>
                </a:lnTo>
                <a:lnTo>
                  <a:pt x="824909" y="31005"/>
                </a:lnTo>
                <a:lnTo>
                  <a:pt x="742639" y="54388"/>
                </a:lnTo>
                <a:lnTo>
                  <a:pt x="663190" y="83837"/>
                </a:lnTo>
                <a:lnTo>
                  <a:pt x="586841" y="119078"/>
                </a:lnTo>
                <a:lnTo>
                  <a:pt x="513872" y="159836"/>
                </a:lnTo>
                <a:lnTo>
                  <a:pt x="444562" y="205837"/>
                </a:lnTo>
                <a:lnTo>
                  <a:pt x="379192" y="256805"/>
                </a:lnTo>
                <a:lnTo>
                  <a:pt x="318039" y="312467"/>
                </a:lnTo>
                <a:lnTo>
                  <a:pt x="261384" y="372547"/>
                </a:lnTo>
                <a:lnTo>
                  <a:pt x="209507" y="436772"/>
                </a:lnTo>
                <a:lnTo>
                  <a:pt x="162686" y="504866"/>
                </a:lnTo>
                <a:lnTo>
                  <a:pt x="121201" y="576554"/>
                </a:lnTo>
                <a:lnTo>
                  <a:pt x="85332" y="651563"/>
                </a:lnTo>
                <a:lnTo>
                  <a:pt x="55357" y="729618"/>
                </a:lnTo>
                <a:lnTo>
                  <a:pt x="31557" y="810443"/>
                </a:lnTo>
                <a:lnTo>
                  <a:pt x="14212" y="893765"/>
                </a:lnTo>
                <a:lnTo>
                  <a:pt x="3599" y="979309"/>
                </a:lnTo>
                <a:lnTo>
                  <a:pt x="0" y="1066800"/>
                </a:lnTo>
                <a:lnTo>
                  <a:pt x="3599" y="1154290"/>
                </a:lnTo>
                <a:lnTo>
                  <a:pt x="14212" y="1239834"/>
                </a:lnTo>
                <a:lnTo>
                  <a:pt x="31557" y="1323156"/>
                </a:lnTo>
                <a:lnTo>
                  <a:pt x="55357" y="1403981"/>
                </a:lnTo>
                <a:lnTo>
                  <a:pt x="85332" y="1482036"/>
                </a:lnTo>
                <a:lnTo>
                  <a:pt x="121201" y="1557045"/>
                </a:lnTo>
                <a:lnTo>
                  <a:pt x="162686" y="1628733"/>
                </a:lnTo>
                <a:lnTo>
                  <a:pt x="209507" y="1696827"/>
                </a:lnTo>
                <a:lnTo>
                  <a:pt x="261384" y="1761052"/>
                </a:lnTo>
                <a:lnTo>
                  <a:pt x="318039" y="1821132"/>
                </a:lnTo>
                <a:lnTo>
                  <a:pt x="379192" y="1876794"/>
                </a:lnTo>
                <a:lnTo>
                  <a:pt x="444562" y="1927762"/>
                </a:lnTo>
                <a:lnTo>
                  <a:pt x="513872" y="1973763"/>
                </a:lnTo>
                <a:lnTo>
                  <a:pt x="586841" y="2014521"/>
                </a:lnTo>
                <a:lnTo>
                  <a:pt x="663190" y="2049762"/>
                </a:lnTo>
                <a:lnTo>
                  <a:pt x="742639" y="2079211"/>
                </a:lnTo>
                <a:lnTo>
                  <a:pt x="824909" y="2102594"/>
                </a:lnTo>
                <a:lnTo>
                  <a:pt x="909720" y="2119636"/>
                </a:lnTo>
                <a:lnTo>
                  <a:pt x="996794" y="2130063"/>
                </a:lnTo>
                <a:lnTo>
                  <a:pt x="1085850" y="2133600"/>
                </a:lnTo>
                <a:lnTo>
                  <a:pt x="1174905" y="2130063"/>
                </a:lnTo>
                <a:lnTo>
                  <a:pt x="1261979" y="2119636"/>
                </a:lnTo>
                <a:lnTo>
                  <a:pt x="1346790" y="2102594"/>
                </a:lnTo>
                <a:lnTo>
                  <a:pt x="1429060" y="2079211"/>
                </a:lnTo>
                <a:lnTo>
                  <a:pt x="1508509" y="2049762"/>
                </a:lnTo>
                <a:lnTo>
                  <a:pt x="1584858" y="2014521"/>
                </a:lnTo>
                <a:lnTo>
                  <a:pt x="1657827" y="1973763"/>
                </a:lnTo>
                <a:lnTo>
                  <a:pt x="1727137" y="1927762"/>
                </a:lnTo>
                <a:lnTo>
                  <a:pt x="1792507" y="1876794"/>
                </a:lnTo>
                <a:lnTo>
                  <a:pt x="1853660" y="1821132"/>
                </a:lnTo>
                <a:lnTo>
                  <a:pt x="1910315" y="1761052"/>
                </a:lnTo>
                <a:lnTo>
                  <a:pt x="1962192" y="1696827"/>
                </a:lnTo>
                <a:lnTo>
                  <a:pt x="2009013" y="1628733"/>
                </a:lnTo>
                <a:lnTo>
                  <a:pt x="2050498" y="1557045"/>
                </a:lnTo>
                <a:lnTo>
                  <a:pt x="2086367" y="1482036"/>
                </a:lnTo>
                <a:lnTo>
                  <a:pt x="2116342" y="1403981"/>
                </a:lnTo>
                <a:lnTo>
                  <a:pt x="2140142" y="1323156"/>
                </a:lnTo>
                <a:lnTo>
                  <a:pt x="2157487" y="1239834"/>
                </a:lnTo>
                <a:lnTo>
                  <a:pt x="2168100" y="1154290"/>
                </a:lnTo>
                <a:lnTo>
                  <a:pt x="2171700" y="1066800"/>
                </a:lnTo>
                <a:lnTo>
                  <a:pt x="2168100" y="979309"/>
                </a:lnTo>
                <a:lnTo>
                  <a:pt x="2157487" y="893765"/>
                </a:lnTo>
                <a:lnTo>
                  <a:pt x="2140142" y="810443"/>
                </a:lnTo>
                <a:lnTo>
                  <a:pt x="2116342" y="729618"/>
                </a:lnTo>
                <a:lnTo>
                  <a:pt x="2086367" y="651563"/>
                </a:lnTo>
                <a:lnTo>
                  <a:pt x="2050498" y="576554"/>
                </a:lnTo>
                <a:lnTo>
                  <a:pt x="2009013" y="504866"/>
                </a:lnTo>
                <a:lnTo>
                  <a:pt x="1962192" y="436772"/>
                </a:lnTo>
                <a:lnTo>
                  <a:pt x="1910315" y="372547"/>
                </a:lnTo>
                <a:lnTo>
                  <a:pt x="1853660" y="312467"/>
                </a:lnTo>
                <a:lnTo>
                  <a:pt x="1792507" y="256805"/>
                </a:lnTo>
                <a:lnTo>
                  <a:pt x="1727137" y="205837"/>
                </a:lnTo>
                <a:lnTo>
                  <a:pt x="1657827" y="159836"/>
                </a:lnTo>
                <a:lnTo>
                  <a:pt x="1584858" y="119078"/>
                </a:lnTo>
                <a:lnTo>
                  <a:pt x="1508509" y="83837"/>
                </a:lnTo>
                <a:lnTo>
                  <a:pt x="1429060" y="54388"/>
                </a:lnTo>
                <a:lnTo>
                  <a:pt x="1346790" y="31005"/>
                </a:lnTo>
                <a:lnTo>
                  <a:pt x="1261979" y="13963"/>
                </a:lnTo>
                <a:lnTo>
                  <a:pt x="1174905" y="3536"/>
                </a:lnTo>
                <a:lnTo>
                  <a:pt x="10858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5" name="object 5"/>
          <p:cNvSpPr/>
          <p:nvPr/>
        </p:nvSpPr>
        <p:spPr>
          <a:xfrm>
            <a:off x="3518740" y="3498151"/>
            <a:ext cx="1628775" cy="1600200"/>
          </a:xfrm>
          <a:custGeom>
            <a:avLst/>
            <a:gdLst/>
            <a:ahLst/>
            <a:cxnLst/>
            <a:rect l="l" t="t" r="r" b="b"/>
            <a:pathLst>
              <a:path w="2171700" h="2133600">
                <a:moveTo>
                  <a:pt x="0" y="1066800"/>
                </a:moveTo>
                <a:lnTo>
                  <a:pt x="3599" y="979309"/>
                </a:lnTo>
                <a:lnTo>
                  <a:pt x="14212" y="893765"/>
                </a:lnTo>
                <a:lnTo>
                  <a:pt x="31557" y="810443"/>
                </a:lnTo>
                <a:lnTo>
                  <a:pt x="55357" y="729618"/>
                </a:lnTo>
                <a:lnTo>
                  <a:pt x="85332" y="651563"/>
                </a:lnTo>
                <a:lnTo>
                  <a:pt x="121201" y="576554"/>
                </a:lnTo>
                <a:lnTo>
                  <a:pt x="162686" y="504866"/>
                </a:lnTo>
                <a:lnTo>
                  <a:pt x="209507" y="436772"/>
                </a:lnTo>
                <a:lnTo>
                  <a:pt x="261384" y="372547"/>
                </a:lnTo>
                <a:lnTo>
                  <a:pt x="318039" y="312467"/>
                </a:lnTo>
                <a:lnTo>
                  <a:pt x="379192" y="256805"/>
                </a:lnTo>
                <a:lnTo>
                  <a:pt x="444562" y="205837"/>
                </a:lnTo>
                <a:lnTo>
                  <a:pt x="513872" y="159836"/>
                </a:lnTo>
                <a:lnTo>
                  <a:pt x="586841" y="119078"/>
                </a:lnTo>
                <a:lnTo>
                  <a:pt x="663190" y="83837"/>
                </a:lnTo>
                <a:lnTo>
                  <a:pt x="742639" y="54388"/>
                </a:lnTo>
                <a:lnTo>
                  <a:pt x="824909" y="31005"/>
                </a:lnTo>
                <a:lnTo>
                  <a:pt x="909720" y="13963"/>
                </a:lnTo>
                <a:lnTo>
                  <a:pt x="996794" y="3536"/>
                </a:lnTo>
                <a:lnTo>
                  <a:pt x="1085850" y="0"/>
                </a:lnTo>
                <a:lnTo>
                  <a:pt x="1174905" y="3536"/>
                </a:lnTo>
                <a:lnTo>
                  <a:pt x="1261979" y="13963"/>
                </a:lnTo>
                <a:lnTo>
                  <a:pt x="1346790" y="31005"/>
                </a:lnTo>
                <a:lnTo>
                  <a:pt x="1429060" y="54388"/>
                </a:lnTo>
                <a:lnTo>
                  <a:pt x="1508509" y="83837"/>
                </a:lnTo>
                <a:lnTo>
                  <a:pt x="1584858" y="119078"/>
                </a:lnTo>
                <a:lnTo>
                  <a:pt x="1657827" y="159836"/>
                </a:lnTo>
                <a:lnTo>
                  <a:pt x="1727137" y="205837"/>
                </a:lnTo>
                <a:lnTo>
                  <a:pt x="1792507" y="256805"/>
                </a:lnTo>
                <a:lnTo>
                  <a:pt x="1853660" y="312467"/>
                </a:lnTo>
                <a:lnTo>
                  <a:pt x="1910315" y="372547"/>
                </a:lnTo>
                <a:lnTo>
                  <a:pt x="1962192" y="436772"/>
                </a:lnTo>
                <a:lnTo>
                  <a:pt x="2009013" y="504866"/>
                </a:lnTo>
                <a:lnTo>
                  <a:pt x="2050498" y="576554"/>
                </a:lnTo>
                <a:lnTo>
                  <a:pt x="2086367" y="651563"/>
                </a:lnTo>
                <a:lnTo>
                  <a:pt x="2116342" y="729618"/>
                </a:lnTo>
                <a:lnTo>
                  <a:pt x="2140142" y="810443"/>
                </a:lnTo>
                <a:lnTo>
                  <a:pt x="2157487" y="893765"/>
                </a:lnTo>
                <a:lnTo>
                  <a:pt x="2168100" y="979309"/>
                </a:lnTo>
                <a:lnTo>
                  <a:pt x="2171700" y="1066800"/>
                </a:lnTo>
                <a:lnTo>
                  <a:pt x="2168100" y="1154290"/>
                </a:lnTo>
                <a:lnTo>
                  <a:pt x="2157487" y="1239834"/>
                </a:lnTo>
                <a:lnTo>
                  <a:pt x="2140142" y="1323156"/>
                </a:lnTo>
                <a:lnTo>
                  <a:pt x="2116342" y="1403981"/>
                </a:lnTo>
                <a:lnTo>
                  <a:pt x="2086367" y="1482036"/>
                </a:lnTo>
                <a:lnTo>
                  <a:pt x="2050498" y="1557045"/>
                </a:lnTo>
                <a:lnTo>
                  <a:pt x="2009013" y="1628733"/>
                </a:lnTo>
                <a:lnTo>
                  <a:pt x="1962192" y="1696827"/>
                </a:lnTo>
                <a:lnTo>
                  <a:pt x="1910315" y="1761052"/>
                </a:lnTo>
                <a:lnTo>
                  <a:pt x="1853660" y="1821132"/>
                </a:lnTo>
                <a:lnTo>
                  <a:pt x="1792507" y="1876794"/>
                </a:lnTo>
                <a:lnTo>
                  <a:pt x="1727137" y="1927762"/>
                </a:lnTo>
                <a:lnTo>
                  <a:pt x="1657827" y="1973763"/>
                </a:lnTo>
                <a:lnTo>
                  <a:pt x="1584858" y="2014521"/>
                </a:lnTo>
                <a:lnTo>
                  <a:pt x="1508509" y="2049762"/>
                </a:lnTo>
                <a:lnTo>
                  <a:pt x="1429060" y="2079211"/>
                </a:lnTo>
                <a:lnTo>
                  <a:pt x="1346790" y="2102594"/>
                </a:lnTo>
                <a:lnTo>
                  <a:pt x="1261979" y="2119636"/>
                </a:lnTo>
                <a:lnTo>
                  <a:pt x="1174905" y="2130063"/>
                </a:lnTo>
                <a:lnTo>
                  <a:pt x="1085850" y="2133600"/>
                </a:lnTo>
                <a:lnTo>
                  <a:pt x="996794" y="2130063"/>
                </a:lnTo>
                <a:lnTo>
                  <a:pt x="909720" y="2119636"/>
                </a:lnTo>
                <a:lnTo>
                  <a:pt x="824909" y="2102594"/>
                </a:lnTo>
                <a:lnTo>
                  <a:pt x="742639" y="2079211"/>
                </a:lnTo>
                <a:lnTo>
                  <a:pt x="663190" y="2049762"/>
                </a:lnTo>
                <a:lnTo>
                  <a:pt x="586841" y="2014521"/>
                </a:lnTo>
                <a:lnTo>
                  <a:pt x="513872" y="1973763"/>
                </a:lnTo>
                <a:lnTo>
                  <a:pt x="444562" y="1927762"/>
                </a:lnTo>
                <a:lnTo>
                  <a:pt x="379192" y="1876794"/>
                </a:lnTo>
                <a:lnTo>
                  <a:pt x="318039" y="1821132"/>
                </a:lnTo>
                <a:lnTo>
                  <a:pt x="261384" y="1761052"/>
                </a:lnTo>
                <a:lnTo>
                  <a:pt x="209507" y="1696827"/>
                </a:lnTo>
                <a:lnTo>
                  <a:pt x="162686" y="1628733"/>
                </a:lnTo>
                <a:lnTo>
                  <a:pt x="121201" y="1557045"/>
                </a:lnTo>
                <a:lnTo>
                  <a:pt x="85332" y="1482036"/>
                </a:lnTo>
                <a:lnTo>
                  <a:pt x="55357" y="1403981"/>
                </a:lnTo>
                <a:lnTo>
                  <a:pt x="31557" y="1323156"/>
                </a:lnTo>
                <a:lnTo>
                  <a:pt x="14212" y="1239834"/>
                </a:lnTo>
                <a:lnTo>
                  <a:pt x="3599" y="1154290"/>
                </a:lnTo>
                <a:lnTo>
                  <a:pt x="0" y="1066800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6" name="object 6"/>
          <p:cNvSpPr/>
          <p:nvPr/>
        </p:nvSpPr>
        <p:spPr>
          <a:xfrm>
            <a:off x="3031155" y="4268248"/>
            <a:ext cx="929640" cy="171450"/>
          </a:xfrm>
          <a:custGeom>
            <a:avLst/>
            <a:gdLst/>
            <a:ahLst/>
            <a:cxnLst/>
            <a:rect l="l" t="t" r="r" b="b"/>
            <a:pathLst>
              <a:path w="1239520" h="228600">
                <a:moveTo>
                  <a:pt x="1011047" y="0"/>
                </a:moveTo>
                <a:lnTo>
                  <a:pt x="1010708" y="76265"/>
                </a:lnTo>
                <a:lnTo>
                  <a:pt x="1048765" y="76454"/>
                </a:lnTo>
                <a:lnTo>
                  <a:pt x="1048512" y="152654"/>
                </a:lnTo>
                <a:lnTo>
                  <a:pt x="1010368" y="152654"/>
                </a:lnTo>
                <a:lnTo>
                  <a:pt x="1010030" y="228600"/>
                </a:lnTo>
                <a:lnTo>
                  <a:pt x="1163798" y="152654"/>
                </a:lnTo>
                <a:lnTo>
                  <a:pt x="1048512" y="152654"/>
                </a:lnTo>
                <a:lnTo>
                  <a:pt x="1164181" y="152464"/>
                </a:lnTo>
                <a:lnTo>
                  <a:pt x="1239139" y="115443"/>
                </a:lnTo>
                <a:lnTo>
                  <a:pt x="1011047" y="0"/>
                </a:lnTo>
                <a:close/>
              </a:path>
              <a:path w="1239520" h="228600">
                <a:moveTo>
                  <a:pt x="1010708" y="76265"/>
                </a:moveTo>
                <a:lnTo>
                  <a:pt x="1010369" y="152464"/>
                </a:lnTo>
                <a:lnTo>
                  <a:pt x="1048512" y="152654"/>
                </a:lnTo>
                <a:lnTo>
                  <a:pt x="1048765" y="76454"/>
                </a:lnTo>
                <a:lnTo>
                  <a:pt x="1010708" y="76265"/>
                </a:lnTo>
                <a:close/>
              </a:path>
              <a:path w="1239520" h="228600">
                <a:moveTo>
                  <a:pt x="253" y="71247"/>
                </a:moveTo>
                <a:lnTo>
                  <a:pt x="0" y="147447"/>
                </a:lnTo>
                <a:lnTo>
                  <a:pt x="1010369" y="152464"/>
                </a:lnTo>
                <a:lnTo>
                  <a:pt x="1010708" y="76265"/>
                </a:lnTo>
                <a:lnTo>
                  <a:pt x="253" y="712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7" name="object 7"/>
          <p:cNvSpPr/>
          <p:nvPr/>
        </p:nvSpPr>
        <p:spPr>
          <a:xfrm>
            <a:off x="4817760" y="4268248"/>
            <a:ext cx="967264" cy="171450"/>
          </a:xfrm>
          <a:custGeom>
            <a:avLst/>
            <a:gdLst/>
            <a:ahLst/>
            <a:cxnLst/>
            <a:rect l="l" t="t" r="r" b="b"/>
            <a:pathLst>
              <a:path w="1289684" h="228600">
                <a:moveTo>
                  <a:pt x="228092" y="0"/>
                </a:moveTo>
                <a:lnTo>
                  <a:pt x="0" y="115443"/>
                </a:lnTo>
                <a:lnTo>
                  <a:pt x="229107" y="228600"/>
                </a:lnTo>
                <a:lnTo>
                  <a:pt x="228770" y="152654"/>
                </a:lnTo>
                <a:lnTo>
                  <a:pt x="190626" y="152654"/>
                </a:lnTo>
                <a:lnTo>
                  <a:pt x="190373" y="76454"/>
                </a:lnTo>
                <a:lnTo>
                  <a:pt x="228430" y="76273"/>
                </a:lnTo>
                <a:lnTo>
                  <a:pt x="228092" y="0"/>
                </a:lnTo>
                <a:close/>
              </a:path>
              <a:path w="1289684" h="228600">
                <a:moveTo>
                  <a:pt x="228430" y="76273"/>
                </a:moveTo>
                <a:lnTo>
                  <a:pt x="190373" y="76454"/>
                </a:lnTo>
                <a:lnTo>
                  <a:pt x="190626" y="152654"/>
                </a:lnTo>
                <a:lnTo>
                  <a:pt x="228769" y="152473"/>
                </a:lnTo>
                <a:lnTo>
                  <a:pt x="228430" y="76273"/>
                </a:lnTo>
                <a:close/>
              </a:path>
              <a:path w="1289684" h="228600">
                <a:moveTo>
                  <a:pt x="228769" y="152473"/>
                </a:moveTo>
                <a:lnTo>
                  <a:pt x="190626" y="152654"/>
                </a:lnTo>
                <a:lnTo>
                  <a:pt x="228770" y="152654"/>
                </a:lnTo>
                <a:lnTo>
                  <a:pt x="228769" y="152473"/>
                </a:lnTo>
                <a:close/>
              </a:path>
              <a:path w="1289684" h="228600">
                <a:moveTo>
                  <a:pt x="1289177" y="71247"/>
                </a:moveTo>
                <a:lnTo>
                  <a:pt x="228430" y="76273"/>
                </a:lnTo>
                <a:lnTo>
                  <a:pt x="228769" y="152473"/>
                </a:lnTo>
                <a:lnTo>
                  <a:pt x="1289430" y="147447"/>
                </a:lnTo>
                <a:lnTo>
                  <a:pt x="1289177" y="712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8" name="object 8"/>
          <p:cNvSpPr/>
          <p:nvPr/>
        </p:nvSpPr>
        <p:spPr>
          <a:xfrm>
            <a:off x="4303410" y="3041523"/>
            <a:ext cx="171450" cy="807244"/>
          </a:xfrm>
          <a:custGeom>
            <a:avLst/>
            <a:gdLst/>
            <a:ahLst/>
            <a:cxnLst/>
            <a:rect l="l" t="t" r="r" b="b"/>
            <a:pathLst>
              <a:path w="228600" h="1076325">
                <a:moveTo>
                  <a:pt x="76200" y="847343"/>
                </a:moveTo>
                <a:lnTo>
                  <a:pt x="0" y="847343"/>
                </a:lnTo>
                <a:lnTo>
                  <a:pt x="114300" y="1075944"/>
                </a:lnTo>
                <a:lnTo>
                  <a:pt x="209550" y="885443"/>
                </a:lnTo>
                <a:lnTo>
                  <a:pt x="76200" y="885443"/>
                </a:lnTo>
                <a:lnTo>
                  <a:pt x="76200" y="847343"/>
                </a:lnTo>
                <a:close/>
              </a:path>
              <a:path w="228600" h="1076325">
                <a:moveTo>
                  <a:pt x="152400" y="0"/>
                </a:moveTo>
                <a:lnTo>
                  <a:pt x="76200" y="0"/>
                </a:lnTo>
                <a:lnTo>
                  <a:pt x="76200" y="885443"/>
                </a:lnTo>
                <a:lnTo>
                  <a:pt x="152400" y="885443"/>
                </a:lnTo>
                <a:lnTo>
                  <a:pt x="152400" y="0"/>
                </a:lnTo>
                <a:close/>
              </a:path>
              <a:path w="228600" h="1076325">
                <a:moveTo>
                  <a:pt x="228600" y="847343"/>
                </a:moveTo>
                <a:lnTo>
                  <a:pt x="152400" y="847343"/>
                </a:lnTo>
                <a:lnTo>
                  <a:pt x="152400" y="885443"/>
                </a:lnTo>
                <a:lnTo>
                  <a:pt x="209550" y="885443"/>
                </a:lnTo>
                <a:lnTo>
                  <a:pt x="228600" y="8473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9" name="object 9"/>
          <p:cNvSpPr/>
          <p:nvPr/>
        </p:nvSpPr>
        <p:spPr>
          <a:xfrm>
            <a:off x="4275596" y="4689730"/>
            <a:ext cx="171450" cy="922496"/>
          </a:xfrm>
          <a:custGeom>
            <a:avLst/>
            <a:gdLst/>
            <a:ahLst/>
            <a:cxnLst/>
            <a:rect l="l" t="t" r="r" b="b"/>
            <a:pathLst>
              <a:path w="228600" h="1229995">
                <a:moveTo>
                  <a:pt x="152289" y="226989"/>
                </a:moveTo>
                <a:lnTo>
                  <a:pt x="76091" y="229828"/>
                </a:lnTo>
                <a:lnTo>
                  <a:pt x="113284" y="1229766"/>
                </a:lnTo>
                <a:lnTo>
                  <a:pt x="189484" y="1226921"/>
                </a:lnTo>
                <a:lnTo>
                  <a:pt x="152289" y="226989"/>
                </a:lnTo>
                <a:close/>
              </a:path>
              <a:path w="228600" h="1229995">
                <a:moveTo>
                  <a:pt x="105663" y="0"/>
                </a:moveTo>
                <a:lnTo>
                  <a:pt x="0" y="232664"/>
                </a:lnTo>
                <a:lnTo>
                  <a:pt x="76091" y="229828"/>
                </a:lnTo>
                <a:lnTo>
                  <a:pt x="74675" y="191770"/>
                </a:lnTo>
                <a:lnTo>
                  <a:pt x="150875" y="188976"/>
                </a:lnTo>
                <a:lnTo>
                  <a:pt x="209092" y="188976"/>
                </a:lnTo>
                <a:lnTo>
                  <a:pt x="105663" y="0"/>
                </a:lnTo>
                <a:close/>
              </a:path>
              <a:path w="228600" h="1229995">
                <a:moveTo>
                  <a:pt x="150875" y="188976"/>
                </a:moveTo>
                <a:lnTo>
                  <a:pt x="74675" y="191770"/>
                </a:lnTo>
                <a:lnTo>
                  <a:pt x="76091" y="229828"/>
                </a:lnTo>
                <a:lnTo>
                  <a:pt x="152289" y="226989"/>
                </a:lnTo>
                <a:lnTo>
                  <a:pt x="150875" y="188976"/>
                </a:lnTo>
                <a:close/>
              </a:path>
              <a:path w="228600" h="1229995">
                <a:moveTo>
                  <a:pt x="209092" y="188976"/>
                </a:moveTo>
                <a:lnTo>
                  <a:pt x="150875" y="188976"/>
                </a:lnTo>
                <a:lnTo>
                  <a:pt x="152289" y="226989"/>
                </a:lnTo>
                <a:lnTo>
                  <a:pt x="228346" y="224155"/>
                </a:lnTo>
                <a:lnTo>
                  <a:pt x="209092" y="1889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0" name="object 10"/>
          <p:cNvSpPr/>
          <p:nvPr/>
        </p:nvSpPr>
        <p:spPr>
          <a:xfrm>
            <a:off x="4026232" y="3906202"/>
            <a:ext cx="725805" cy="725805"/>
          </a:xfrm>
          <a:custGeom>
            <a:avLst/>
            <a:gdLst/>
            <a:ahLst/>
            <a:cxnLst/>
            <a:rect l="l" t="t" r="r" b="b"/>
            <a:pathLst>
              <a:path w="967739" h="967739">
                <a:moveTo>
                  <a:pt x="0" y="452628"/>
                </a:moveTo>
                <a:lnTo>
                  <a:pt x="515112" y="0"/>
                </a:lnTo>
                <a:lnTo>
                  <a:pt x="967740" y="515112"/>
                </a:lnTo>
                <a:lnTo>
                  <a:pt x="452628" y="967740"/>
                </a:lnTo>
                <a:lnTo>
                  <a:pt x="0" y="452628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1" name="object 11"/>
          <p:cNvSpPr txBox="1"/>
          <p:nvPr/>
        </p:nvSpPr>
        <p:spPr>
          <a:xfrm>
            <a:off x="1083615" y="1645570"/>
            <a:ext cx="7160793" cy="788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 marR="3810" algn="just">
              <a:lnSpc>
                <a:spcPct val="150000"/>
              </a:lnSpc>
            </a:pPr>
            <a:r>
              <a:rPr spc="-11" dirty="0">
                <a:cs typeface="Arial Narrow"/>
              </a:rPr>
              <a:t>Cuando</a:t>
            </a:r>
            <a:r>
              <a:rPr spc="172" dirty="0">
                <a:cs typeface="Arial Narrow"/>
              </a:rPr>
              <a:t> </a:t>
            </a:r>
            <a:r>
              <a:rPr spc="-19" dirty="0">
                <a:cs typeface="Arial Narrow"/>
              </a:rPr>
              <a:t>u</a:t>
            </a:r>
            <a:r>
              <a:rPr spc="-11" dirty="0">
                <a:cs typeface="Arial Narrow"/>
              </a:rPr>
              <a:t>n</a:t>
            </a:r>
            <a:r>
              <a:rPr spc="161" dirty="0">
                <a:cs typeface="Arial Narrow"/>
              </a:rPr>
              <a:t> </a:t>
            </a:r>
            <a:r>
              <a:rPr spc="-11" dirty="0">
                <a:cs typeface="Arial Narrow"/>
              </a:rPr>
              <a:t>ruteador</a:t>
            </a:r>
            <a:r>
              <a:rPr spc="150" dirty="0">
                <a:cs typeface="Arial Narrow"/>
              </a:rPr>
              <a:t> </a:t>
            </a:r>
            <a:r>
              <a:rPr spc="-15" dirty="0">
                <a:cs typeface="Arial Narrow"/>
              </a:rPr>
              <a:t>cuent</a:t>
            </a:r>
            <a:r>
              <a:rPr spc="-11" dirty="0">
                <a:cs typeface="Arial Narrow"/>
              </a:rPr>
              <a:t>a</a:t>
            </a:r>
            <a:r>
              <a:rPr spc="169" dirty="0">
                <a:cs typeface="Arial Narrow"/>
              </a:rPr>
              <a:t> </a:t>
            </a:r>
            <a:r>
              <a:rPr spc="-15" dirty="0">
                <a:cs typeface="Arial Narrow"/>
              </a:rPr>
              <a:t>c</a:t>
            </a:r>
            <a:r>
              <a:rPr spc="-23" dirty="0">
                <a:cs typeface="Arial Narrow"/>
              </a:rPr>
              <a:t>o</a:t>
            </a:r>
            <a:r>
              <a:rPr spc="-11" dirty="0">
                <a:cs typeface="Arial Narrow"/>
              </a:rPr>
              <a:t>n</a:t>
            </a:r>
            <a:r>
              <a:rPr spc="172" dirty="0">
                <a:cs typeface="Arial Narrow"/>
              </a:rPr>
              <a:t> </a:t>
            </a:r>
            <a:r>
              <a:rPr spc="-8" dirty="0">
                <a:cs typeface="Arial Narrow"/>
              </a:rPr>
              <a:t>listas</a:t>
            </a:r>
            <a:r>
              <a:rPr spc="161" dirty="0">
                <a:cs typeface="Arial Narrow"/>
              </a:rPr>
              <a:t> </a:t>
            </a:r>
            <a:r>
              <a:rPr spc="-11" dirty="0">
                <a:cs typeface="Arial Narrow"/>
              </a:rPr>
              <a:t>de</a:t>
            </a:r>
            <a:r>
              <a:rPr spc="165" dirty="0">
                <a:cs typeface="Arial Narrow"/>
              </a:rPr>
              <a:t> </a:t>
            </a:r>
            <a:r>
              <a:rPr spc="-15" dirty="0">
                <a:cs typeface="Arial Narrow"/>
              </a:rPr>
              <a:t>contro</a:t>
            </a:r>
            <a:r>
              <a:rPr spc="-8" dirty="0">
                <a:cs typeface="Arial Narrow"/>
              </a:rPr>
              <a:t>l</a:t>
            </a:r>
            <a:r>
              <a:rPr spc="165" dirty="0">
                <a:cs typeface="Arial Narrow"/>
              </a:rPr>
              <a:t> </a:t>
            </a:r>
            <a:r>
              <a:rPr spc="-11" dirty="0">
                <a:cs typeface="Arial Narrow"/>
              </a:rPr>
              <a:t>de</a:t>
            </a:r>
            <a:r>
              <a:rPr spc="-8" dirty="0">
                <a:cs typeface="Arial Narrow"/>
              </a:rPr>
              <a:t> </a:t>
            </a:r>
            <a:r>
              <a:rPr spc="-15" dirty="0">
                <a:cs typeface="Arial Narrow"/>
              </a:rPr>
              <a:t>acces</a:t>
            </a:r>
            <a:r>
              <a:rPr spc="-11" dirty="0">
                <a:cs typeface="Arial Narrow"/>
              </a:rPr>
              <a:t>o</a:t>
            </a:r>
            <a:r>
              <a:rPr dirty="0">
                <a:cs typeface="Arial Narrow"/>
              </a:rPr>
              <a:t> </a:t>
            </a:r>
            <a:r>
              <a:rPr spc="-165" dirty="0">
                <a:cs typeface="Arial Narrow"/>
              </a:rPr>
              <a:t> </a:t>
            </a:r>
            <a:r>
              <a:rPr spc="-8" dirty="0">
                <a:cs typeface="Arial Narrow"/>
              </a:rPr>
              <a:t>t</a:t>
            </a:r>
            <a:r>
              <a:rPr spc="-4" dirty="0">
                <a:cs typeface="Arial Narrow"/>
              </a:rPr>
              <a:t>o</a:t>
            </a:r>
            <a:r>
              <a:rPr spc="-11" dirty="0">
                <a:cs typeface="Arial Narrow"/>
              </a:rPr>
              <a:t>do</a:t>
            </a:r>
            <a:r>
              <a:rPr dirty="0">
                <a:cs typeface="Arial Narrow"/>
              </a:rPr>
              <a:t> </a:t>
            </a:r>
            <a:r>
              <a:rPr spc="-158" dirty="0">
                <a:cs typeface="Arial Narrow"/>
              </a:rPr>
              <a:t> </a:t>
            </a:r>
            <a:r>
              <a:rPr spc="-15" dirty="0">
                <a:cs typeface="Arial Narrow"/>
              </a:rPr>
              <a:t>e</a:t>
            </a:r>
            <a:r>
              <a:rPr spc="-8" dirty="0">
                <a:cs typeface="Arial Narrow"/>
              </a:rPr>
              <a:t>l</a:t>
            </a:r>
            <a:r>
              <a:rPr dirty="0">
                <a:cs typeface="Arial Narrow"/>
              </a:rPr>
              <a:t> </a:t>
            </a:r>
            <a:r>
              <a:rPr spc="-169" dirty="0">
                <a:cs typeface="Arial Narrow"/>
              </a:rPr>
              <a:t> </a:t>
            </a:r>
            <a:r>
              <a:rPr spc="-8" dirty="0">
                <a:cs typeface="Arial Narrow"/>
              </a:rPr>
              <a:t>tráfico</a:t>
            </a:r>
            <a:r>
              <a:rPr dirty="0">
                <a:cs typeface="Arial Narrow"/>
              </a:rPr>
              <a:t> </a:t>
            </a:r>
            <a:r>
              <a:rPr spc="-172" dirty="0">
                <a:cs typeface="Arial Narrow"/>
              </a:rPr>
              <a:t> </a:t>
            </a:r>
            <a:r>
              <a:rPr spc="-11" dirty="0">
                <a:cs typeface="Arial Narrow"/>
              </a:rPr>
              <a:t>que</a:t>
            </a:r>
            <a:r>
              <a:rPr dirty="0">
                <a:cs typeface="Arial Narrow"/>
              </a:rPr>
              <a:t> </a:t>
            </a:r>
            <a:r>
              <a:rPr spc="-169" dirty="0">
                <a:cs typeface="Arial Narrow"/>
              </a:rPr>
              <a:t> </a:t>
            </a:r>
            <a:r>
              <a:rPr spc="-11" dirty="0">
                <a:cs typeface="Arial Narrow"/>
              </a:rPr>
              <a:t>pasa</a:t>
            </a:r>
            <a:r>
              <a:rPr dirty="0">
                <a:cs typeface="Arial Narrow"/>
              </a:rPr>
              <a:t> </a:t>
            </a:r>
            <a:r>
              <a:rPr spc="-172" dirty="0">
                <a:cs typeface="Arial Narrow"/>
              </a:rPr>
              <a:t> </a:t>
            </a:r>
            <a:r>
              <a:rPr spc="-11" dirty="0">
                <a:cs typeface="Arial Narrow"/>
              </a:rPr>
              <a:t>por</a:t>
            </a:r>
            <a:r>
              <a:rPr dirty="0">
                <a:cs typeface="Arial Narrow"/>
              </a:rPr>
              <a:t> </a:t>
            </a:r>
            <a:r>
              <a:rPr spc="-169" dirty="0">
                <a:cs typeface="Arial Narrow"/>
              </a:rPr>
              <a:t> </a:t>
            </a:r>
            <a:r>
              <a:rPr spc="-15" dirty="0">
                <a:cs typeface="Arial Narrow"/>
              </a:rPr>
              <a:t>e</a:t>
            </a:r>
            <a:r>
              <a:rPr spc="-8" dirty="0">
                <a:cs typeface="Arial Narrow"/>
              </a:rPr>
              <a:t>l</a:t>
            </a:r>
            <a:r>
              <a:rPr dirty="0">
                <a:cs typeface="Arial Narrow"/>
              </a:rPr>
              <a:t> </a:t>
            </a:r>
            <a:r>
              <a:rPr spc="-161" dirty="0">
                <a:cs typeface="Arial Narrow"/>
              </a:rPr>
              <a:t> </a:t>
            </a:r>
            <a:r>
              <a:rPr spc="-8" dirty="0">
                <a:cs typeface="Arial Narrow"/>
              </a:rPr>
              <a:t>ru</a:t>
            </a:r>
            <a:r>
              <a:rPr spc="-11" dirty="0">
                <a:cs typeface="Arial Narrow"/>
              </a:rPr>
              <a:t>teador</a:t>
            </a:r>
            <a:r>
              <a:rPr dirty="0">
                <a:cs typeface="Arial Narrow"/>
              </a:rPr>
              <a:t> </a:t>
            </a:r>
            <a:r>
              <a:rPr spc="-165" dirty="0">
                <a:cs typeface="Arial Narrow"/>
              </a:rPr>
              <a:t> </a:t>
            </a:r>
            <a:r>
              <a:rPr spc="-15" dirty="0">
                <a:cs typeface="Arial Narrow"/>
              </a:rPr>
              <a:t>es analizad</a:t>
            </a:r>
            <a:r>
              <a:rPr spc="-11" dirty="0">
                <a:cs typeface="Arial Narrow"/>
              </a:rPr>
              <a:t>o</a:t>
            </a:r>
            <a:r>
              <a:rPr dirty="0">
                <a:cs typeface="Arial Narrow"/>
              </a:rPr>
              <a:t> </a:t>
            </a:r>
            <a:r>
              <a:rPr spc="-15" dirty="0">
                <a:cs typeface="Arial Narrow"/>
              </a:rPr>
              <a:t>ante</a:t>
            </a:r>
            <a:r>
              <a:rPr spc="-11" dirty="0">
                <a:cs typeface="Arial Narrow"/>
              </a:rPr>
              <a:t>s</a:t>
            </a:r>
            <a:r>
              <a:rPr dirty="0">
                <a:cs typeface="Arial Narrow"/>
              </a:rPr>
              <a:t> </a:t>
            </a:r>
            <a:r>
              <a:rPr spc="-11" dirty="0">
                <a:cs typeface="Arial Narrow"/>
              </a:rPr>
              <a:t>de</a:t>
            </a:r>
            <a:r>
              <a:rPr spc="-8" dirty="0">
                <a:cs typeface="Arial Narrow"/>
              </a:rPr>
              <a:t> </a:t>
            </a:r>
            <a:r>
              <a:rPr spc="-15" dirty="0">
                <a:cs typeface="Arial Narrow"/>
              </a:rPr>
              <a:t>conti</a:t>
            </a:r>
            <a:r>
              <a:rPr spc="-8" dirty="0">
                <a:cs typeface="Arial Narrow"/>
              </a:rPr>
              <a:t>n</a:t>
            </a:r>
            <a:r>
              <a:rPr spc="-11" dirty="0">
                <a:cs typeface="Arial Narrow"/>
              </a:rPr>
              <a:t>uar</a:t>
            </a:r>
            <a:r>
              <a:rPr spc="-15" dirty="0">
                <a:cs typeface="Arial Narrow"/>
              </a:rPr>
              <a:t> s</a:t>
            </a:r>
            <a:r>
              <a:rPr spc="-11" dirty="0">
                <a:cs typeface="Arial Narrow"/>
              </a:rPr>
              <a:t>u</a:t>
            </a:r>
            <a:r>
              <a:rPr dirty="0">
                <a:cs typeface="Arial Narrow"/>
              </a:rPr>
              <a:t> </a:t>
            </a:r>
            <a:r>
              <a:rPr spc="-15" dirty="0" err="1">
                <a:cs typeface="Arial Narrow"/>
              </a:rPr>
              <a:t>camin</a:t>
            </a:r>
            <a:r>
              <a:rPr spc="-11" dirty="0" err="1">
                <a:cs typeface="Arial Narrow"/>
              </a:rPr>
              <a:t>o</a:t>
            </a:r>
            <a:r>
              <a:rPr spc="-11" dirty="0">
                <a:cs typeface="Arial Narrow"/>
              </a:rPr>
              <a:t>.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48642" y="4131163"/>
            <a:ext cx="337661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/>
            <a:r>
              <a:rPr b="1" i="1" dirty="0">
                <a:latin typeface="Times New Roman"/>
                <a:cs typeface="Times New Roman"/>
              </a:rPr>
              <a:t>te</a:t>
            </a:r>
            <a:r>
              <a:rPr b="1" i="1" spc="4" dirty="0">
                <a:latin typeface="Times New Roman"/>
                <a:cs typeface="Times New Roman"/>
              </a:rPr>
              <a:t>s</a:t>
            </a:r>
            <a:r>
              <a:rPr b="1" i="1" dirty="0">
                <a:latin typeface="Times New Roman"/>
                <a:cs typeface="Times New Roman"/>
              </a:rPr>
              <a:t>t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29810" y="4000309"/>
            <a:ext cx="494348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/>
            <a:r>
              <a:rPr b="1" spc="-4" dirty="0">
                <a:latin typeface="Calibri"/>
                <a:cs typeface="Calibri"/>
              </a:rPr>
              <a:t>G</a:t>
            </a:r>
            <a:r>
              <a:rPr b="1" spc="-8" dirty="0">
                <a:latin typeface="Calibri"/>
                <a:cs typeface="Calibri"/>
              </a:rPr>
              <a:t>0</a:t>
            </a:r>
            <a:r>
              <a:rPr b="1" spc="-11" dirty="0">
                <a:latin typeface="Calibri"/>
                <a:cs typeface="Calibri"/>
              </a:rPr>
              <a:t>/0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239812" y="4024598"/>
            <a:ext cx="671989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/>
            <a:r>
              <a:rPr b="1" spc="-11" dirty="0">
                <a:latin typeface="Calibri"/>
                <a:cs typeface="Calibri"/>
              </a:rPr>
              <a:t>S0/0/1</a:t>
            </a:r>
            <a:endParaRPr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534391" y="5231359"/>
            <a:ext cx="494348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/>
            <a:r>
              <a:rPr b="1" spc="-4" dirty="0">
                <a:latin typeface="Calibri"/>
                <a:cs typeface="Calibri"/>
              </a:rPr>
              <a:t>G</a:t>
            </a:r>
            <a:r>
              <a:rPr b="1" spc="-8" dirty="0">
                <a:latin typeface="Calibri"/>
                <a:cs typeface="Calibri"/>
              </a:rPr>
              <a:t>1</a:t>
            </a:r>
            <a:r>
              <a:rPr b="1" spc="-11" dirty="0">
                <a:latin typeface="Calibri"/>
                <a:cs typeface="Calibri"/>
              </a:rPr>
              <a:t>/1</a:t>
            </a:r>
            <a:endParaRPr>
              <a:latin typeface="Calibri"/>
              <a:cs typeface="Calibri"/>
            </a:endParaRPr>
          </a:p>
        </p:txBody>
      </p:sp>
      <p:sp>
        <p:nvSpPr>
          <p:cNvPr id="18" name="object 2">
            <a:extLst>
              <a:ext uri="{FF2B5EF4-FFF2-40B4-BE49-F238E27FC236}">
                <a16:creationId xmlns:a16="http://schemas.microsoft.com/office/drawing/2014/main" id="{149445AD-6A7B-492C-96DD-ED816BA3963C}"/>
              </a:ext>
            </a:extLst>
          </p:cNvPr>
          <p:cNvSpPr txBox="1">
            <a:spLocks/>
          </p:cNvSpPr>
          <p:nvPr/>
        </p:nvSpPr>
        <p:spPr>
          <a:xfrm>
            <a:off x="-684584" y="500919"/>
            <a:ext cx="9108504" cy="984885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700" b="1" i="0" kern="1200">
                <a:solidFill>
                  <a:schemeClr val="bg1"/>
                </a:solidFill>
                <a:latin typeface="Arial Narrow"/>
                <a:ea typeface="+mj-ea"/>
                <a:cs typeface="Arial Narrow"/>
              </a:defRPr>
            </a:lvl1pPr>
          </a:lstStyle>
          <a:p>
            <a:pPr marL="1463516"/>
            <a:r>
              <a:rPr lang="es-MX" sz="3200" spc="-15" dirty="0">
                <a:solidFill>
                  <a:schemeClr val="accent4">
                    <a:lumMod val="50000"/>
                  </a:schemeClr>
                </a:solidFill>
                <a:latin typeface="Dom Casual"/>
              </a:rPr>
              <a:t>¿Cómo trabajan las Listas de control de acceso?</a:t>
            </a:r>
          </a:p>
        </p:txBody>
      </p:sp>
      <p:sp>
        <p:nvSpPr>
          <p:cNvPr id="19" name="object 13">
            <a:extLst>
              <a:ext uri="{FF2B5EF4-FFF2-40B4-BE49-F238E27FC236}">
                <a16:creationId xmlns:a16="http://schemas.microsoft.com/office/drawing/2014/main" id="{A4F1DF7E-D40F-4E03-A6C1-FE982D9285D3}"/>
              </a:ext>
            </a:extLst>
          </p:cNvPr>
          <p:cNvSpPr txBox="1"/>
          <p:nvPr/>
        </p:nvSpPr>
        <p:spPr>
          <a:xfrm>
            <a:off x="4504863" y="3112922"/>
            <a:ext cx="494348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/>
            <a:r>
              <a:rPr b="1" spc="-4" dirty="0">
                <a:latin typeface="Calibri"/>
                <a:cs typeface="Calibri"/>
              </a:rPr>
              <a:t>G</a:t>
            </a:r>
            <a:r>
              <a:rPr b="1" spc="-8" dirty="0">
                <a:latin typeface="Calibri"/>
                <a:cs typeface="Calibri"/>
              </a:rPr>
              <a:t>0</a:t>
            </a:r>
            <a:r>
              <a:rPr b="1" spc="-11" dirty="0">
                <a:latin typeface="Calibri"/>
                <a:cs typeface="Calibri"/>
              </a:rPr>
              <a:t>/</a:t>
            </a:r>
            <a:r>
              <a:rPr lang="es-ES" b="1" spc="-11" dirty="0">
                <a:latin typeface="Calibri"/>
                <a:cs typeface="Calibri"/>
              </a:rPr>
              <a:t>1</a:t>
            </a:r>
            <a:endParaRPr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187624" y="1556792"/>
            <a:ext cx="6912768" cy="45275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3825" marR="713899" indent="-114300">
              <a:lnSpc>
                <a:spcPct val="150000"/>
              </a:lnSpc>
            </a:pPr>
            <a:r>
              <a:rPr lang="es-ES" spc="-15" dirty="0">
                <a:cs typeface="Arial Narrow"/>
              </a:rPr>
              <a:t>  </a:t>
            </a:r>
            <a:r>
              <a:rPr spc="-15" dirty="0">
                <a:cs typeface="Arial Narrow"/>
              </a:rPr>
              <a:t>P</a:t>
            </a:r>
            <a:r>
              <a:rPr spc="-19" dirty="0">
                <a:cs typeface="Arial Narrow"/>
              </a:rPr>
              <a:t>a</a:t>
            </a:r>
            <a:r>
              <a:rPr spc="-11" dirty="0">
                <a:cs typeface="Arial Narrow"/>
              </a:rPr>
              <a:t>ra</a:t>
            </a:r>
            <a:r>
              <a:rPr spc="8" dirty="0">
                <a:cs typeface="Arial Narrow"/>
              </a:rPr>
              <a:t> </a:t>
            </a:r>
            <a:r>
              <a:rPr spc="-15" dirty="0">
                <a:cs typeface="Arial Narrow"/>
              </a:rPr>
              <a:t>e</a:t>
            </a:r>
            <a:r>
              <a:rPr spc="-8" dirty="0">
                <a:cs typeface="Arial Narrow"/>
              </a:rPr>
              <a:t>l</a:t>
            </a:r>
            <a:r>
              <a:rPr spc="-4" dirty="0">
                <a:cs typeface="Arial Narrow"/>
              </a:rPr>
              <a:t> </a:t>
            </a:r>
            <a:r>
              <a:rPr spc="-11" dirty="0">
                <a:cs typeface="Arial Narrow"/>
              </a:rPr>
              <a:t>prot</a:t>
            </a:r>
            <a:r>
              <a:rPr spc="-8" dirty="0">
                <a:cs typeface="Arial Narrow"/>
              </a:rPr>
              <a:t>o</a:t>
            </a:r>
            <a:r>
              <a:rPr spc="-15" dirty="0">
                <a:cs typeface="Arial Narrow"/>
              </a:rPr>
              <a:t>col</a:t>
            </a:r>
            <a:r>
              <a:rPr spc="-11" dirty="0">
                <a:cs typeface="Arial Narrow"/>
              </a:rPr>
              <a:t>o</a:t>
            </a:r>
            <a:r>
              <a:rPr spc="-8" dirty="0">
                <a:cs typeface="Arial Narrow"/>
              </a:rPr>
              <a:t> </a:t>
            </a:r>
            <a:r>
              <a:rPr spc="-11" dirty="0">
                <a:cs typeface="Arial Narrow"/>
              </a:rPr>
              <a:t>TCP/IP</a:t>
            </a:r>
            <a:r>
              <a:rPr spc="-19" dirty="0">
                <a:cs typeface="Arial Narrow"/>
              </a:rPr>
              <a:t> </a:t>
            </a:r>
            <a:r>
              <a:rPr spc="-15" dirty="0">
                <a:cs typeface="Arial Narrow"/>
              </a:rPr>
              <a:t>exi</a:t>
            </a:r>
            <a:r>
              <a:rPr spc="-23" dirty="0">
                <a:cs typeface="Arial Narrow"/>
              </a:rPr>
              <a:t>s</a:t>
            </a:r>
            <a:r>
              <a:rPr spc="-11" dirty="0">
                <a:cs typeface="Arial Narrow"/>
              </a:rPr>
              <a:t>ten</a:t>
            </a:r>
            <a:r>
              <a:rPr spc="11" dirty="0">
                <a:cs typeface="Arial Narrow"/>
              </a:rPr>
              <a:t> </a:t>
            </a:r>
            <a:r>
              <a:rPr spc="-11" dirty="0">
                <a:cs typeface="Arial Narrow"/>
              </a:rPr>
              <a:t>dos</a:t>
            </a:r>
            <a:r>
              <a:rPr spc="-15" dirty="0">
                <a:cs typeface="Arial Narrow"/>
              </a:rPr>
              <a:t> </a:t>
            </a:r>
            <a:r>
              <a:rPr spc="-8" dirty="0">
                <a:cs typeface="Arial Narrow"/>
              </a:rPr>
              <a:t>tipo</a:t>
            </a:r>
            <a:r>
              <a:rPr spc="-11" dirty="0">
                <a:cs typeface="Arial Narrow"/>
              </a:rPr>
              <a:t>s</a:t>
            </a:r>
            <a:r>
              <a:rPr spc="-4" dirty="0">
                <a:cs typeface="Arial Narrow"/>
              </a:rPr>
              <a:t> </a:t>
            </a:r>
            <a:r>
              <a:rPr spc="-8" dirty="0">
                <a:cs typeface="Arial Narrow"/>
              </a:rPr>
              <a:t>: </a:t>
            </a:r>
            <a:endParaRPr lang="es-ES" spc="-8" dirty="0">
              <a:cs typeface="Arial Narrow"/>
            </a:endParaRPr>
          </a:p>
          <a:p>
            <a:pPr marL="123825" marR="713899" indent="-114300">
              <a:lnSpc>
                <a:spcPct val="150000"/>
              </a:lnSpc>
            </a:pPr>
            <a:r>
              <a:rPr lang="es-ES" b="1" spc="-8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  </a:t>
            </a:r>
            <a:r>
              <a:rPr b="1" spc="-8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Lista</a:t>
            </a:r>
            <a:r>
              <a:rPr b="1" spc="-4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 </a:t>
            </a:r>
            <a:r>
              <a:rPr b="1" spc="-15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estándar</a:t>
            </a:r>
            <a:r>
              <a:rPr b="1" spc="-8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:</a:t>
            </a:r>
            <a:endParaRPr b="1" dirty="0">
              <a:solidFill>
                <a:schemeClr val="accent6">
                  <a:lumMod val="75000"/>
                </a:schemeClr>
              </a:solidFill>
              <a:cs typeface="Arial Narrow"/>
            </a:endParaRPr>
          </a:p>
          <a:p>
            <a:pPr marL="752475" marR="381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pc="-8" dirty="0">
                <a:cs typeface="Arial Narrow"/>
              </a:rPr>
              <a:t>Bloquea o permite el tráfico con base en la </a:t>
            </a:r>
            <a:r>
              <a:rPr lang="es-MX" b="1" spc="-8" dirty="0">
                <a:cs typeface="Arial Narrow"/>
              </a:rPr>
              <a:t>dirección fuente</a:t>
            </a:r>
            <a:r>
              <a:rPr lang="es-MX" spc="-8" dirty="0">
                <a:cs typeface="Arial Narrow"/>
              </a:rPr>
              <a:t>.</a:t>
            </a:r>
            <a:endParaRPr lang="es-MX" dirty="0">
              <a:cs typeface="Arial Narrow"/>
            </a:endParaRPr>
          </a:p>
          <a:p>
            <a:pPr marL="752475" marR="381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pc="-11" dirty="0" err="1">
                <a:cs typeface="Arial Narrow"/>
              </a:rPr>
              <a:t>Bloqu</a:t>
            </a:r>
            <a:r>
              <a:rPr spc="-15" dirty="0" err="1">
                <a:cs typeface="Arial Narrow"/>
              </a:rPr>
              <a:t>e</a:t>
            </a:r>
            <a:r>
              <a:rPr spc="-11" dirty="0" err="1">
                <a:cs typeface="Arial Narrow"/>
              </a:rPr>
              <a:t>a</a:t>
            </a:r>
            <a:r>
              <a:rPr dirty="0">
                <a:cs typeface="Arial Narrow"/>
              </a:rPr>
              <a:t> </a:t>
            </a:r>
            <a:r>
              <a:rPr spc="-11" dirty="0">
                <a:cs typeface="Arial Narrow"/>
              </a:rPr>
              <a:t>o</a:t>
            </a:r>
            <a:r>
              <a:rPr dirty="0">
                <a:cs typeface="Arial Narrow"/>
              </a:rPr>
              <a:t> </a:t>
            </a:r>
            <a:r>
              <a:rPr spc="-11" dirty="0" err="1">
                <a:cs typeface="Arial Narrow"/>
              </a:rPr>
              <a:t>permite</a:t>
            </a:r>
            <a:r>
              <a:rPr dirty="0">
                <a:cs typeface="Arial Narrow"/>
              </a:rPr>
              <a:t> </a:t>
            </a:r>
            <a:r>
              <a:rPr spc="-11" dirty="0" err="1">
                <a:cs typeface="Arial Narrow"/>
              </a:rPr>
              <a:t>to</a:t>
            </a:r>
            <a:r>
              <a:rPr spc="-8" dirty="0" err="1">
                <a:cs typeface="Arial Narrow"/>
              </a:rPr>
              <a:t>d</a:t>
            </a:r>
            <a:r>
              <a:rPr spc="-11" dirty="0" err="1">
                <a:cs typeface="Arial Narrow"/>
              </a:rPr>
              <a:t>o</a:t>
            </a:r>
            <a:r>
              <a:rPr lang="es-ES" spc="-11" dirty="0">
                <a:cs typeface="Arial Narrow"/>
              </a:rPr>
              <a:t> </a:t>
            </a:r>
            <a:r>
              <a:rPr spc="-11" dirty="0">
                <a:cs typeface="Arial Narrow"/>
              </a:rPr>
              <a:t>un</a:t>
            </a:r>
            <a:r>
              <a:rPr spc="-150" dirty="0">
                <a:cs typeface="Arial Narrow"/>
              </a:rPr>
              <a:t> </a:t>
            </a:r>
            <a:r>
              <a:rPr spc="-11" dirty="0" err="1">
                <a:cs typeface="Arial Narrow"/>
              </a:rPr>
              <a:t>protocolo</a:t>
            </a:r>
            <a:r>
              <a:rPr lang="es-ES" spc="-11" dirty="0">
                <a:cs typeface="Arial Narrow"/>
              </a:rPr>
              <a:t> </a:t>
            </a:r>
            <a:r>
              <a:rPr spc="-11" dirty="0">
                <a:cs typeface="Arial Narrow"/>
              </a:rPr>
              <a:t>de</a:t>
            </a:r>
            <a:r>
              <a:rPr lang="es-ES" spc="-11" dirty="0">
                <a:cs typeface="Arial Narrow"/>
              </a:rPr>
              <a:t> </a:t>
            </a:r>
            <a:r>
              <a:rPr spc="-15" dirty="0" err="1">
                <a:cs typeface="Arial Narrow"/>
              </a:rPr>
              <a:t>comunicacione</a:t>
            </a:r>
            <a:r>
              <a:rPr spc="-8" dirty="0" err="1">
                <a:cs typeface="Arial Narrow"/>
              </a:rPr>
              <a:t>s</a:t>
            </a:r>
            <a:r>
              <a:rPr spc="-8" dirty="0">
                <a:cs typeface="Arial Narrow"/>
              </a:rPr>
              <a:t>.</a:t>
            </a:r>
            <a:r>
              <a:rPr lang="es-ES" spc="-8" dirty="0">
                <a:cs typeface="Arial Narrow"/>
              </a:rPr>
              <a:t> </a:t>
            </a:r>
          </a:p>
          <a:p>
            <a:pPr marL="752475" marR="381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pc="-19" dirty="0">
                <a:cs typeface="Arial Narrow"/>
              </a:rPr>
              <a:t>S</a:t>
            </a:r>
            <a:r>
              <a:rPr spc="-11" dirty="0">
                <a:cs typeface="Arial Narrow"/>
              </a:rPr>
              <a:t>e</a:t>
            </a:r>
            <a:r>
              <a:rPr dirty="0">
                <a:cs typeface="Arial Narrow"/>
              </a:rPr>
              <a:t> </a:t>
            </a:r>
            <a:r>
              <a:rPr spc="-11" dirty="0" err="1">
                <a:cs typeface="Arial Narrow"/>
              </a:rPr>
              <a:t>identi</a:t>
            </a:r>
            <a:r>
              <a:rPr spc="-4" dirty="0" err="1">
                <a:cs typeface="Arial Narrow"/>
              </a:rPr>
              <a:t>f</a:t>
            </a:r>
            <a:r>
              <a:rPr spc="-8" dirty="0" err="1">
                <a:cs typeface="Arial Narrow"/>
              </a:rPr>
              <a:t>i</a:t>
            </a:r>
            <a:r>
              <a:rPr spc="-26" dirty="0" err="1">
                <a:cs typeface="Arial Narrow"/>
              </a:rPr>
              <a:t>c</a:t>
            </a:r>
            <a:r>
              <a:rPr spc="-15" dirty="0" err="1">
                <a:cs typeface="Arial Narrow"/>
              </a:rPr>
              <a:t>a</a:t>
            </a:r>
            <a:r>
              <a:rPr spc="-11" dirty="0" err="1">
                <a:cs typeface="Arial Narrow"/>
              </a:rPr>
              <a:t>n</a:t>
            </a:r>
            <a:r>
              <a:rPr dirty="0">
                <a:cs typeface="Arial Narrow"/>
              </a:rPr>
              <a:t>  </a:t>
            </a:r>
            <a:r>
              <a:rPr spc="-11" dirty="0">
                <a:cs typeface="Arial Narrow"/>
              </a:rPr>
              <a:t>por</a:t>
            </a:r>
            <a:r>
              <a:rPr dirty="0">
                <a:cs typeface="Arial Narrow"/>
              </a:rPr>
              <a:t> </a:t>
            </a:r>
            <a:r>
              <a:rPr spc="-11" dirty="0">
                <a:cs typeface="Arial Narrow"/>
              </a:rPr>
              <a:t>un número</a:t>
            </a:r>
            <a:r>
              <a:rPr spc="-8" dirty="0">
                <a:cs typeface="Arial Narrow"/>
              </a:rPr>
              <a:t> </a:t>
            </a:r>
            <a:r>
              <a:rPr spc="-15" dirty="0">
                <a:cs typeface="Arial Narrow"/>
              </a:rPr>
              <a:t>enter</a:t>
            </a:r>
            <a:r>
              <a:rPr spc="-11" dirty="0">
                <a:cs typeface="Arial Narrow"/>
              </a:rPr>
              <a:t>o</a:t>
            </a:r>
            <a:r>
              <a:rPr dirty="0">
                <a:cs typeface="Arial Narrow"/>
              </a:rPr>
              <a:t> </a:t>
            </a:r>
            <a:r>
              <a:rPr spc="-15" dirty="0">
                <a:cs typeface="Arial Narrow"/>
              </a:rPr>
              <a:t>e</a:t>
            </a:r>
            <a:r>
              <a:rPr spc="-11" dirty="0">
                <a:cs typeface="Arial Narrow"/>
              </a:rPr>
              <a:t>n</a:t>
            </a:r>
            <a:r>
              <a:rPr dirty="0">
                <a:cs typeface="Arial Narrow"/>
              </a:rPr>
              <a:t> </a:t>
            </a:r>
            <a:r>
              <a:rPr spc="-15" dirty="0">
                <a:cs typeface="Arial Narrow"/>
              </a:rPr>
              <a:t>e</a:t>
            </a:r>
            <a:r>
              <a:rPr spc="-8" dirty="0">
                <a:cs typeface="Arial Narrow"/>
              </a:rPr>
              <a:t>l</a:t>
            </a:r>
            <a:r>
              <a:rPr spc="-4" dirty="0">
                <a:cs typeface="Arial Narrow"/>
              </a:rPr>
              <a:t> </a:t>
            </a:r>
            <a:r>
              <a:rPr spc="-11" dirty="0">
                <a:cs typeface="Arial Narrow"/>
              </a:rPr>
              <a:t>intervalo</a:t>
            </a:r>
            <a:r>
              <a:rPr spc="-4" dirty="0">
                <a:cs typeface="Arial Narrow"/>
              </a:rPr>
              <a:t> </a:t>
            </a:r>
            <a:r>
              <a:rPr spc="-8" dirty="0">
                <a:cs typeface="Arial Narrow"/>
              </a:rPr>
              <a:t>[</a:t>
            </a:r>
            <a:r>
              <a:rPr b="1" spc="-15" dirty="0">
                <a:solidFill>
                  <a:srgbClr val="3333CC"/>
                </a:solidFill>
                <a:cs typeface="Arial Narrow"/>
              </a:rPr>
              <a:t>1..99</a:t>
            </a:r>
            <a:r>
              <a:rPr spc="-8" dirty="0">
                <a:cs typeface="Arial Narrow"/>
              </a:rPr>
              <a:t>]</a:t>
            </a:r>
            <a:endParaRPr lang="es-ES" spc="-8" dirty="0">
              <a:cs typeface="Arial Narrow"/>
            </a:endParaRPr>
          </a:p>
          <a:p>
            <a:pPr marL="123825">
              <a:lnSpc>
                <a:spcPct val="150000"/>
              </a:lnSpc>
            </a:pPr>
            <a:r>
              <a:rPr lang="es-MX" b="1" spc="-1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Lista</a:t>
            </a:r>
            <a:r>
              <a:rPr lang="es-MX" b="1" spc="-4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 </a:t>
            </a:r>
            <a:r>
              <a:rPr lang="es-MX" b="1" spc="-15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extendid</a:t>
            </a:r>
            <a:r>
              <a:rPr lang="es-MX" b="1" spc="-1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a:</a:t>
            </a:r>
            <a:endParaRPr lang="es-MX" b="1" dirty="0">
              <a:solidFill>
                <a:schemeClr val="accent6">
                  <a:lumMod val="75000"/>
                </a:schemeClr>
              </a:solidFill>
              <a:cs typeface="Arial Narrow"/>
            </a:endParaRPr>
          </a:p>
          <a:p>
            <a:pPr marL="752475" marR="4286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pc="-8" dirty="0">
                <a:cs typeface="Arial Narrow"/>
              </a:rPr>
              <a:t>Bloquea o permite el tráfico con base a la </a:t>
            </a:r>
            <a:r>
              <a:rPr lang="es-ES" b="1" spc="-8" dirty="0">
                <a:cs typeface="Arial Narrow"/>
              </a:rPr>
              <a:t>dirección fuente</a:t>
            </a:r>
            <a:r>
              <a:rPr lang="es-ES" spc="-8" dirty="0">
                <a:cs typeface="Arial Narrow"/>
              </a:rPr>
              <a:t>, </a:t>
            </a:r>
            <a:r>
              <a:rPr lang="es-ES" b="1" spc="-8" dirty="0">
                <a:cs typeface="Arial Narrow"/>
              </a:rPr>
              <a:t>dirección destino</a:t>
            </a:r>
            <a:r>
              <a:rPr lang="es-ES" spc="-8" dirty="0">
                <a:cs typeface="Arial Narrow"/>
              </a:rPr>
              <a:t>, </a:t>
            </a:r>
            <a:r>
              <a:rPr lang="es-ES" b="1" spc="-8" dirty="0">
                <a:cs typeface="Arial Narrow"/>
              </a:rPr>
              <a:t>tipo de protocolo</a:t>
            </a:r>
            <a:r>
              <a:rPr lang="es-ES" spc="-8" dirty="0">
                <a:cs typeface="Arial Narrow"/>
              </a:rPr>
              <a:t>  y un </a:t>
            </a:r>
            <a:r>
              <a:rPr lang="es-ES" b="1" spc="-8" dirty="0">
                <a:cs typeface="Arial Narrow"/>
              </a:rPr>
              <a:t>puerto</a:t>
            </a:r>
            <a:r>
              <a:rPr lang="es-ES" spc="-8" dirty="0">
                <a:cs typeface="Arial Narrow"/>
              </a:rPr>
              <a:t> en particular.</a:t>
            </a:r>
            <a:endParaRPr lang="es-ES" dirty="0">
              <a:cs typeface="Arial Narrow"/>
            </a:endParaRPr>
          </a:p>
          <a:p>
            <a:pPr marL="752475" marR="4286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pc="-11" dirty="0" err="1">
                <a:cs typeface="Arial Narrow"/>
              </a:rPr>
              <a:t>Bloquea</a:t>
            </a:r>
            <a:r>
              <a:rPr spc="-11" dirty="0">
                <a:cs typeface="Arial Narrow"/>
              </a:rPr>
              <a:t> o</a:t>
            </a:r>
            <a:r>
              <a:rPr spc="214" dirty="0">
                <a:cs typeface="Arial Narrow"/>
              </a:rPr>
              <a:t> </a:t>
            </a:r>
            <a:r>
              <a:rPr spc="-11" dirty="0" err="1">
                <a:cs typeface="Arial Narrow"/>
              </a:rPr>
              <a:t>perm</a:t>
            </a:r>
            <a:r>
              <a:rPr spc="-15" dirty="0" err="1">
                <a:cs typeface="Arial Narrow"/>
              </a:rPr>
              <a:t>i</a:t>
            </a:r>
            <a:r>
              <a:rPr spc="-11" dirty="0" err="1">
                <a:cs typeface="Arial Narrow"/>
              </a:rPr>
              <a:t>te</a:t>
            </a:r>
            <a:r>
              <a:rPr spc="217" dirty="0">
                <a:cs typeface="Arial Narrow"/>
              </a:rPr>
              <a:t> </a:t>
            </a:r>
            <a:r>
              <a:rPr spc="-11" dirty="0">
                <a:cs typeface="Arial Narrow"/>
              </a:rPr>
              <a:t>un</a:t>
            </a:r>
            <a:r>
              <a:rPr spc="214" dirty="0">
                <a:cs typeface="Arial Narrow"/>
              </a:rPr>
              <a:t> </a:t>
            </a:r>
            <a:r>
              <a:rPr spc="-15" dirty="0" err="1">
                <a:cs typeface="Arial Narrow"/>
              </a:rPr>
              <a:t>subconju</a:t>
            </a:r>
            <a:r>
              <a:rPr spc="-8" dirty="0" err="1">
                <a:cs typeface="Arial Narrow"/>
              </a:rPr>
              <a:t>n</a:t>
            </a:r>
            <a:r>
              <a:rPr spc="-11" dirty="0" err="1">
                <a:cs typeface="Arial Narrow"/>
              </a:rPr>
              <a:t>to</a:t>
            </a:r>
            <a:r>
              <a:rPr spc="195" dirty="0">
                <a:cs typeface="Arial Narrow"/>
              </a:rPr>
              <a:t> </a:t>
            </a:r>
            <a:r>
              <a:rPr spc="-11" dirty="0">
                <a:cs typeface="Arial Narrow"/>
              </a:rPr>
              <a:t>de</a:t>
            </a:r>
            <a:r>
              <a:rPr spc="206" dirty="0">
                <a:cs typeface="Arial Narrow"/>
              </a:rPr>
              <a:t> </a:t>
            </a:r>
            <a:r>
              <a:rPr spc="-11" dirty="0">
                <a:cs typeface="Arial Narrow"/>
              </a:rPr>
              <a:t>un </a:t>
            </a:r>
            <a:r>
              <a:rPr spc="-11" dirty="0" err="1">
                <a:cs typeface="Arial Narrow"/>
              </a:rPr>
              <a:t>protocolo</a:t>
            </a:r>
            <a:r>
              <a:rPr spc="-210" dirty="0">
                <a:cs typeface="Arial Narrow"/>
              </a:rPr>
              <a:t> </a:t>
            </a:r>
            <a:r>
              <a:rPr spc="-11" dirty="0">
                <a:cs typeface="Arial Narrow"/>
              </a:rPr>
              <a:t>de</a:t>
            </a:r>
            <a:r>
              <a:rPr dirty="0">
                <a:cs typeface="Arial Narrow"/>
              </a:rPr>
              <a:t> </a:t>
            </a:r>
            <a:r>
              <a:rPr spc="-206" dirty="0">
                <a:cs typeface="Arial Narrow"/>
              </a:rPr>
              <a:t> </a:t>
            </a:r>
            <a:r>
              <a:rPr spc="-15" dirty="0">
                <a:cs typeface="Arial Narrow"/>
              </a:rPr>
              <a:t>comunic</a:t>
            </a:r>
            <a:r>
              <a:rPr spc="-23" dirty="0">
                <a:cs typeface="Arial Narrow"/>
              </a:rPr>
              <a:t>a</a:t>
            </a:r>
            <a:r>
              <a:rPr spc="-15" dirty="0">
                <a:cs typeface="Arial Narrow"/>
              </a:rPr>
              <a:t>ciones</a:t>
            </a:r>
            <a:r>
              <a:rPr spc="-8" dirty="0">
                <a:cs typeface="Arial Narrow"/>
              </a:rPr>
              <a:t>.</a:t>
            </a:r>
            <a:r>
              <a:rPr dirty="0">
                <a:cs typeface="Arial Narrow"/>
              </a:rPr>
              <a:t> </a:t>
            </a:r>
            <a:endParaRPr lang="es-ES" dirty="0">
              <a:cs typeface="Arial Narrow"/>
            </a:endParaRPr>
          </a:p>
          <a:p>
            <a:pPr marL="752475" marR="4286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pc="-19" dirty="0">
                <a:cs typeface="Arial Narrow"/>
              </a:rPr>
              <a:t>S</a:t>
            </a:r>
            <a:r>
              <a:rPr spc="-11" dirty="0">
                <a:cs typeface="Arial Narrow"/>
              </a:rPr>
              <a:t>e</a:t>
            </a:r>
            <a:r>
              <a:rPr dirty="0">
                <a:cs typeface="Arial Narrow"/>
              </a:rPr>
              <a:t> </a:t>
            </a:r>
            <a:r>
              <a:rPr spc="-11" dirty="0" err="1">
                <a:cs typeface="Arial Narrow"/>
              </a:rPr>
              <a:t>identi</a:t>
            </a:r>
            <a:r>
              <a:rPr spc="-4" dirty="0" err="1">
                <a:cs typeface="Arial Narrow"/>
              </a:rPr>
              <a:t>f</a:t>
            </a:r>
            <a:r>
              <a:rPr spc="-11" dirty="0" err="1">
                <a:cs typeface="Arial Narrow"/>
              </a:rPr>
              <a:t>ican</a:t>
            </a:r>
            <a:r>
              <a:rPr spc="-11" dirty="0">
                <a:cs typeface="Arial Narrow"/>
              </a:rPr>
              <a:t> por</a:t>
            </a:r>
            <a:r>
              <a:rPr dirty="0">
                <a:cs typeface="Arial Narrow"/>
              </a:rPr>
              <a:t> </a:t>
            </a:r>
            <a:r>
              <a:rPr spc="-11" dirty="0">
                <a:cs typeface="Arial Narrow"/>
              </a:rPr>
              <a:t>un</a:t>
            </a:r>
            <a:r>
              <a:rPr spc="-158" dirty="0">
                <a:cs typeface="Arial Narrow"/>
              </a:rPr>
              <a:t> </a:t>
            </a:r>
            <a:r>
              <a:rPr spc="-11" dirty="0" err="1">
                <a:cs typeface="Arial Narrow"/>
              </a:rPr>
              <a:t>número</a:t>
            </a:r>
            <a:r>
              <a:rPr spc="-150" dirty="0">
                <a:cs typeface="Arial Narrow"/>
              </a:rPr>
              <a:t> </a:t>
            </a:r>
            <a:r>
              <a:rPr spc="-23" dirty="0" err="1">
                <a:cs typeface="Arial Narrow"/>
              </a:rPr>
              <a:t>e</a:t>
            </a:r>
            <a:r>
              <a:rPr spc="-11" dirty="0" err="1">
                <a:cs typeface="Arial Narrow"/>
              </a:rPr>
              <a:t>ntero</a:t>
            </a:r>
            <a:r>
              <a:rPr spc="-150" dirty="0">
                <a:cs typeface="Arial Narrow"/>
              </a:rPr>
              <a:t> </a:t>
            </a:r>
            <a:r>
              <a:rPr spc="-15" dirty="0" err="1">
                <a:cs typeface="Arial Narrow"/>
              </a:rPr>
              <a:t>e</a:t>
            </a:r>
            <a:r>
              <a:rPr spc="-11" dirty="0" err="1">
                <a:cs typeface="Arial Narrow"/>
              </a:rPr>
              <a:t>n</a:t>
            </a:r>
            <a:r>
              <a:rPr dirty="0">
                <a:cs typeface="Arial Narrow"/>
              </a:rPr>
              <a:t> </a:t>
            </a:r>
            <a:r>
              <a:rPr spc="-15" dirty="0">
                <a:cs typeface="Arial Narrow"/>
              </a:rPr>
              <a:t>e</a:t>
            </a:r>
            <a:r>
              <a:rPr spc="-8" dirty="0">
                <a:cs typeface="Arial Narrow"/>
              </a:rPr>
              <a:t>l</a:t>
            </a:r>
            <a:r>
              <a:rPr spc="-153" dirty="0">
                <a:cs typeface="Arial Narrow"/>
              </a:rPr>
              <a:t> </a:t>
            </a:r>
            <a:r>
              <a:rPr spc="-11" dirty="0">
                <a:cs typeface="Arial Narrow"/>
              </a:rPr>
              <a:t>intervalo</a:t>
            </a:r>
            <a:r>
              <a:rPr spc="-8" dirty="0">
                <a:cs typeface="Arial Narrow"/>
              </a:rPr>
              <a:t> [</a:t>
            </a:r>
            <a:r>
              <a:rPr b="1" spc="-15" dirty="0">
                <a:solidFill>
                  <a:srgbClr val="3333CC"/>
                </a:solidFill>
                <a:cs typeface="Arial Narrow"/>
              </a:rPr>
              <a:t>100..199</a:t>
            </a:r>
            <a:r>
              <a:rPr spc="-8" dirty="0">
                <a:cs typeface="Arial Narrow"/>
              </a:rPr>
              <a:t>]</a:t>
            </a:r>
            <a:endParaRPr lang="es-ES" spc="-8" dirty="0">
              <a:cs typeface="Arial Narrow"/>
            </a:endParaRP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0DB6A031-87B8-4845-B67E-FFC4075B7643}"/>
              </a:ext>
            </a:extLst>
          </p:cNvPr>
          <p:cNvSpPr txBox="1">
            <a:spLocks/>
          </p:cNvSpPr>
          <p:nvPr/>
        </p:nvSpPr>
        <p:spPr>
          <a:xfrm>
            <a:off x="1043608" y="620215"/>
            <a:ext cx="6624736" cy="49244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700" b="1" i="0" kern="1200">
                <a:solidFill>
                  <a:schemeClr val="bg1"/>
                </a:solidFill>
                <a:latin typeface="Arial Narrow"/>
                <a:ea typeface="+mj-ea"/>
                <a:cs typeface="Arial Narrow"/>
              </a:defRPr>
            </a:lvl1pPr>
          </a:lstStyle>
          <a:p>
            <a:pPr marL="1463516" algn="l"/>
            <a:r>
              <a:rPr lang="es-MX" sz="3200" spc="-15" dirty="0">
                <a:solidFill>
                  <a:schemeClr val="accent4">
                    <a:lumMod val="50000"/>
                  </a:schemeClr>
                </a:solidFill>
                <a:latin typeface="Dom Casual"/>
              </a:rPr>
              <a:t>Listas de control de acceso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187624" y="1268760"/>
            <a:ext cx="6768752" cy="49321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tabLst>
                <a:tab pos="275749" algn="l"/>
              </a:tabLst>
            </a:pPr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0</a:t>
            </a:r>
            <a:r>
              <a:rPr b="1" spc="-11" dirty="0">
                <a:solidFill>
                  <a:srgbClr val="3333CC"/>
                </a:solidFill>
                <a:cs typeface="Times New Roman"/>
              </a:rPr>
              <a:t>	</a:t>
            </a:r>
            <a:r>
              <a:rPr spc="-8" dirty="0">
                <a:cs typeface="Times New Roman"/>
              </a:rPr>
              <a:t>:</a:t>
            </a:r>
            <a:r>
              <a:rPr spc="-38" dirty="0">
                <a:cs typeface="Times New Roman"/>
              </a:rPr>
              <a:t> </a:t>
            </a:r>
            <a:r>
              <a:rPr lang="es-ES" spc="-38" dirty="0">
                <a:cs typeface="Times New Roman"/>
              </a:rPr>
              <a:t>Ve</a:t>
            </a:r>
            <a:r>
              <a:rPr spc="-8" dirty="0" err="1">
                <a:cs typeface="Times New Roman"/>
              </a:rPr>
              <a:t>rif</a:t>
            </a:r>
            <a:r>
              <a:rPr spc="-4" dirty="0" err="1">
                <a:cs typeface="Times New Roman"/>
              </a:rPr>
              <a:t>i</a:t>
            </a:r>
            <a:r>
              <a:rPr spc="-11" dirty="0" err="1">
                <a:cs typeface="Times New Roman"/>
              </a:rPr>
              <a:t>ca</a:t>
            </a:r>
            <a:r>
              <a:rPr spc="-8" dirty="0">
                <a:cs typeface="Times New Roman"/>
              </a:rPr>
              <a:t> </a:t>
            </a:r>
            <a:r>
              <a:rPr spc="-11" dirty="0">
                <a:cs typeface="Times New Roman"/>
              </a:rPr>
              <a:t>el</a:t>
            </a:r>
            <a:r>
              <a:rPr spc="-4" dirty="0">
                <a:cs typeface="Times New Roman"/>
              </a:rPr>
              <a:t> </a:t>
            </a:r>
            <a:r>
              <a:rPr spc="-11" dirty="0">
                <a:cs typeface="Times New Roman"/>
              </a:rPr>
              <a:t>valor</a:t>
            </a:r>
            <a:r>
              <a:rPr dirty="0">
                <a:cs typeface="Times New Roman"/>
              </a:rPr>
              <a:t> </a:t>
            </a:r>
            <a:r>
              <a:rPr spc="-11" dirty="0">
                <a:cs typeface="Times New Roman"/>
              </a:rPr>
              <a:t>del b</a:t>
            </a:r>
            <a:r>
              <a:rPr spc="-4" dirty="0">
                <a:cs typeface="Times New Roman"/>
              </a:rPr>
              <a:t>i</a:t>
            </a:r>
            <a:r>
              <a:rPr spc="-8" dirty="0">
                <a:cs typeface="Times New Roman"/>
              </a:rPr>
              <a:t>t</a:t>
            </a:r>
            <a:r>
              <a:rPr spc="-11" dirty="0">
                <a:cs typeface="Times New Roman"/>
              </a:rPr>
              <a:t> cor</a:t>
            </a:r>
            <a:r>
              <a:rPr spc="-4" dirty="0">
                <a:cs typeface="Times New Roman"/>
              </a:rPr>
              <a:t>r</a:t>
            </a:r>
            <a:r>
              <a:rPr spc="-11" dirty="0">
                <a:cs typeface="Times New Roman"/>
              </a:rPr>
              <a:t>esp</a:t>
            </a:r>
            <a:r>
              <a:rPr spc="-8" dirty="0">
                <a:cs typeface="Times New Roman"/>
              </a:rPr>
              <a:t>o</a:t>
            </a:r>
            <a:r>
              <a:rPr spc="-11" dirty="0">
                <a:cs typeface="Times New Roman"/>
              </a:rPr>
              <a:t>n</a:t>
            </a:r>
            <a:r>
              <a:rPr spc="-8" dirty="0">
                <a:cs typeface="Times New Roman"/>
              </a:rPr>
              <a:t>d</a:t>
            </a:r>
            <a:r>
              <a:rPr spc="-11" dirty="0">
                <a:cs typeface="Times New Roman"/>
              </a:rPr>
              <a:t>iente.</a:t>
            </a:r>
            <a:endParaRPr dirty="0">
              <a:cs typeface="Times New Roman"/>
            </a:endParaRPr>
          </a:p>
          <a:p>
            <a:pPr>
              <a:spcBef>
                <a:spcPts val="1260"/>
              </a:spcBef>
              <a:tabLst>
                <a:tab pos="275749" algn="l"/>
              </a:tabLst>
            </a:pPr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1</a:t>
            </a:r>
            <a:r>
              <a:rPr b="1" spc="-11" dirty="0">
                <a:solidFill>
                  <a:srgbClr val="3333CC"/>
                </a:solidFill>
                <a:cs typeface="Times New Roman"/>
              </a:rPr>
              <a:t>	</a:t>
            </a:r>
            <a:r>
              <a:rPr spc="-8" dirty="0">
                <a:cs typeface="Times New Roman"/>
              </a:rPr>
              <a:t>:</a:t>
            </a:r>
            <a:r>
              <a:rPr spc="-4" dirty="0">
                <a:cs typeface="Times New Roman"/>
              </a:rPr>
              <a:t> </a:t>
            </a:r>
            <a:r>
              <a:rPr spc="-11" dirty="0">
                <a:cs typeface="Times New Roman"/>
              </a:rPr>
              <a:t>Ig</a:t>
            </a:r>
            <a:r>
              <a:rPr spc="-8" dirty="0">
                <a:cs typeface="Times New Roman"/>
              </a:rPr>
              <a:t>n</a:t>
            </a:r>
            <a:r>
              <a:rPr spc="-11" dirty="0">
                <a:cs typeface="Times New Roman"/>
              </a:rPr>
              <a:t>o</a:t>
            </a:r>
            <a:r>
              <a:rPr spc="-4" dirty="0">
                <a:cs typeface="Times New Roman"/>
              </a:rPr>
              <a:t>r</a:t>
            </a:r>
            <a:r>
              <a:rPr spc="-11" dirty="0">
                <a:cs typeface="Times New Roman"/>
              </a:rPr>
              <a:t>a el</a:t>
            </a:r>
            <a:r>
              <a:rPr spc="-4" dirty="0">
                <a:cs typeface="Times New Roman"/>
              </a:rPr>
              <a:t> </a:t>
            </a:r>
            <a:r>
              <a:rPr spc="-11" dirty="0">
                <a:cs typeface="Times New Roman"/>
              </a:rPr>
              <a:t>sign</a:t>
            </a:r>
            <a:r>
              <a:rPr spc="-4" dirty="0">
                <a:cs typeface="Times New Roman"/>
              </a:rPr>
              <a:t>i</a:t>
            </a:r>
            <a:r>
              <a:rPr spc="-11" dirty="0">
                <a:cs typeface="Times New Roman"/>
              </a:rPr>
              <a:t>ficado</a:t>
            </a:r>
            <a:r>
              <a:rPr spc="-23" dirty="0">
                <a:cs typeface="Times New Roman"/>
              </a:rPr>
              <a:t> </a:t>
            </a:r>
            <a:r>
              <a:rPr spc="-11" dirty="0">
                <a:cs typeface="Times New Roman"/>
              </a:rPr>
              <a:t>del bi</a:t>
            </a:r>
            <a:r>
              <a:rPr spc="-4" dirty="0">
                <a:cs typeface="Times New Roman"/>
              </a:rPr>
              <a:t>t</a:t>
            </a:r>
            <a:r>
              <a:rPr spc="-8" dirty="0">
                <a:cs typeface="Times New Roman"/>
              </a:rPr>
              <a:t>.</a:t>
            </a:r>
            <a:endParaRPr dirty="0">
              <a:cs typeface="Times New Roman"/>
            </a:endParaRPr>
          </a:p>
          <a:p>
            <a:pPr>
              <a:spcBef>
                <a:spcPts val="28"/>
              </a:spcBef>
            </a:pPr>
            <a:endParaRPr dirty="0">
              <a:cs typeface="Times New Roman"/>
            </a:endParaRPr>
          </a:p>
          <a:p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any</a:t>
            </a:r>
            <a:r>
              <a:rPr spc="-11" dirty="0">
                <a:solidFill>
                  <a:srgbClr val="3333CC"/>
                </a:solidFill>
                <a:cs typeface="Times New Roman"/>
              </a:rPr>
              <a:t> </a:t>
            </a:r>
            <a:r>
              <a:rPr spc="-8" dirty="0">
                <a:cs typeface="Times New Roman"/>
              </a:rPr>
              <a:t>:</a:t>
            </a:r>
            <a:r>
              <a:rPr spc="-4" dirty="0">
                <a:cs typeface="Times New Roman"/>
              </a:rPr>
              <a:t> </a:t>
            </a:r>
            <a:r>
              <a:rPr spc="-11" dirty="0">
                <a:cs typeface="Times New Roman"/>
              </a:rPr>
              <a:t>Es</a:t>
            </a:r>
            <a:r>
              <a:rPr spc="-4" dirty="0">
                <a:cs typeface="Times New Roman"/>
              </a:rPr>
              <a:t> </a:t>
            </a:r>
            <a:r>
              <a:rPr spc="-11" dirty="0">
                <a:cs typeface="Times New Roman"/>
              </a:rPr>
              <a:t>u</a:t>
            </a:r>
            <a:r>
              <a:rPr spc="-8" dirty="0">
                <a:cs typeface="Times New Roman"/>
              </a:rPr>
              <a:t>n</a:t>
            </a:r>
            <a:r>
              <a:rPr spc="-11" dirty="0">
                <a:cs typeface="Times New Roman"/>
              </a:rPr>
              <a:t>a</a:t>
            </a:r>
            <a:r>
              <a:rPr spc="-4" dirty="0">
                <a:cs typeface="Times New Roman"/>
              </a:rPr>
              <a:t> </a:t>
            </a:r>
            <a:r>
              <a:rPr b="1" spc="-41" dirty="0">
                <a:cs typeface="Times New Roman"/>
              </a:rPr>
              <a:t>w</a:t>
            </a:r>
            <a:r>
              <a:rPr b="1" spc="-8" dirty="0">
                <a:cs typeface="Times New Roman"/>
              </a:rPr>
              <a:t>il</a:t>
            </a:r>
            <a:r>
              <a:rPr b="1" spc="-11" dirty="0">
                <a:cs typeface="Times New Roman"/>
              </a:rPr>
              <a:t>dcard</a:t>
            </a:r>
            <a:r>
              <a:rPr b="1" spc="26" dirty="0">
                <a:cs typeface="Times New Roman"/>
              </a:rPr>
              <a:t> </a:t>
            </a:r>
            <a:r>
              <a:rPr spc="-11" dirty="0">
                <a:cs typeface="Times New Roman"/>
              </a:rPr>
              <a:t>cuyo</a:t>
            </a:r>
            <a:r>
              <a:rPr spc="-8" dirty="0">
                <a:cs typeface="Times New Roman"/>
              </a:rPr>
              <a:t> </a:t>
            </a:r>
            <a:r>
              <a:rPr spc="-8" dirty="0" err="1">
                <a:cs typeface="Times New Roman"/>
              </a:rPr>
              <a:t>si</a:t>
            </a:r>
            <a:r>
              <a:rPr spc="-4" dirty="0" err="1">
                <a:cs typeface="Times New Roman"/>
              </a:rPr>
              <a:t>g</a:t>
            </a:r>
            <a:r>
              <a:rPr spc="-11" dirty="0" err="1">
                <a:cs typeface="Times New Roman"/>
              </a:rPr>
              <a:t>n</a:t>
            </a:r>
            <a:r>
              <a:rPr spc="-4" dirty="0" err="1">
                <a:cs typeface="Times New Roman"/>
              </a:rPr>
              <a:t>i</a:t>
            </a:r>
            <a:r>
              <a:rPr spc="-11" dirty="0" err="1">
                <a:cs typeface="Times New Roman"/>
              </a:rPr>
              <a:t>ficado</a:t>
            </a:r>
            <a:r>
              <a:rPr spc="-19" dirty="0">
                <a:cs typeface="Times New Roman"/>
              </a:rPr>
              <a:t> </a:t>
            </a:r>
            <a:r>
              <a:rPr spc="-8" dirty="0" err="1">
                <a:cs typeface="Times New Roman"/>
              </a:rPr>
              <a:t>to</a:t>
            </a:r>
            <a:r>
              <a:rPr spc="-30" dirty="0" err="1">
                <a:cs typeface="Times New Roman"/>
              </a:rPr>
              <a:t>m</a:t>
            </a:r>
            <a:r>
              <a:rPr spc="-11" dirty="0" err="1">
                <a:cs typeface="Times New Roman"/>
              </a:rPr>
              <a:t>a</a:t>
            </a:r>
            <a:r>
              <a:rPr lang="es-ES" spc="-11" dirty="0">
                <a:cs typeface="Times New Roman"/>
              </a:rPr>
              <a:t> </a:t>
            </a:r>
            <a:r>
              <a:rPr spc="-11" dirty="0" err="1">
                <a:cs typeface="Times New Roman"/>
              </a:rPr>
              <a:t>ef</a:t>
            </a:r>
            <a:r>
              <a:rPr spc="-19" dirty="0" err="1">
                <a:cs typeface="Times New Roman"/>
              </a:rPr>
              <a:t>e</a:t>
            </a:r>
            <a:r>
              <a:rPr spc="-11" dirty="0" err="1">
                <a:cs typeface="Times New Roman"/>
              </a:rPr>
              <a:t>cto</a:t>
            </a:r>
            <a:r>
              <a:rPr spc="-4" dirty="0">
                <a:cs typeface="Times New Roman"/>
              </a:rPr>
              <a:t> </a:t>
            </a:r>
            <a:r>
              <a:rPr spc="-11" dirty="0">
                <a:cs typeface="Times New Roman"/>
              </a:rPr>
              <a:t>para cualquier </a:t>
            </a:r>
            <a:r>
              <a:rPr spc="-8" dirty="0">
                <a:cs typeface="Times New Roman"/>
              </a:rPr>
              <a:t>I</a:t>
            </a:r>
            <a:r>
              <a:rPr spc="-244" dirty="0">
                <a:cs typeface="Times New Roman"/>
              </a:rPr>
              <a:t>P</a:t>
            </a:r>
            <a:r>
              <a:rPr spc="-8" dirty="0">
                <a:cs typeface="Times New Roman"/>
              </a:rPr>
              <a:t>.</a:t>
            </a:r>
            <a:endParaRPr dirty="0">
              <a:cs typeface="Times New Roman"/>
            </a:endParaRPr>
          </a:p>
          <a:p>
            <a:pPr lvl="1">
              <a:spcBef>
                <a:spcPts val="1260"/>
              </a:spcBef>
              <a:tabLst>
                <a:tab pos="1875473" algn="l"/>
              </a:tabLst>
            </a:pPr>
            <a:r>
              <a:rPr lang="es-ES" b="1" spc="-11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   </a:t>
            </a:r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0.</a:t>
            </a:r>
            <a:r>
              <a:rPr b="1" spc="-8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0</a:t>
            </a:r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.0.0</a:t>
            </a:r>
            <a:r>
              <a:rPr b="1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	</a:t>
            </a:r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25</a:t>
            </a:r>
            <a:r>
              <a:rPr b="1" spc="-8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5</a:t>
            </a:r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.2</a:t>
            </a:r>
            <a:r>
              <a:rPr b="1" spc="-8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5</a:t>
            </a:r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5.</a:t>
            </a:r>
            <a:r>
              <a:rPr b="1" spc="-8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2</a:t>
            </a:r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5</a:t>
            </a:r>
            <a:r>
              <a:rPr b="1" spc="-8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5</a:t>
            </a:r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.2</a:t>
            </a:r>
            <a:r>
              <a:rPr b="1" spc="-8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5</a:t>
            </a:r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5</a:t>
            </a:r>
            <a:endParaRPr b="1" dirty="0">
              <a:solidFill>
                <a:schemeClr val="accent6">
                  <a:lumMod val="75000"/>
                </a:schemeClr>
              </a:solidFill>
              <a:cs typeface="Times New Roman"/>
            </a:endParaRPr>
          </a:p>
          <a:p>
            <a:pPr lvl="1">
              <a:spcBef>
                <a:spcPts val="15"/>
              </a:spcBef>
            </a:pPr>
            <a:r>
              <a:rPr lang="es-ES" b="1" dirty="0">
                <a:cs typeface="Times New Roman"/>
              </a:rPr>
              <a:t>   dirección        </a:t>
            </a:r>
            <a:r>
              <a:rPr lang="es-ES" b="1" dirty="0" err="1">
                <a:cs typeface="Times New Roman"/>
              </a:rPr>
              <a:t>wildcard</a:t>
            </a:r>
            <a:r>
              <a:rPr lang="es-ES" b="1" dirty="0">
                <a:cs typeface="Times New Roman"/>
              </a:rPr>
              <a:t> </a:t>
            </a:r>
            <a:r>
              <a:rPr lang="es-ES" b="1" dirty="0" err="1">
                <a:cs typeface="Times New Roman"/>
              </a:rPr>
              <a:t>mask</a:t>
            </a:r>
            <a:endParaRPr lang="es-ES" b="1" dirty="0">
              <a:cs typeface="Times New Roman"/>
            </a:endParaRPr>
          </a:p>
          <a:p>
            <a:pPr lvl="1">
              <a:spcBef>
                <a:spcPts val="15"/>
              </a:spcBef>
            </a:pPr>
            <a:endParaRPr lang="es-ES" dirty="0">
              <a:cs typeface="Times New Roman"/>
            </a:endParaRPr>
          </a:p>
          <a:p>
            <a:pPr lvl="1">
              <a:spcBef>
                <a:spcPts val="15"/>
              </a:spcBef>
            </a:pPr>
            <a:r>
              <a:rPr lang="es-ES" sz="1600" b="1" dirty="0">
                <a:solidFill>
                  <a:schemeClr val="accent5">
                    <a:lumMod val="75000"/>
                  </a:schemeClr>
                </a:solidFill>
                <a:cs typeface="Times New Roman"/>
              </a:rPr>
              <a:t>El 1 en el </a:t>
            </a:r>
            <a:r>
              <a:rPr lang="es-ES" sz="1600" b="1" dirty="0" err="1">
                <a:solidFill>
                  <a:schemeClr val="accent5">
                    <a:lumMod val="75000"/>
                  </a:schemeClr>
                </a:solidFill>
                <a:cs typeface="Times New Roman"/>
              </a:rPr>
              <a:t>wildcard</a:t>
            </a:r>
            <a:r>
              <a:rPr lang="es-ES" sz="1600" b="1" dirty="0">
                <a:solidFill>
                  <a:schemeClr val="accent5">
                    <a:lumMod val="75000"/>
                  </a:schemeClr>
                </a:solidFill>
                <a:cs typeface="Times New Roman"/>
              </a:rPr>
              <a:t> </a:t>
            </a:r>
            <a:r>
              <a:rPr lang="es-ES" sz="1600" b="1" dirty="0" err="1">
                <a:solidFill>
                  <a:schemeClr val="accent5">
                    <a:lumMod val="75000"/>
                  </a:schemeClr>
                </a:solidFill>
                <a:cs typeface="Times New Roman"/>
              </a:rPr>
              <a:t>mask</a:t>
            </a:r>
            <a:r>
              <a:rPr lang="es-ES" sz="1600" b="1" dirty="0">
                <a:solidFill>
                  <a:schemeClr val="accent5">
                    <a:lumMod val="75000"/>
                  </a:schemeClr>
                </a:solidFill>
                <a:cs typeface="Times New Roman"/>
              </a:rPr>
              <a:t>  ignora el significado del bit, por lo tanto, esta máscara comodín permite cualquier IP.</a:t>
            </a:r>
          </a:p>
          <a:p>
            <a:pPr lvl="1">
              <a:spcBef>
                <a:spcPts val="15"/>
              </a:spcBef>
            </a:pPr>
            <a:endParaRPr dirty="0">
              <a:cs typeface="Times New Roman"/>
            </a:endParaRPr>
          </a:p>
          <a:p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h</a:t>
            </a:r>
            <a:r>
              <a:rPr b="1" spc="-8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ost</a:t>
            </a:r>
            <a:r>
              <a:rPr spc="-8" dirty="0">
                <a:solidFill>
                  <a:srgbClr val="3333CC"/>
                </a:solidFill>
                <a:cs typeface="Times New Roman"/>
              </a:rPr>
              <a:t> </a:t>
            </a:r>
            <a:r>
              <a:rPr spc="-8" dirty="0">
                <a:cs typeface="Times New Roman"/>
              </a:rPr>
              <a:t>:</a:t>
            </a:r>
            <a:r>
              <a:rPr spc="-4" dirty="0">
                <a:cs typeface="Times New Roman"/>
              </a:rPr>
              <a:t> </a:t>
            </a:r>
            <a:r>
              <a:rPr spc="-11" dirty="0">
                <a:cs typeface="Times New Roman"/>
              </a:rPr>
              <a:t>Es</a:t>
            </a:r>
            <a:r>
              <a:rPr spc="-4" dirty="0">
                <a:cs typeface="Times New Roman"/>
              </a:rPr>
              <a:t> </a:t>
            </a:r>
            <a:r>
              <a:rPr spc="-11" dirty="0">
                <a:cs typeface="Times New Roman"/>
              </a:rPr>
              <a:t>una</a:t>
            </a:r>
            <a:r>
              <a:rPr spc="-8" dirty="0">
                <a:cs typeface="Times New Roman"/>
              </a:rPr>
              <a:t> </a:t>
            </a:r>
            <a:r>
              <a:rPr b="1" spc="-41" dirty="0">
                <a:cs typeface="Times New Roman"/>
              </a:rPr>
              <a:t>w</a:t>
            </a:r>
            <a:r>
              <a:rPr b="1" spc="-11" dirty="0">
                <a:cs typeface="Times New Roman"/>
              </a:rPr>
              <a:t>ildcard</a:t>
            </a:r>
            <a:r>
              <a:rPr b="1" spc="26" dirty="0">
                <a:cs typeface="Times New Roman"/>
              </a:rPr>
              <a:t> </a:t>
            </a:r>
            <a:r>
              <a:rPr spc="-11" dirty="0">
                <a:cs typeface="Times New Roman"/>
              </a:rPr>
              <a:t>cuyo</a:t>
            </a:r>
            <a:r>
              <a:rPr spc="-4" dirty="0">
                <a:cs typeface="Times New Roman"/>
              </a:rPr>
              <a:t> </a:t>
            </a:r>
            <a:r>
              <a:rPr spc="-11" dirty="0" err="1">
                <a:cs typeface="Times New Roman"/>
              </a:rPr>
              <a:t>sign</a:t>
            </a:r>
            <a:r>
              <a:rPr spc="-4" dirty="0" err="1">
                <a:cs typeface="Times New Roman"/>
              </a:rPr>
              <a:t>i</a:t>
            </a:r>
            <a:r>
              <a:rPr spc="-11" dirty="0" err="1">
                <a:cs typeface="Times New Roman"/>
              </a:rPr>
              <a:t>ficado</a:t>
            </a:r>
            <a:r>
              <a:rPr spc="-23" dirty="0">
                <a:cs typeface="Times New Roman"/>
              </a:rPr>
              <a:t> </a:t>
            </a:r>
            <a:r>
              <a:rPr spc="-11" dirty="0" err="1">
                <a:cs typeface="Times New Roman"/>
              </a:rPr>
              <a:t>to</a:t>
            </a:r>
            <a:r>
              <a:rPr spc="-30" dirty="0" err="1">
                <a:cs typeface="Times New Roman"/>
              </a:rPr>
              <a:t>m</a:t>
            </a:r>
            <a:r>
              <a:rPr spc="-11" dirty="0" err="1">
                <a:cs typeface="Times New Roman"/>
              </a:rPr>
              <a:t>a</a:t>
            </a:r>
            <a:r>
              <a:rPr lang="es-ES" spc="-11" dirty="0">
                <a:cs typeface="Times New Roman"/>
              </a:rPr>
              <a:t> </a:t>
            </a:r>
            <a:r>
              <a:rPr spc="-11" dirty="0" err="1">
                <a:cs typeface="Times New Roman"/>
              </a:rPr>
              <a:t>efe</a:t>
            </a:r>
            <a:r>
              <a:rPr spc="-23" dirty="0" err="1">
                <a:cs typeface="Times New Roman"/>
              </a:rPr>
              <a:t>c</a:t>
            </a:r>
            <a:r>
              <a:rPr spc="-11" dirty="0" err="1">
                <a:cs typeface="Times New Roman"/>
              </a:rPr>
              <a:t>to</a:t>
            </a:r>
            <a:r>
              <a:rPr dirty="0">
                <a:cs typeface="Times New Roman"/>
              </a:rPr>
              <a:t> </a:t>
            </a:r>
            <a:r>
              <a:rPr spc="-11" dirty="0">
                <a:cs typeface="Times New Roman"/>
              </a:rPr>
              <a:t>so</a:t>
            </a:r>
            <a:r>
              <a:rPr spc="-4" dirty="0">
                <a:cs typeface="Times New Roman"/>
              </a:rPr>
              <a:t>b</a:t>
            </a:r>
            <a:r>
              <a:rPr spc="-11" dirty="0">
                <a:cs typeface="Times New Roman"/>
              </a:rPr>
              <a:t>re</a:t>
            </a:r>
            <a:r>
              <a:rPr spc="-4" dirty="0">
                <a:cs typeface="Times New Roman"/>
              </a:rPr>
              <a:t> </a:t>
            </a:r>
            <a:r>
              <a:rPr spc="-11" dirty="0">
                <a:cs typeface="Times New Roman"/>
              </a:rPr>
              <a:t>u</a:t>
            </a:r>
            <a:r>
              <a:rPr spc="-8" dirty="0">
                <a:cs typeface="Times New Roman"/>
              </a:rPr>
              <a:t>n</a:t>
            </a:r>
            <a:r>
              <a:rPr spc="-11" dirty="0">
                <a:cs typeface="Times New Roman"/>
              </a:rPr>
              <a:t>a</a:t>
            </a:r>
            <a:r>
              <a:rPr spc="-19" dirty="0">
                <a:cs typeface="Times New Roman"/>
              </a:rPr>
              <a:t> </a:t>
            </a:r>
            <a:r>
              <a:rPr spc="-11" dirty="0">
                <a:cs typeface="Times New Roman"/>
              </a:rPr>
              <a:t>ú</a:t>
            </a:r>
            <a:r>
              <a:rPr spc="-8" dirty="0">
                <a:cs typeface="Times New Roman"/>
              </a:rPr>
              <a:t>n</a:t>
            </a:r>
            <a:r>
              <a:rPr spc="-11" dirty="0">
                <a:cs typeface="Times New Roman"/>
              </a:rPr>
              <a:t>ica </a:t>
            </a:r>
            <a:r>
              <a:rPr spc="-8" dirty="0">
                <a:cs typeface="Times New Roman"/>
              </a:rPr>
              <a:t>I</a:t>
            </a:r>
            <a:r>
              <a:rPr spc="-244" dirty="0">
                <a:cs typeface="Times New Roman"/>
              </a:rPr>
              <a:t>P</a:t>
            </a:r>
            <a:r>
              <a:rPr spc="-8" dirty="0">
                <a:cs typeface="Times New Roman"/>
              </a:rPr>
              <a:t>.</a:t>
            </a:r>
            <a:endParaRPr dirty="0">
              <a:cs typeface="Times New Roman"/>
            </a:endParaRPr>
          </a:p>
          <a:p>
            <a:pPr lvl="1">
              <a:spcBef>
                <a:spcPts val="1260"/>
              </a:spcBef>
              <a:tabLst>
                <a:tab pos="2002155" algn="l"/>
              </a:tabLst>
            </a:pPr>
            <a:r>
              <a:rPr lang="es-ES" b="1" spc="-15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   </a:t>
            </a:r>
            <a:r>
              <a:rPr b="1" spc="-15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A.B</a:t>
            </a:r>
            <a:r>
              <a:rPr b="1" spc="-19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.</a:t>
            </a:r>
            <a:r>
              <a:rPr b="1" spc="-15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C.D</a:t>
            </a:r>
            <a:r>
              <a:rPr b="1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	</a:t>
            </a:r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0.0.0.0</a:t>
            </a:r>
            <a:endParaRPr lang="es-ES" b="1" spc="-11" dirty="0">
              <a:solidFill>
                <a:schemeClr val="accent6">
                  <a:lumMod val="75000"/>
                </a:schemeClr>
              </a:solidFill>
              <a:cs typeface="Times New Roman"/>
            </a:endParaRPr>
          </a:p>
          <a:p>
            <a:pPr lvl="1">
              <a:spcBef>
                <a:spcPts val="15"/>
              </a:spcBef>
            </a:pPr>
            <a:r>
              <a:rPr lang="es-ES" b="1" dirty="0">
                <a:cs typeface="Times New Roman"/>
              </a:rPr>
              <a:t>  dirección        </a:t>
            </a:r>
            <a:r>
              <a:rPr lang="es-ES" b="1" dirty="0" err="1">
                <a:cs typeface="Times New Roman"/>
              </a:rPr>
              <a:t>wildcard</a:t>
            </a:r>
            <a:r>
              <a:rPr lang="es-ES" b="1" dirty="0">
                <a:cs typeface="Times New Roman"/>
              </a:rPr>
              <a:t> </a:t>
            </a:r>
            <a:r>
              <a:rPr lang="es-ES" b="1" dirty="0" err="1">
                <a:cs typeface="Times New Roman"/>
              </a:rPr>
              <a:t>mask</a:t>
            </a:r>
            <a:endParaRPr lang="es-ES" b="1" dirty="0">
              <a:cs typeface="Times New Roman"/>
            </a:endParaRPr>
          </a:p>
          <a:p>
            <a:pPr lvl="1">
              <a:spcBef>
                <a:spcPts val="15"/>
              </a:spcBef>
            </a:pPr>
            <a:endParaRPr lang="es-ES" dirty="0">
              <a:cs typeface="Times New Roman"/>
            </a:endParaRPr>
          </a:p>
          <a:p>
            <a:pPr lvl="1">
              <a:spcBef>
                <a:spcPts val="15"/>
              </a:spcBef>
            </a:pPr>
            <a:r>
              <a:rPr lang="es-ES" sz="1600" b="1" dirty="0">
                <a:solidFill>
                  <a:schemeClr val="accent5">
                    <a:lumMod val="75000"/>
                  </a:schemeClr>
                </a:solidFill>
                <a:cs typeface="Times New Roman"/>
              </a:rPr>
              <a:t>El 0 en el </a:t>
            </a:r>
            <a:r>
              <a:rPr lang="es-ES" sz="1600" b="1" dirty="0" err="1">
                <a:solidFill>
                  <a:schemeClr val="accent5">
                    <a:lumMod val="75000"/>
                  </a:schemeClr>
                </a:solidFill>
                <a:cs typeface="Times New Roman"/>
              </a:rPr>
              <a:t>wildcard</a:t>
            </a:r>
            <a:r>
              <a:rPr lang="es-ES" sz="1600" b="1" dirty="0">
                <a:solidFill>
                  <a:schemeClr val="accent5">
                    <a:lumMod val="75000"/>
                  </a:schemeClr>
                </a:solidFill>
                <a:cs typeface="Times New Roman"/>
              </a:rPr>
              <a:t> </a:t>
            </a:r>
            <a:r>
              <a:rPr lang="es-ES" sz="1600" b="1" dirty="0" err="1">
                <a:solidFill>
                  <a:schemeClr val="accent5">
                    <a:lumMod val="75000"/>
                  </a:schemeClr>
                </a:solidFill>
                <a:cs typeface="Times New Roman"/>
              </a:rPr>
              <a:t>mask</a:t>
            </a:r>
            <a:r>
              <a:rPr lang="es-ES" sz="1600" b="1" dirty="0">
                <a:solidFill>
                  <a:schemeClr val="accent5">
                    <a:lumMod val="75000"/>
                  </a:schemeClr>
                </a:solidFill>
                <a:cs typeface="Times New Roman"/>
              </a:rPr>
              <a:t>  verifica el significado del bit, por lo tanto, esta máscara comodín, hace un match exacto con la dirección IP.</a:t>
            </a:r>
            <a:endParaRPr sz="1600" b="1" dirty="0">
              <a:solidFill>
                <a:schemeClr val="accent5">
                  <a:lumMod val="75000"/>
                </a:schemeClr>
              </a:solidFill>
              <a:cs typeface="Times New Roman"/>
            </a:endParaRP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96DC8E3B-9D38-48E3-834D-3F75C9B1F7A6}"/>
              </a:ext>
            </a:extLst>
          </p:cNvPr>
          <p:cNvSpPr txBox="1">
            <a:spLocks/>
          </p:cNvSpPr>
          <p:nvPr/>
        </p:nvSpPr>
        <p:spPr>
          <a:xfrm>
            <a:off x="107504" y="407444"/>
            <a:ext cx="8064896" cy="49244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700" b="1" i="0" kern="1200">
                <a:solidFill>
                  <a:schemeClr val="bg1"/>
                </a:solidFill>
                <a:latin typeface="Arial Narrow"/>
                <a:ea typeface="+mj-ea"/>
                <a:cs typeface="Arial Narrow"/>
              </a:defRPr>
            </a:lvl1pPr>
          </a:lstStyle>
          <a:p>
            <a:pPr marL="1463516" algn="l"/>
            <a:r>
              <a:rPr lang="es-MX" sz="3200" spc="-15" dirty="0" err="1">
                <a:solidFill>
                  <a:schemeClr val="accent4">
                    <a:lumMod val="50000"/>
                  </a:schemeClr>
                </a:solidFill>
                <a:latin typeface="Dom Casual"/>
              </a:rPr>
              <a:t>Wildcard</a:t>
            </a:r>
            <a:r>
              <a:rPr lang="es-MX" sz="3200" spc="-15" dirty="0">
                <a:solidFill>
                  <a:schemeClr val="accent4">
                    <a:lumMod val="50000"/>
                  </a:schemeClr>
                </a:solidFill>
                <a:latin typeface="Dom Casual"/>
              </a:rPr>
              <a:t> de IP para listas de acceso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57350" y="1714501"/>
            <a:ext cx="5657850" cy="646331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8580"/>
            <a:r>
              <a:rPr sz="2100" b="1" spc="-11" dirty="0">
                <a:latin typeface="Arial Narrow"/>
                <a:cs typeface="Arial Narrow"/>
              </a:rPr>
              <a:t>Cre</a:t>
            </a:r>
            <a:r>
              <a:rPr sz="2100" b="1" spc="-19" dirty="0">
                <a:latin typeface="Arial Narrow"/>
                <a:cs typeface="Arial Narrow"/>
              </a:rPr>
              <a:t>a</a:t>
            </a:r>
            <a:r>
              <a:rPr sz="2100" b="1" spc="-15" dirty="0">
                <a:latin typeface="Arial Narrow"/>
                <a:cs typeface="Arial Narrow"/>
              </a:rPr>
              <a:t>ció</a:t>
            </a:r>
            <a:r>
              <a:rPr sz="2100" b="1" spc="-11" dirty="0">
                <a:latin typeface="Arial Narrow"/>
                <a:cs typeface="Arial Narrow"/>
              </a:rPr>
              <a:t>n</a:t>
            </a:r>
            <a:r>
              <a:rPr sz="2100" b="1" spc="71" dirty="0">
                <a:latin typeface="Arial Narrow"/>
                <a:cs typeface="Arial Narrow"/>
              </a:rPr>
              <a:t> </a:t>
            </a:r>
            <a:r>
              <a:rPr sz="2100" b="1" spc="-11" dirty="0">
                <a:latin typeface="Arial Narrow"/>
                <a:cs typeface="Arial Narrow"/>
              </a:rPr>
              <a:t>de</a:t>
            </a:r>
            <a:r>
              <a:rPr sz="2100" b="1" spc="68" dirty="0">
                <a:latin typeface="Arial Narrow"/>
                <a:cs typeface="Arial Narrow"/>
              </a:rPr>
              <a:t> </a:t>
            </a:r>
            <a:r>
              <a:rPr sz="2100" b="1" spc="-15" dirty="0">
                <a:latin typeface="Arial Narrow"/>
                <a:cs typeface="Arial Narrow"/>
              </a:rPr>
              <a:t>estatut</a:t>
            </a:r>
            <a:r>
              <a:rPr sz="2100" b="1" spc="-8" dirty="0">
                <a:latin typeface="Arial Narrow"/>
                <a:cs typeface="Arial Narrow"/>
              </a:rPr>
              <a:t>o</a:t>
            </a:r>
            <a:r>
              <a:rPr sz="2100" b="1" spc="-11" dirty="0">
                <a:latin typeface="Arial Narrow"/>
                <a:cs typeface="Arial Narrow"/>
              </a:rPr>
              <a:t>s</a:t>
            </a:r>
            <a:r>
              <a:rPr sz="2100" b="1" spc="60" dirty="0">
                <a:latin typeface="Arial Narrow"/>
                <a:cs typeface="Arial Narrow"/>
              </a:rPr>
              <a:t> </a:t>
            </a:r>
            <a:r>
              <a:rPr sz="2100" b="1" spc="-11" dirty="0">
                <a:latin typeface="Arial Narrow"/>
                <a:cs typeface="Arial Narrow"/>
              </a:rPr>
              <a:t>de</a:t>
            </a:r>
            <a:r>
              <a:rPr sz="2100" b="1" spc="68" dirty="0">
                <a:latin typeface="Arial Narrow"/>
                <a:cs typeface="Arial Narrow"/>
              </a:rPr>
              <a:t> </a:t>
            </a:r>
            <a:r>
              <a:rPr sz="2100" b="1" spc="-8" dirty="0">
                <a:latin typeface="Arial Narrow"/>
                <a:cs typeface="Arial Narrow"/>
              </a:rPr>
              <a:t>listas</a:t>
            </a:r>
            <a:r>
              <a:rPr sz="2100" b="1" spc="64" dirty="0">
                <a:latin typeface="Arial Narrow"/>
                <a:cs typeface="Arial Narrow"/>
              </a:rPr>
              <a:t> </a:t>
            </a:r>
            <a:r>
              <a:rPr sz="2100" b="1" spc="-11" dirty="0">
                <a:latin typeface="Arial Narrow"/>
                <a:cs typeface="Arial Narrow"/>
              </a:rPr>
              <a:t>de</a:t>
            </a:r>
            <a:r>
              <a:rPr sz="2100" b="1" spc="68" dirty="0">
                <a:latin typeface="Arial Narrow"/>
                <a:cs typeface="Arial Narrow"/>
              </a:rPr>
              <a:t> </a:t>
            </a:r>
            <a:r>
              <a:rPr sz="2100" b="1" spc="-15" dirty="0">
                <a:latin typeface="Arial Narrow"/>
                <a:cs typeface="Arial Narrow"/>
              </a:rPr>
              <a:t>contro</a:t>
            </a:r>
            <a:r>
              <a:rPr sz="2100" b="1" spc="-8" dirty="0">
                <a:latin typeface="Arial Narrow"/>
                <a:cs typeface="Arial Narrow"/>
              </a:rPr>
              <a:t>l</a:t>
            </a:r>
            <a:r>
              <a:rPr sz="2100" b="1" spc="75" dirty="0">
                <a:latin typeface="Arial Narrow"/>
                <a:cs typeface="Arial Narrow"/>
              </a:rPr>
              <a:t> </a:t>
            </a:r>
            <a:r>
              <a:rPr sz="2100" b="1" spc="-19" dirty="0">
                <a:latin typeface="Arial Narrow"/>
                <a:cs typeface="Arial Narrow"/>
              </a:rPr>
              <a:t>d</a:t>
            </a:r>
            <a:r>
              <a:rPr sz="2100" b="1" spc="-11" dirty="0">
                <a:latin typeface="Arial Narrow"/>
                <a:cs typeface="Arial Narrow"/>
              </a:rPr>
              <a:t>e</a:t>
            </a:r>
            <a:r>
              <a:rPr sz="2100" b="1" spc="68" dirty="0">
                <a:latin typeface="Arial Narrow"/>
                <a:cs typeface="Arial Narrow"/>
              </a:rPr>
              <a:t> </a:t>
            </a:r>
            <a:r>
              <a:rPr sz="2100" b="1" spc="-15" dirty="0">
                <a:latin typeface="Arial Narrow"/>
                <a:cs typeface="Arial Narrow"/>
              </a:rPr>
              <a:t>acceso</a:t>
            </a:r>
            <a:endParaRPr sz="2100">
              <a:latin typeface="Arial Narrow"/>
              <a:cs typeface="Arial Narrow"/>
            </a:endParaRPr>
          </a:p>
          <a:p>
            <a:pPr marL="68580"/>
            <a:r>
              <a:rPr sz="2100" b="1" spc="-15" dirty="0">
                <a:latin typeface="Arial Narrow"/>
                <a:cs typeface="Arial Narrow"/>
              </a:rPr>
              <a:t>extendida</a:t>
            </a:r>
            <a:r>
              <a:rPr sz="2100" b="1" spc="-23" dirty="0">
                <a:latin typeface="Arial Narrow"/>
                <a:cs typeface="Arial Narrow"/>
              </a:rPr>
              <a:t>s</a:t>
            </a:r>
            <a:r>
              <a:rPr sz="2100" b="1" spc="-8" dirty="0">
                <a:latin typeface="Arial Narrow"/>
                <a:cs typeface="Arial Narrow"/>
              </a:rPr>
              <a:t>:</a:t>
            </a:r>
            <a:endParaRPr sz="2100">
              <a:latin typeface="Arial Narrow"/>
              <a:cs typeface="Arial Narro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16596" y="2577487"/>
            <a:ext cx="5653563" cy="27020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3825" marR="3810" algn="just"/>
            <a:r>
              <a:rPr b="1" spc="-4" dirty="0">
                <a:latin typeface="Arial Narrow"/>
                <a:cs typeface="Arial Narrow"/>
              </a:rPr>
              <a:t>a</a:t>
            </a:r>
            <a:r>
              <a:rPr b="1" dirty="0">
                <a:latin typeface="Arial Narrow"/>
                <a:cs typeface="Arial Narrow"/>
              </a:rPr>
              <a:t>c</a:t>
            </a:r>
            <a:r>
              <a:rPr b="1" spc="4" dirty="0">
                <a:latin typeface="Arial Narrow"/>
                <a:cs typeface="Arial Narrow"/>
              </a:rPr>
              <a:t>c</a:t>
            </a:r>
            <a:r>
              <a:rPr b="1" spc="-4" dirty="0">
                <a:latin typeface="Arial Narrow"/>
                <a:cs typeface="Arial Narrow"/>
              </a:rPr>
              <a:t>e</a:t>
            </a:r>
            <a:r>
              <a:rPr b="1" dirty="0">
                <a:latin typeface="Arial Narrow"/>
                <a:cs typeface="Arial Narrow"/>
              </a:rPr>
              <a:t>ss</a:t>
            </a:r>
            <a:r>
              <a:rPr b="1" spc="-4" dirty="0">
                <a:latin typeface="Arial Narrow"/>
                <a:cs typeface="Arial Narrow"/>
              </a:rPr>
              <a:t>-</a:t>
            </a:r>
            <a:r>
              <a:rPr b="1" dirty="0">
                <a:latin typeface="Arial Narrow"/>
                <a:cs typeface="Arial Narrow"/>
              </a:rPr>
              <a:t>l</a:t>
            </a:r>
            <a:r>
              <a:rPr b="1" spc="4" dirty="0">
                <a:latin typeface="Arial Narrow"/>
                <a:cs typeface="Arial Narrow"/>
              </a:rPr>
              <a:t>i</a:t>
            </a:r>
            <a:r>
              <a:rPr b="1" spc="-4" dirty="0">
                <a:latin typeface="Arial Narrow"/>
                <a:cs typeface="Arial Narrow"/>
              </a:rPr>
              <a:t>s</a:t>
            </a:r>
            <a:r>
              <a:rPr b="1" dirty="0">
                <a:latin typeface="Arial Narrow"/>
                <a:cs typeface="Arial Narrow"/>
              </a:rPr>
              <a:t>t </a:t>
            </a:r>
            <a:r>
              <a:rPr b="1" spc="109" dirty="0">
                <a:latin typeface="Arial Narrow"/>
                <a:cs typeface="Arial Narrow"/>
              </a:rPr>
              <a:t> </a:t>
            </a:r>
            <a:r>
              <a:rPr b="1" spc="-11" dirty="0">
                <a:solidFill>
                  <a:srgbClr val="3333CC"/>
                </a:solidFill>
                <a:latin typeface="Arial Narrow"/>
                <a:cs typeface="Arial Narrow"/>
              </a:rPr>
              <a:t>núme</a:t>
            </a:r>
            <a:r>
              <a:rPr b="1" spc="-4" dirty="0">
                <a:solidFill>
                  <a:srgbClr val="3333CC"/>
                </a:solidFill>
                <a:latin typeface="Arial Narrow"/>
                <a:cs typeface="Arial Narrow"/>
              </a:rPr>
              <a:t>r</a:t>
            </a:r>
            <a:r>
              <a:rPr b="1" dirty="0">
                <a:solidFill>
                  <a:srgbClr val="3333CC"/>
                </a:solidFill>
                <a:latin typeface="Arial Narrow"/>
                <a:cs typeface="Arial Narrow"/>
              </a:rPr>
              <a:t>o_l</a:t>
            </a:r>
            <a:r>
              <a:rPr b="1" spc="4" dirty="0">
                <a:solidFill>
                  <a:srgbClr val="3333CC"/>
                </a:solidFill>
                <a:latin typeface="Arial Narrow"/>
                <a:cs typeface="Arial Narrow"/>
              </a:rPr>
              <a:t>i</a:t>
            </a:r>
            <a:r>
              <a:rPr b="1" spc="-4" dirty="0">
                <a:solidFill>
                  <a:srgbClr val="3333CC"/>
                </a:solidFill>
                <a:latin typeface="Arial Narrow"/>
                <a:cs typeface="Arial Narrow"/>
              </a:rPr>
              <a:t>st</a:t>
            </a:r>
            <a:r>
              <a:rPr b="1" dirty="0">
                <a:solidFill>
                  <a:srgbClr val="3333CC"/>
                </a:solidFill>
                <a:latin typeface="Arial Narrow"/>
                <a:cs typeface="Arial Narrow"/>
              </a:rPr>
              <a:t>a</a:t>
            </a:r>
            <a:r>
              <a:rPr b="1" spc="60" dirty="0">
                <a:solidFill>
                  <a:srgbClr val="3333CC"/>
                </a:solidFill>
                <a:latin typeface="Arial Narrow"/>
                <a:cs typeface="Arial Narrow"/>
              </a:rPr>
              <a:t> </a:t>
            </a:r>
            <a:r>
              <a:rPr b="1" spc="-8" dirty="0">
                <a:latin typeface="Arial Narrow"/>
                <a:cs typeface="Arial Narrow"/>
              </a:rPr>
              <a:t>{</a:t>
            </a:r>
            <a:r>
              <a:rPr b="1" spc="-11" dirty="0">
                <a:solidFill>
                  <a:srgbClr val="009900"/>
                </a:solidFill>
                <a:latin typeface="Arial Narrow"/>
                <a:cs typeface="Arial Narrow"/>
              </a:rPr>
              <a:t>perm</a:t>
            </a:r>
            <a:r>
              <a:rPr b="1" spc="-15" dirty="0">
                <a:solidFill>
                  <a:srgbClr val="009900"/>
                </a:solidFill>
                <a:latin typeface="Arial Narrow"/>
                <a:cs typeface="Arial Narrow"/>
              </a:rPr>
              <a:t>i</a:t>
            </a:r>
            <a:r>
              <a:rPr b="1" spc="-8" dirty="0">
                <a:solidFill>
                  <a:srgbClr val="009900"/>
                </a:solidFill>
                <a:latin typeface="Arial Narrow"/>
                <a:cs typeface="Arial Narrow"/>
              </a:rPr>
              <a:t>t</a:t>
            </a:r>
            <a:r>
              <a:rPr b="1" spc="60" dirty="0">
                <a:solidFill>
                  <a:srgbClr val="009900"/>
                </a:solidFill>
                <a:latin typeface="Arial Narrow"/>
                <a:cs typeface="Arial Narrow"/>
              </a:rPr>
              <a:t> </a:t>
            </a:r>
            <a:r>
              <a:rPr b="1" spc="-8" dirty="0">
                <a:latin typeface="Arial Narrow"/>
                <a:cs typeface="Arial Narrow"/>
              </a:rPr>
              <a:t>|</a:t>
            </a:r>
            <a:r>
              <a:rPr b="1" spc="56" dirty="0">
                <a:latin typeface="Arial Narrow"/>
                <a:cs typeface="Arial Narrow"/>
              </a:rPr>
              <a:t> </a:t>
            </a:r>
            <a:r>
              <a:rPr b="1" dirty="0">
                <a:solidFill>
                  <a:srgbClr val="FF3300"/>
                </a:solidFill>
                <a:latin typeface="Arial Narrow"/>
                <a:cs typeface="Arial Narrow"/>
              </a:rPr>
              <a:t>den</a:t>
            </a:r>
            <a:r>
              <a:rPr b="1" spc="-8" dirty="0">
                <a:solidFill>
                  <a:srgbClr val="FF3300"/>
                </a:solidFill>
                <a:latin typeface="Arial Narrow"/>
                <a:cs typeface="Arial Narrow"/>
              </a:rPr>
              <a:t>y</a:t>
            </a:r>
            <a:r>
              <a:rPr b="1" spc="-8" dirty="0">
                <a:latin typeface="Arial Narrow"/>
                <a:cs typeface="Arial Narrow"/>
              </a:rPr>
              <a:t>}</a:t>
            </a:r>
            <a:r>
              <a:rPr b="1" dirty="0">
                <a:latin typeface="Arial Narrow"/>
                <a:cs typeface="Arial Narrow"/>
              </a:rPr>
              <a:t> </a:t>
            </a:r>
            <a:r>
              <a:rPr b="1" spc="116" dirty="0">
                <a:latin typeface="Arial Narrow"/>
                <a:cs typeface="Arial Narrow"/>
              </a:rPr>
              <a:t> </a:t>
            </a:r>
            <a:r>
              <a:rPr b="1" spc="-11" dirty="0">
                <a:latin typeface="Arial Narrow"/>
                <a:cs typeface="Arial Narrow"/>
              </a:rPr>
              <a:t>protoco</a:t>
            </a:r>
            <a:r>
              <a:rPr b="1" spc="-19" dirty="0">
                <a:latin typeface="Arial Narrow"/>
                <a:cs typeface="Arial Narrow"/>
              </a:rPr>
              <a:t>l</a:t>
            </a:r>
            <a:r>
              <a:rPr b="1" spc="-11" dirty="0">
                <a:latin typeface="Arial Narrow"/>
                <a:cs typeface="Arial Narrow"/>
              </a:rPr>
              <a:t>o</a:t>
            </a:r>
            <a:r>
              <a:rPr b="1" spc="53" dirty="0">
                <a:latin typeface="Arial Narrow"/>
                <a:cs typeface="Arial Narrow"/>
              </a:rPr>
              <a:t> </a:t>
            </a:r>
            <a:r>
              <a:rPr b="1" spc="-8" dirty="0">
                <a:solidFill>
                  <a:srgbClr val="3333CC"/>
                </a:solidFill>
                <a:latin typeface="Arial Narrow"/>
                <a:cs typeface="Arial Narrow"/>
              </a:rPr>
              <a:t>ip_origen </a:t>
            </a:r>
            <a:r>
              <a:rPr b="1" spc="-4" dirty="0">
                <a:solidFill>
                  <a:srgbClr val="3333CC"/>
                </a:solidFill>
                <a:latin typeface="Arial Narrow"/>
                <a:cs typeface="Arial Narrow"/>
              </a:rPr>
              <a:t>w</a:t>
            </a:r>
            <a:r>
              <a:rPr b="1" spc="4" dirty="0">
                <a:solidFill>
                  <a:srgbClr val="3333CC"/>
                </a:solidFill>
                <a:latin typeface="Arial Narrow"/>
                <a:cs typeface="Arial Narrow"/>
              </a:rPr>
              <a:t>i</a:t>
            </a:r>
            <a:r>
              <a:rPr b="1" spc="-8" dirty="0">
                <a:solidFill>
                  <a:srgbClr val="3333CC"/>
                </a:solidFill>
                <a:latin typeface="Arial Narrow"/>
                <a:cs typeface="Arial Narrow"/>
              </a:rPr>
              <a:t>ldcard_</a:t>
            </a:r>
            <a:r>
              <a:rPr b="1" spc="-19" dirty="0">
                <a:solidFill>
                  <a:srgbClr val="3333CC"/>
                </a:solidFill>
                <a:latin typeface="Arial Narrow"/>
                <a:cs typeface="Arial Narrow"/>
              </a:rPr>
              <a:t>o</a:t>
            </a:r>
            <a:r>
              <a:rPr b="1" spc="-8" dirty="0">
                <a:solidFill>
                  <a:srgbClr val="3333CC"/>
                </a:solidFill>
                <a:latin typeface="Arial Narrow"/>
                <a:cs typeface="Arial Narrow"/>
              </a:rPr>
              <a:t>r</a:t>
            </a:r>
            <a:r>
              <a:rPr b="1" dirty="0">
                <a:solidFill>
                  <a:srgbClr val="3333CC"/>
                </a:solidFill>
                <a:latin typeface="Arial Narrow"/>
                <a:cs typeface="Arial Narrow"/>
              </a:rPr>
              <a:t>igen    </a:t>
            </a:r>
            <a:r>
              <a:rPr b="1" spc="-75" dirty="0">
                <a:solidFill>
                  <a:srgbClr val="3333CC"/>
                </a:solidFill>
                <a:latin typeface="Arial Narrow"/>
                <a:cs typeface="Arial Narrow"/>
              </a:rPr>
              <a:t> </a:t>
            </a:r>
            <a:r>
              <a:rPr b="1" dirty="0">
                <a:solidFill>
                  <a:srgbClr val="3333CC"/>
                </a:solidFill>
                <a:latin typeface="Arial Narrow"/>
                <a:cs typeface="Arial Narrow"/>
              </a:rPr>
              <a:t>ip_</a:t>
            </a:r>
            <a:r>
              <a:rPr b="1" spc="4" dirty="0">
                <a:solidFill>
                  <a:srgbClr val="3333CC"/>
                </a:solidFill>
                <a:latin typeface="Arial Narrow"/>
                <a:cs typeface="Arial Narrow"/>
              </a:rPr>
              <a:t>de</a:t>
            </a:r>
            <a:r>
              <a:rPr b="1" spc="-4" dirty="0">
                <a:solidFill>
                  <a:srgbClr val="3333CC"/>
                </a:solidFill>
                <a:latin typeface="Arial Narrow"/>
                <a:cs typeface="Arial Narrow"/>
              </a:rPr>
              <a:t>st</a:t>
            </a:r>
            <a:r>
              <a:rPr b="1" spc="4" dirty="0">
                <a:solidFill>
                  <a:srgbClr val="3333CC"/>
                </a:solidFill>
                <a:latin typeface="Arial Narrow"/>
                <a:cs typeface="Arial Narrow"/>
              </a:rPr>
              <a:t>i</a:t>
            </a:r>
            <a:r>
              <a:rPr b="1" spc="-11" dirty="0">
                <a:solidFill>
                  <a:srgbClr val="3333CC"/>
                </a:solidFill>
                <a:latin typeface="Arial Narrow"/>
                <a:cs typeface="Arial Narrow"/>
              </a:rPr>
              <a:t>no</a:t>
            </a:r>
            <a:r>
              <a:rPr b="1" dirty="0">
                <a:solidFill>
                  <a:srgbClr val="3333CC"/>
                </a:solidFill>
                <a:latin typeface="Arial Narrow"/>
                <a:cs typeface="Arial Narrow"/>
              </a:rPr>
              <a:t>    </a:t>
            </a:r>
            <a:r>
              <a:rPr b="1" spc="-71" dirty="0">
                <a:solidFill>
                  <a:srgbClr val="3333CC"/>
                </a:solidFill>
                <a:latin typeface="Arial Narrow"/>
                <a:cs typeface="Arial Narrow"/>
              </a:rPr>
              <a:t> </a:t>
            </a:r>
            <a:r>
              <a:rPr b="1" spc="-4" dirty="0">
                <a:solidFill>
                  <a:srgbClr val="3333CC"/>
                </a:solidFill>
                <a:latin typeface="Arial Narrow"/>
                <a:cs typeface="Arial Narrow"/>
              </a:rPr>
              <a:t>w</a:t>
            </a:r>
            <a:r>
              <a:rPr b="1" spc="4" dirty="0">
                <a:solidFill>
                  <a:srgbClr val="3333CC"/>
                </a:solidFill>
                <a:latin typeface="Arial Narrow"/>
                <a:cs typeface="Arial Narrow"/>
              </a:rPr>
              <a:t>i</a:t>
            </a:r>
            <a:r>
              <a:rPr b="1" dirty="0">
                <a:solidFill>
                  <a:srgbClr val="3333CC"/>
                </a:solidFill>
                <a:latin typeface="Arial Narrow"/>
                <a:cs typeface="Arial Narrow"/>
              </a:rPr>
              <a:t>ldcard_dest</a:t>
            </a:r>
            <a:r>
              <a:rPr b="1" spc="4" dirty="0">
                <a:solidFill>
                  <a:srgbClr val="3333CC"/>
                </a:solidFill>
                <a:latin typeface="Arial Narrow"/>
                <a:cs typeface="Arial Narrow"/>
              </a:rPr>
              <a:t>i</a:t>
            </a:r>
            <a:r>
              <a:rPr b="1" spc="-11" dirty="0">
                <a:solidFill>
                  <a:srgbClr val="3333CC"/>
                </a:solidFill>
                <a:latin typeface="Arial Narrow"/>
                <a:cs typeface="Arial Narrow"/>
              </a:rPr>
              <a:t>no</a:t>
            </a:r>
            <a:r>
              <a:rPr b="1" dirty="0">
                <a:solidFill>
                  <a:srgbClr val="3333CC"/>
                </a:solidFill>
                <a:latin typeface="Arial Narrow"/>
                <a:cs typeface="Arial Narrow"/>
              </a:rPr>
              <a:t>    </a:t>
            </a:r>
            <a:r>
              <a:rPr b="1" spc="-71" dirty="0">
                <a:solidFill>
                  <a:srgbClr val="3333CC"/>
                </a:solidFill>
                <a:latin typeface="Arial Narrow"/>
                <a:cs typeface="Arial Narrow"/>
              </a:rPr>
              <a:t> </a:t>
            </a:r>
            <a:r>
              <a:rPr b="1" spc="-11" dirty="0">
                <a:latin typeface="Arial Narrow"/>
                <a:cs typeface="Arial Narrow"/>
              </a:rPr>
              <a:t>oper</a:t>
            </a:r>
            <a:r>
              <a:rPr b="1" spc="-19" dirty="0">
                <a:latin typeface="Arial Narrow"/>
                <a:cs typeface="Arial Narrow"/>
              </a:rPr>
              <a:t>a</a:t>
            </a:r>
            <a:r>
              <a:rPr b="1" spc="-11" dirty="0">
                <a:latin typeface="Arial Narrow"/>
                <a:cs typeface="Arial Narrow"/>
              </a:rPr>
              <a:t>ndo</a:t>
            </a:r>
            <a:r>
              <a:rPr b="1" spc="-8" dirty="0">
                <a:latin typeface="Arial Narrow"/>
                <a:cs typeface="Arial Narrow"/>
              </a:rPr>
              <a:t> </a:t>
            </a:r>
            <a:r>
              <a:rPr b="1" spc="-11" dirty="0">
                <a:solidFill>
                  <a:srgbClr val="3333CC"/>
                </a:solidFill>
                <a:latin typeface="Arial Narrow"/>
                <a:cs typeface="Arial Narrow"/>
              </a:rPr>
              <a:t>número</a:t>
            </a:r>
            <a:r>
              <a:rPr b="1" spc="-19" dirty="0">
                <a:solidFill>
                  <a:srgbClr val="3333CC"/>
                </a:solidFill>
                <a:latin typeface="Arial Narrow"/>
                <a:cs typeface="Arial Narrow"/>
              </a:rPr>
              <a:t>_</a:t>
            </a:r>
            <a:r>
              <a:rPr b="1" spc="-11" dirty="0">
                <a:solidFill>
                  <a:srgbClr val="3333CC"/>
                </a:solidFill>
                <a:latin typeface="Arial Narrow"/>
                <a:cs typeface="Arial Narrow"/>
              </a:rPr>
              <a:t>puerto</a:t>
            </a:r>
            <a:endParaRPr dirty="0">
              <a:latin typeface="Arial Narrow"/>
              <a:cs typeface="Arial Narrow"/>
            </a:endParaRPr>
          </a:p>
          <a:p>
            <a:pPr>
              <a:spcBef>
                <a:spcPts val="8"/>
              </a:spcBef>
            </a:pPr>
            <a:endParaRPr sz="2175" dirty="0">
              <a:latin typeface="Times New Roman"/>
              <a:cs typeface="Times New Roman"/>
            </a:endParaRPr>
          </a:p>
          <a:p>
            <a:pPr marL="9525" marR="117634">
              <a:tabLst>
                <a:tab pos="1295400" algn="l"/>
                <a:tab pos="1657826" algn="l"/>
                <a:tab pos="1946910" algn="l"/>
                <a:tab pos="2492216" algn="l"/>
                <a:tab pos="2854643" algn="l"/>
                <a:tab pos="3701415" algn="l"/>
                <a:tab pos="4063841" algn="l"/>
                <a:tab pos="4912043" algn="l"/>
                <a:tab pos="5140643" algn="l"/>
              </a:tabLst>
            </a:pPr>
            <a:r>
              <a:rPr sz="2100" b="1" spc="-11" dirty="0">
                <a:latin typeface="Arial Narrow"/>
                <a:cs typeface="Arial Narrow"/>
              </a:rPr>
              <a:t>Asignación	de	la</a:t>
            </a:r>
            <a:r>
              <a:rPr sz="2100" b="1" dirty="0">
                <a:latin typeface="Arial Narrow"/>
                <a:cs typeface="Arial Narrow"/>
              </a:rPr>
              <a:t>	</a:t>
            </a:r>
            <a:r>
              <a:rPr sz="2100" b="1" spc="-8" dirty="0">
                <a:latin typeface="Arial Narrow"/>
                <a:cs typeface="Arial Narrow"/>
              </a:rPr>
              <a:t>lis</a:t>
            </a:r>
            <a:r>
              <a:rPr sz="2100" b="1" spc="-4" dirty="0">
                <a:latin typeface="Arial Narrow"/>
                <a:cs typeface="Arial Narrow"/>
              </a:rPr>
              <a:t>t</a:t>
            </a:r>
            <a:r>
              <a:rPr sz="2100" b="1" spc="-11" dirty="0">
                <a:latin typeface="Arial Narrow"/>
                <a:cs typeface="Arial Narrow"/>
              </a:rPr>
              <a:t>a</a:t>
            </a:r>
            <a:r>
              <a:rPr sz="2100" b="1" dirty="0">
                <a:latin typeface="Arial Narrow"/>
                <a:cs typeface="Arial Narrow"/>
              </a:rPr>
              <a:t>	</a:t>
            </a:r>
            <a:r>
              <a:rPr sz="2100" b="1" spc="-11" dirty="0">
                <a:latin typeface="Arial Narrow"/>
                <a:cs typeface="Arial Narrow"/>
              </a:rPr>
              <a:t>de</a:t>
            </a:r>
            <a:r>
              <a:rPr sz="2100" b="1" dirty="0">
                <a:latin typeface="Arial Narrow"/>
                <a:cs typeface="Arial Narrow"/>
              </a:rPr>
              <a:t>	</a:t>
            </a:r>
            <a:r>
              <a:rPr sz="2100" b="1" spc="-15" dirty="0">
                <a:latin typeface="Arial Narrow"/>
                <a:cs typeface="Arial Narrow"/>
              </a:rPr>
              <a:t>contro</a:t>
            </a:r>
            <a:r>
              <a:rPr sz="2100" b="1" spc="-8" dirty="0">
                <a:latin typeface="Arial Narrow"/>
                <a:cs typeface="Arial Narrow"/>
              </a:rPr>
              <a:t>l</a:t>
            </a:r>
            <a:r>
              <a:rPr sz="2100" b="1" dirty="0">
                <a:latin typeface="Arial Narrow"/>
                <a:cs typeface="Arial Narrow"/>
              </a:rPr>
              <a:t>	</a:t>
            </a:r>
            <a:r>
              <a:rPr sz="2100" b="1" spc="-11" dirty="0">
                <a:latin typeface="Arial Narrow"/>
                <a:cs typeface="Arial Narrow"/>
              </a:rPr>
              <a:t>de</a:t>
            </a:r>
            <a:r>
              <a:rPr sz="2100" b="1" dirty="0">
                <a:latin typeface="Arial Narrow"/>
                <a:cs typeface="Arial Narrow"/>
              </a:rPr>
              <a:t>	</a:t>
            </a:r>
            <a:r>
              <a:rPr sz="2100" b="1" spc="-15" dirty="0">
                <a:latin typeface="Arial Narrow"/>
                <a:cs typeface="Arial Narrow"/>
              </a:rPr>
              <a:t>acces</a:t>
            </a:r>
            <a:r>
              <a:rPr sz="2100" b="1" spc="-11" dirty="0">
                <a:latin typeface="Arial Narrow"/>
                <a:cs typeface="Arial Narrow"/>
              </a:rPr>
              <a:t>o</a:t>
            </a:r>
            <a:r>
              <a:rPr sz="2100" b="1" dirty="0">
                <a:latin typeface="Arial Narrow"/>
                <a:cs typeface="Arial Narrow"/>
              </a:rPr>
              <a:t>	</a:t>
            </a:r>
            <a:r>
              <a:rPr sz="2100" b="1" spc="-11" dirty="0">
                <a:latin typeface="Arial Narrow"/>
                <a:cs typeface="Arial Narrow"/>
              </a:rPr>
              <a:t>a</a:t>
            </a:r>
            <a:r>
              <a:rPr sz="2100" b="1" dirty="0">
                <a:latin typeface="Arial Narrow"/>
                <a:cs typeface="Arial Narrow"/>
              </a:rPr>
              <a:t>	</a:t>
            </a:r>
            <a:r>
              <a:rPr sz="2100" b="1" spc="-11" dirty="0">
                <a:latin typeface="Arial Narrow"/>
                <a:cs typeface="Arial Narrow"/>
              </a:rPr>
              <a:t>una </a:t>
            </a:r>
            <a:r>
              <a:rPr sz="2100" b="1" spc="-11" dirty="0" err="1">
                <a:latin typeface="Arial Narrow"/>
                <a:cs typeface="Arial Narrow"/>
              </a:rPr>
              <a:t>interfa</a:t>
            </a:r>
            <a:r>
              <a:rPr lang="es-ES" sz="2100" b="1" spc="-11" dirty="0">
                <a:latin typeface="Arial Narrow"/>
                <a:cs typeface="Arial Narrow"/>
              </a:rPr>
              <a:t>z</a:t>
            </a:r>
            <a:r>
              <a:rPr sz="2100" b="1" spc="-8" dirty="0">
                <a:latin typeface="Arial Narrow"/>
                <a:cs typeface="Arial Narrow"/>
              </a:rPr>
              <a:t> </a:t>
            </a:r>
            <a:r>
              <a:rPr sz="2100" b="1" spc="-11" dirty="0">
                <a:latin typeface="Arial Narrow"/>
                <a:cs typeface="Arial Narrow"/>
              </a:rPr>
              <a:t>del</a:t>
            </a:r>
            <a:r>
              <a:rPr sz="2100" b="1" spc="-4" dirty="0">
                <a:latin typeface="Arial Narrow"/>
                <a:cs typeface="Arial Narrow"/>
              </a:rPr>
              <a:t> </a:t>
            </a:r>
            <a:r>
              <a:rPr sz="2100" b="1" spc="-11" dirty="0">
                <a:latin typeface="Arial Narrow"/>
                <a:cs typeface="Arial Narrow"/>
              </a:rPr>
              <a:t>ruteador</a:t>
            </a:r>
            <a:r>
              <a:rPr sz="2100" b="1" spc="-8" dirty="0">
                <a:latin typeface="Arial Narrow"/>
                <a:cs typeface="Arial Narrow"/>
              </a:rPr>
              <a:t>:</a:t>
            </a:r>
            <a:endParaRPr sz="2100" dirty="0">
              <a:latin typeface="Arial Narrow"/>
              <a:cs typeface="Arial Narrow"/>
            </a:endParaRPr>
          </a:p>
          <a:p>
            <a:pPr marL="752475">
              <a:spcBef>
                <a:spcPts val="810"/>
              </a:spcBef>
              <a:tabLst>
                <a:tab pos="1844040" algn="l"/>
              </a:tabLst>
            </a:pPr>
            <a:r>
              <a:rPr sz="2100" b="1" spc="-8" dirty="0">
                <a:latin typeface="Arial Narrow"/>
                <a:cs typeface="Arial Narrow"/>
              </a:rPr>
              <a:t>interfa</a:t>
            </a:r>
            <a:r>
              <a:rPr sz="2100" b="1" spc="-19" dirty="0">
                <a:latin typeface="Arial Narrow"/>
                <a:cs typeface="Arial Narrow"/>
              </a:rPr>
              <a:t>c</a:t>
            </a:r>
            <a:r>
              <a:rPr sz="2100" b="1" spc="-11" dirty="0">
                <a:latin typeface="Arial Narrow"/>
                <a:cs typeface="Arial Narrow"/>
              </a:rPr>
              <a:t>e</a:t>
            </a:r>
            <a:r>
              <a:rPr sz="2100" b="1" dirty="0">
                <a:latin typeface="Arial Narrow"/>
                <a:cs typeface="Arial Narrow"/>
              </a:rPr>
              <a:t>	</a:t>
            </a:r>
            <a:r>
              <a:rPr sz="2100" b="1" spc="-11" dirty="0">
                <a:solidFill>
                  <a:srgbClr val="3333CC"/>
                </a:solidFill>
                <a:latin typeface="Arial Narrow"/>
                <a:cs typeface="Arial Narrow"/>
              </a:rPr>
              <a:t>int_número</a:t>
            </a:r>
            <a:endParaRPr sz="2100" dirty="0">
              <a:latin typeface="Arial Narrow"/>
              <a:cs typeface="Arial Narrow"/>
            </a:endParaRPr>
          </a:p>
          <a:p>
            <a:pPr marL="752475">
              <a:spcBef>
                <a:spcPts val="1080"/>
              </a:spcBef>
              <a:tabLst>
                <a:tab pos="2547938" algn="l"/>
              </a:tabLst>
            </a:pPr>
            <a:r>
              <a:rPr sz="2100" b="1" spc="-11" dirty="0">
                <a:latin typeface="Arial Narrow"/>
                <a:cs typeface="Arial Narrow"/>
              </a:rPr>
              <a:t>ip</a:t>
            </a:r>
            <a:r>
              <a:rPr sz="2100" b="1" dirty="0">
                <a:latin typeface="Arial Narrow"/>
                <a:cs typeface="Arial Narrow"/>
              </a:rPr>
              <a:t> </a:t>
            </a:r>
            <a:r>
              <a:rPr sz="2100" b="1" spc="-15" dirty="0">
                <a:latin typeface="Arial Narrow"/>
                <a:cs typeface="Arial Narrow"/>
              </a:rPr>
              <a:t>access</a:t>
            </a:r>
            <a:r>
              <a:rPr sz="2100" b="1" spc="-11" dirty="0">
                <a:latin typeface="Arial Narrow"/>
                <a:cs typeface="Arial Narrow"/>
              </a:rPr>
              <a:t>-group</a:t>
            </a:r>
            <a:r>
              <a:rPr sz="2100" b="1" dirty="0">
                <a:latin typeface="Arial Narrow"/>
                <a:cs typeface="Arial Narrow"/>
              </a:rPr>
              <a:t>	</a:t>
            </a:r>
            <a:r>
              <a:rPr sz="2100" b="1" spc="-11" dirty="0">
                <a:solidFill>
                  <a:srgbClr val="3333CC"/>
                </a:solidFill>
                <a:latin typeface="Arial Narrow"/>
                <a:cs typeface="Arial Narrow"/>
              </a:rPr>
              <a:t>número_lista</a:t>
            </a:r>
            <a:r>
              <a:rPr sz="2100" b="1" spc="-4" dirty="0">
                <a:solidFill>
                  <a:srgbClr val="3333CC"/>
                </a:solidFill>
                <a:latin typeface="Arial Narrow"/>
                <a:cs typeface="Arial Narrow"/>
              </a:rPr>
              <a:t> </a:t>
            </a:r>
            <a:r>
              <a:rPr sz="2100" b="1" spc="-8" dirty="0">
                <a:latin typeface="Arial Narrow"/>
                <a:cs typeface="Arial Narrow"/>
              </a:rPr>
              <a:t>{in</a:t>
            </a:r>
            <a:r>
              <a:rPr sz="2100" b="1" spc="-15" dirty="0">
                <a:latin typeface="Arial Narrow"/>
                <a:cs typeface="Arial Narrow"/>
              </a:rPr>
              <a:t> </a:t>
            </a:r>
            <a:r>
              <a:rPr sz="2100" b="1" spc="-8" dirty="0">
                <a:latin typeface="Arial Narrow"/>
                <a:cs typeface="Arial Narrow"/>
              </a:rPr>
              <a:t>|</a:t>
            </a:r>
            <a:r>
              <a:rPr sz="2100" b="1" spc="8" dirty="0">
                <a:latin typeface="Arial Narrow"/>
                <a:cs typeface="Arial Narrow"/>
              </a:rPr>
              <a:t> </a:t>
            </a:r>
            <a:r>
              <a:rPr sz="2100" b="1" spc="-11" dirty="0">
                <a:latin typeface="Arial Narrow"/>
                <a:cs typeface="Arial Narrow"/>
              </a:rPr>
              <a:t>ou</a:t>
            </a:r>
            <a:r>
              <a:rPr sz="2100" b="1" spc="-4" dirty="0">
                <a:latin typeface="Arial Narrow"/>
                <a:cs typeface="Arial Narrow"/>
              </a:rPr>
              <a:t>t</a:t>
            </a:r>
            <a:r>
              <a:rPr sz="2100" b="1" spc="-8" dirty="0">
                <a:latin typeface="Arial Narrow"/>
                <a:cs typeface="Arial Narrow"/>
              </a:rPr>
              <a:t>}</a:t>
            </a:r>
            <a:endParaRPr sz="2100" dirty="0">
              <a:latin typeface="Arial Narrow"/>
              <a:cs typeface="Arial Narrow"/>
            </a:endParaRPr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257E321D-AB3B-4F6E-89EC-D5AD1090E97F}"/>
              </a:ext>
            </a:extLst>
          </p:cNvPr>
          <p:cNvSpPr txBox="1">
            <a:spLocks/>
          </p:cNvSpPr>
          <p:nvPr/>
        </p:nvSpPr>
        <p:spPr>
          <a:xfrm>
            <a:off x="596320" y="251215"/>
            <a:ext cx="7848872" cy="984885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700" b="1" i="0" kern="1200">
                <a:solidFill>
                  <a:schemeClr val="bg1"/>
                </a:solidFill>
                <a:latin typeface="Arial Narrow"/>
                <a:ea typeface="+mj-ea"/>
                <a:cs typeface="Arial Narrow"/>
              </a:defRPr>
            </a:lvl1pPr>
          </a:lstStyle>
          <a:p>
            <a:pPr marL="92075"/>
            <a:r>
              <a:rPr lang="es-MX" sz="3200" spc="-15" dirty="0">
                <a:solidFill>
                  <a:schemeClr val="accent4">
                    <a:lumMod val="50000"/>
                  </a:schemeClr>
                </a:solidFill>
                <a:latin typeface="Dom Casual"/>
              </a:rPr>
              <a:t>Comandos para crear listas de control de acceso extendidas</a:t>
            </a:r>
          </a:p>
        </p:txBody>
      </p:sp>
    </p:spTree>
    <p:extLst>
      <p:ext uri="{BB962C8B-B14F-4D97-AF65-F5344CB8AC3E}">
        <p14:creationId xmlns:p14="http://schemas.microsoft.com/office/powerpoint/2010/main" val="17262758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974" y="2368548"/>
            <a:ext cx="1972786" cy="2910412"/>
          </a:xfrm>
        </p:spPr>
        <p:txBody>
          <a:bodyPr/>
          <a:lstStyle/>
          <a:p>
            <a:pPr marL="0" indent="0" algn="l"/>
            <a:r>
              <a:rPr lang="es-419" sz="1600" dirty="0">
                <a:solidFill>
                  <a:srgbClr val="000000"/>
                </a:solidFill>
              </a:rPr>
              <a:t>Las ACL extendidas se pueden filtrar por protocolo y número de puerto. </a:t>
            </a:r>
          </a:p>
          <a:p>
            <a:pPr marL="0" indent="0" algn="l"/>
            <a:r>
              <a:rPr lang="es-419" sz="1600" dirty="0">
                <a:solidFill>
                  <a:srgbClr val="000000"/>
                </a:solidFill>
              </a:rPr>
              <a:t>Los cuatro protocolos resaltados son las opciones más populares.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AEF5A9-F501-46A9-8C60-73228BB426C1}"/>
              </a:ext>
            </a:extLst>
          </p:cNvPr>
          <p:cNvSpPr txBox="1"/>
          <p:nvPr/>
        </p:nvSpPr>
        <p:spPr>
          <a:xfrm>
            <a:off x="4139952" y="1432992"/>
            <a:ext cx="2310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es-419" dirty="0"/>
              <a:t>Opciones de protocolo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6273C3-6AAA-4D23-A44A-C2627FA519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1034" y="1988840"/>
            <a:ext cx="4540102" cy="3936800"/>
          </a:xfrm>
          <a:prstGeom prst="rect">
            <a:avLst/>
          </a:prstGeom>
        </p:spPr>
      </p:pic>
      <p:sp>
        <p:nvSpPr>
          <p:cNvPr id="6" name="object 2">
            <a:extLst>
              <a:ext uri="{FF2B5EF4-FFF2-40B4-BE49-F238E27FC236}">
                <a16:creationId xmlns:a16="http://schemas.microsoft.com/office/drawing/2014/main" id="{BD7918CF-4276-7071-78C4-3FE4D3E3DAD0}"/>
              </a:ext>
            </a:extLst>
          </p:cNvPr>
          <p:cNvSpPr txBox="1">
            <a:spLocks/>
          </p:cNvSpPr>
          <p:nvPr/>
        </p:nvSpPr>
        <p:spPr>
          <a:xfrm>
            <a:off x="596320" y="251215"/>
            <a:ext cx="7848872" cy="984885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700" b="1" i="0" kern="1200">
                <a:solidFill>
                  <a:schemeClr val="bg1"/>
                </a:solidFill>
                <a:latin typeface="Arial Narrow"/>
                <a:ea typeface="+mj-ea"/>
                <a:cs typeface="Arial Narrow"/>
              </a:defRPr>
            </a:lvl1pPr>
          </a:lstStyle>
          <a:p>
            <a:pPr marL="92075"/>
            <a:r>
              <a:rPr lang="es-MX" sz="3200" spc="-15" dirty="0">
                <a:solidFill>
                  <a:schemeClr val="accent4">
                    <a:lumMod val="50000"/>
                  </a:schemeClr>
                </a:solidFill>
                <a:latin typeface="Dom Casual"/>
              </a:rPr>
              <a:t>Comandos para crear listas de control de acceso extendidas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04344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c="http://schemas.openxmlformats.org/drawingml/2006/chart" xmlns:c15="http://schemas.microsoft.com/office/drawing/2012/chart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616" y="1628800"/>
            <a:ext cx="2355562" cy="3096344"/>
          </a:xfrm>
        </p:spPr>
        <p:txBody>
          <a:bodyPr/>
          <a:lstStyle/>
          <a:p>
            <a:pPr marL="0" indent="0" algn="l"/>
            <a:r>
              <a:rPr lang="es-419" sz="1600" dirty="0">
                <a:solidFill>
                  <a:srgbClr val="000000"/>
                </a:solidFill>
              </a:rPr>
              <a:t>La selección de un protocolo influye en las opciones de puerto. Muchas opciones de puerto TCP están disponibles, como se muestra en la salida.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E7CF15-8EE0-4998-87B9-3B307BF049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3928" y="1628800"/>
            <a:ext cx="2736304" cy="5053175"/>
          </a:xfrm>
          <a:prstGeom prst="rect">
            <a:avLst/>
          </a:prstGeom>
        </p:spPr>
      </p:pic>
      <p:sp>
        <p:nvSpPr>
          <p:cNvPr id="5" name="object 2">
            <a:extLst>
              <a:ext uri="{FF2B5EF4-FFF2-40B4-BE49-F238E27FC236}">
                <a16:creationId xmlns:a16="http://schemas.microsoft.com/office/drawing/2014/main" id="{27ECE816-2957-DCBD-239C-FE36E95F9609}"/>
              </a:ext>
            </a:extLst>
          </p:cNvPr>
          <p:cNvSpPr txBox="1">
            <a:spLocks/>
          </p:cNvSpPr>
          <p:nvPr/>
        </p:nvSpPr>
        <p:spPr>
          <a:xfrm>
            <a:off x="596320" y="251215"/>
            <a:ext cx="7848872" cy="984885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700" b="1" i="0" kern="1200">
                <a:solidFill>
                  <a:schemeClr val="bg1"/>
                </a:solidFill>
                <a:latin typeface="Arial Narrow"/>
                <a:ea typeface="+mj-ea"/>
                <a:cs typeface="Arial Narrow"/>
              </a:defRPr>
            </a:lvl1pPr>
          </a:lstStyle>
          <a:p>
            <a:pPr marL="92075"/>
            <a:r>
              <a:rPr lang="es-MX" sz="3200" spc="-15" dirty="0">
                <a:solidFill>
                  <a:schemeClr val="accent4">
                    <a:lumMod val="50000"/>
                  </a:schemeClr>
                </a:solidFill>
                <a:latin typeface="Dom Casual"/>
              </a:rPr>
              <a:t>Comandos para crear listas de control de acceso extendidas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08411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c="http://schemas.openxmlformats.org/drawingml/2006/chart" xmlns:c15="http://schemas.microsoft.com/office/drawing/2012/chart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2" y="1712669"/>
            <a:ext cx="8280057" cy="1648929"/>
          </a:xfrm>
        </p:spPr>
        <p:txBody>
          <a:bodyPr/>
          <a:lstStyle/>
          <a:p>
            <a:pPr marL="0" indent="0" algn="l"/>
            <a:r>
              <a:rPr lang="es-419" sz="1600" dirty="0">
                <a:solidFill>
                  <a:srgbClr val="000000"/>
                </a:solidFill>
              </a:rPr>
              <a:t>Las ACL extendidas pueden filtrar en diferentes opciones de número de puerto y nombre de puerto. </a:t>
            </a:r>
          </a:p>
          <a:p>
            <a:pPr marL="0" indent="0" algn="l"/>
            <a:r>
              <a:rPr lang="es-419" sz="1600" dirty="0">
                <a:solidFill>
                  <a:srgbClr val="000000"/>
                </a:solidFill>
              </a:rPr>
              <a:t>En este ejemplo se configura una ACL 100 extendida para filtrar el tráfico HTTP. El primer ACE utiliza el nombre del puerto </a:t>
            </a:r>
            <a:r>
              <a:rPr lang="es-419" sz="1600" b="1" dirty="0">
                <a:solidFill>
                  <a:srgbClr val="000000"/>
                </a:solidFill>
              </a:rPr>
              <a:t>www</a:t>
            </a:r>
            <a:r>
              <a:rPr lang="es-419" sz="1600" dirty="0">
                <a:solidFill>
                  <a:srgbClr val="000000"/>
                </a:solidFill>
              </a:rPr>
              <a:t>. El segundo ACE utiliza el número de puerto </a:t>
            </a:r>
            <a:r>
              <a:rPr lang="es-419" sz="1600" b="1" dirty="0">
                <a:solidFill>
                  <a:srgbClr val="000000"/>
                </a:solidFill>
              </a:rPr>
              <a:t>80</a:t>
            </a:r>
            <a:r>
              <a:rPr lang="es-419" sz="1600" dirty="0">
                <a:solidFill>
                  <a:srgbClr val="000000"/>
                </a:solidFill>
              </a:rPr>
              <a:t>. Ambas ACE logran exactamente el mismo resultado.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A34F92-66F0-484B-888C-7A2F73B556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7744" y="3335815"/>
            <a:ext cx="4076700" cy="590550"/>
          </a:xfrm>
          <a:prstGeom prst="rect">
            <a:avLst/>
          </a:prstGeom>
        </p:spPr>
      </p:pic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F2C58105-6545-4D38-B886-D9B5BB651BD0}"/>
              </a:ext>
            </a:extLst>
          </p:cNvPr>
          <p:cNvSpPr txBox="1">
            <a:spLocks/>
          </p:cNvSpPr>
          <p:nvPr/>
        </p:nvSpPr>
        <p:spPr>
          <a:xfrm>
            <a:off x="427792" y="4065087"/>
            <a:ext cx="8280057" cy="1067974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US" sz="2000" b="0" i="0" kern="1200" baseline="0">
                <a:solidFill>
                  <a:schemeClr val="bg1"/>
                </a:solidFill>
                <a:latin typeface="+mn-lt"/>
                <a:ea typeface="ＭＳ Ｐゴシック" charset="0"/>
                <a:cs typeface="CiscoSans ExtraLight"/>
              </a:defRPr>
            </a:lvl1pPr>
            <a:lvl2pPr marL="358775" indent="-215900" algn="l" defTabSz="684213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s-419" sz="1600" dirty="0">
                <a:solidFill>
                  <a:srgbClr val="000000"/>
                </a:solidFill>
              </a:rPr>
              <a:t>La configuración del número de puerto es necesaria cuando no aparece un nombre de protocolo específico, como SSH (número de puerto 22) o HTTPS (número de puerto 443), como se muestra en el siguiente ejemplo.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BA1744A-EB16-4A31-9396-6D1D15A1F6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5446" y="4957458"/>
            <a:ext cx="4000500" cy="62865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3A105368-73FA-F7D8-BA4D-A2DB021171F0}"/>
              </a:ext>
            </a:extLst>
          </p:cNvPr>
          <p:cNvSpPr txBox="1">
            <a:spLocks/>
          </p:cNvSpPr>
          <p:nvPr/>
        </p:nvSpPr>
        <p:spPr>
          <a:xfrm>
            <a:off x="459259" y="213375"/>
            <a:ext cx="7848872" cy="147732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700" b="1" i="0" kern="1200">
                <a:solidFill>
                  <a:schemeClr val="bg1"/>
                </a:solidFill>
                <a:latin typeface="Arial Narrow"/>
                <a:ea typeface="+mj-ea"/>
                <a:cs typeface="Arial Narrow"/>
              </a:defRPr>
            </a:lvl1pPr>
          </a:lstStyle>
          <a:p>
            <a:pPr marL="92075"/>
            <a:r>
              <a:rPr lang="es-MX" sz="3200" spc="-15" dirty="0">
                <a:solidFill>
                  <a:schemeClr val="accent4">
                    <a:lumMod val="50000"/>
                  </a:schemeClr>
                </a:solidFill>
                <a:latin typeface="Dom Casual"/>
              </a:rPr>
              <a:t>Ejemplos de configuración de números de puerto y protocolos de listas de control de acceso extendidas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64092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c="http://schemas.openxmlformats.org/drawingml/2006/chart" xmlns:c15="http://schemas.microsoft.com/office/drawing/2012/chart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555776" y="1988840"/>
            <a:ext cx="5653563" cy="31046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3825" marR="3810" algn="just"/>
            <a:r>
              <a:rPr b="1" spc="-11" dirty="0">
                <a:latin typeface="Arial Narrow"/>
                <a:cs typeface="Arial Narrow"/>
              </a:rPr>
              <a:t>oper</a:t>
            </a:r>
            <a:r>
              <a:rPr b="1" spc="-19" dirty="0">
                <a:latin typeface="Arial Narrow"/>
                <a:cs typeface="Arial Narrow"/>
              </a:rPr>
              <a:t>a</a:t>
            </a:r>
            <a:r>
              <a:rPr b="1" spc="-11" dirty="0">
                <a:latin typeface="Arial Narrow"/>
                <a:cs typeface="Arial Narrow"/>
              </a:rPr>
              <a:t>ndo</a:t>
            </a:r>
            <a:r>
              <a:rPr b="1" spc="-8" dirty="0">
                <a:latin typeface="Arial Narrow"/>
                <a:cs typeface="Arial Narrow"/>
              </a:rPr>
              <a:t> </a:t>
            </a:r>
            <a:r>
              <a:rPr b="1" spc="-11" dirty="0">
                <a:solidFill>
                  <a:srgbClr val="3333CC"/>
                </a:solidFill>
                <a:latin typeface="Arial Narrow"/>
                <a:cs typeface="Arial Narrow"/>
              </a:rPr>
              <a:t>número</a:t>
            </a:r>
            <a:r>
              <a:rPr b="1" spc="-19" dirty="0">
                <a:solidFill>
                  <a:srgbClr val="3333CC"/>
                </a:solidFill>
                <a:latin typeface="Arial Narrow"/>
                <a:cs typeface="Arial Narrow"/>
              </a:rPr>
              <a:t>_</a:t>
            </a:r>
            <a:r>
              <a:rPr b="1" spc="-11" dirty="0">
                <a:solidFill>
                  <a:srgbClr val="3333CC"/>
                </a:solidFill>
                <a:latin typeface="Arial Narrow"/>
                <a:cs typeface="Arial Narrow"/>
              </a:rPr>
              <a:t>puerto</a:t>
            </a:r>
            <a:endParaRPr dirty="0">
              <a:latin typeface="Arial Narrow"/>
              <a:cs typeface="Arial Narrow"/>
            </a:endParaRPr>
          </a:p>
          <a:p>
            <a:pPr>
              <a:spcBef>
                <a:spcPts val="8"/>
              </a:spcBef>
            </a:pPr>
            <a:endParaRPr lang="es-ES" sz="2175" dirty="0">
              <a:latin typeface="Times New Roman"/>
              <a:cs typeface="Times New Roman"/>
            </a:endParaRP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en-US" b="1" spc="-19" dirty="0" err="1">
                <a:latin typeface="Arial" panose="020B0604020202020204" pitchFamily="34" charset="0"/>
                <a:cs typeface="Arial" panose="020B0604020202020204" pitchFamily="34" charset="0"/>
              </a:rPr>
              <a:t>gt</a:t>
            </a:r>
            <a:r>
              <a:rPr lang="en-US" b="1" spc="-19" dirty="0">
                <a:latin typeface="Arial" panose="020B0604020202020204" pitchFamily="34" charset="0"/>
                <a:cs typeface="Arial" panose="020B0604020202020204" pitchFamily="34" charset="0"/>
              </a:rPr>
              <a:t> (mayor que)</a:t>
            </a: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en-US" b="1" spc="-19" dirty="0" err="1">
                <a:latin typeface="Arial" panose="020B0604020202020204" pitchFamily="34" charset="0"/>
                <a:cs typeface="Arial" panose="020B0604020202020204" pitchFamily="34" charset="0"/>
              </a:rPr>
              <a:t>neq</a:t>
            </a:r>
            <a:r>
              <a:rPr lang="en-US" b="1" spc="-19" dirty="0">
                <a:latin typeface="Arial" panose="020B0604020202020204" pitchFamily="34" charset="0"/>
                <a:cs typeface="Arial" panose="020B0604020202020204" pitchFamily="34" charset="0"/>
              </a:rPr>
              <a:t> (no </a:t>
            </a:r>
            <a:r>
              <a:rPr lang="en-US" b="1" spc="-19" dirty="0" err="1">
                <a:latin typeface="Arial" panose="020B0604020202020204" pitchFamily="34" charset="0"/>
                <a:cs typeface="Arial" panose="020B0604020202020204" pitchFamily="34" charset="0"/>
              </a:rPr>
              <a:t>igual</a:t>
            </a:r>
            <a:r>
              <a:rPr lang="en-US" b="1" spc="-19" dirty="0">
                <a:latin typeface="Arial" panose="020B0604020202020204" pitchFamily="34" charset="0"/>
                <a:cs typeface="Arial" panose="020B0604020202020204" pitchFamily="34" charset="0"/>
              </a:rPr>
              <a:t> a)</a:t>
            </a: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en-US" b="1" spc="-19" dirty="0">
                <a:latin typeface="Arial" panose="020B0604020202020204" pitchFamily="34" charset="0"/>
                <a:cs typeface="Arial" panose="020B0604020202020204" pitchFamily="34" charset="0"/>
              </a:rPr>
              <a:t>eq (</a:t>
            </a:r>
            <a:r>
              <a:rPr lang="en-US" b="1" spc="-19" dirty="0" err="1">
                <a:latin typeface="Arial" panose="020B0604020202020204" pitchFamily="34" charset="0"/>
                <a:cs typeface="Arial" panose="020B0604020202020204" pitchFamily="34" charset="0"/>
              </a:rPr>
              <a:t>igual</a:t>
            </a:r>
            <a:r>
              <a:rPr lang="en-US" b="1" spc="-19" dirty="0">
                <a:latin typeface="Arial" panose="020B0604020202020204" pitchFamily="34" charset="0"/>
                <a:cs typeface="Arial" panose="020B0604020202020204" pitchFamily="34" charset="0"/>
              </a:rPr>
              <a:t> a)</a:t>
            </a: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endParaRPr lang="en-US" b="1" spc="-19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en-US" b="1" spc="-19" dirty="0">
                <a:latin typeface="Arial" panose="020B0604020202020204" pitchFamily="34" charset="0"/>
                <a:cs typeface="Arial" panose="020B0604020202020204" pitchFamily="34" charset="0"/>
              </a:rPr>
              <a:t>eq </a:t>
            </a:r>
            <a:r>
              <a:rPr lang="en-US" b="1" spc="-19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80</a:t>
            </a: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en-US" b="1" spc="-19" dirty="0">
                <a:latin typeface="Arial" panose="020B0604020202020204" pitchFamily="34" charset="0"/>
                <a:cs typeface="Arial" panose="020B0604020202020204" pitchFamily="34" charset="0"/>
              </a:rPr>
              <a:t>eq </a:t>
            </a:r>
            <a:r>
              <a:rPr lang="en-US" b="1" spc="-19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en-US" b="1" spc="-19" dirty="0">
                <a:latin typeface="Arial" panose="020B0604020202020204" pitchFamily="34" charset="0"/>
                <a:cs typeface="Arial" panose="020B0604020202020204" pitchFamily="34" charset="0"/>
              </a:rPr>
              <a:t>eq </a:t>
            </a:r>
            <a:r>
              <a:rPr lang="en-US" b="1" spc="-19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21</a:t>
            </a: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en-US" b="1" spc="-19" dirty="0" err="1">
                <a:latin typeface="Arial" panose="020B0604020202020204" pitchFamily="34" charset="0"/>
                <a:cs typeface="Arial" panose="020B0604020202020204" pitchFamily="34" charset="0"/>
              </a:rPr>
              <a:t>gt</a:t>
            </a:r>
            <a:r>
              <a:rPr lang="en-US" b="1" spc="-19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23</a:t>
            </a: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endParaRPr b="1" spc="-1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257E321D-AB3B-4F6E-89EC-D5AD1090E97F}"/>
              </a:ext>
            </a:extLst>
          </p:cNvPr>
          <p:cNvSpPr txBox="1">
            <a:spLocks/>
          </p:cNvSpPr>
          <p:nvPr/>
        </p:nvSpPr>
        <p:spPr>
          <a:xfrm>
            <a:off x="596320" y="251215"/>
            <a:ext cx="7848872" cy="984885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700" b="1" i="0" kern="1200">
                <a:solidFill>
                  <a:schemeClr val="bg1"/>
                </a:solidFill>
                <a:latin typeface="Arial Narrow"/>
                <a:ea typeface="+mj-ea"/>
                <a:cs typeface="Arial Narrow"/>
              </a:defRPr>
            </a:lvl1pPr>
          </a:lstStyle>
          <a:p>
            <a:pPr marL="92075"/>
            <a:r>
              <a:rPr lang="es-MX" sz="3200" spc="-15" dirty="0">
                <a:solidFill>
                  <a:schemeClr val="accent4">
                    <a:lumMod val="50000"/>
                  </a:schemeClr>
                </a:solidFill>
                <a:latin typeface="Dom Casual"/>
              </a:rPr>
              <a:t>Comandos para crear listas de control de acceso extendidas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99592" y="1844824"/>
            <a:ext cx="7704856" cy="4419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3825" marR="3810" algn="just">
              <a:lnSpc>
                <a:spcPct val="150000"/>
              </a:lnSpc>
            </a:pPr>
            <a:r>
              <a:rPr lang="es-ES" spc="-4" dirty="0">
                <a:cs typeface="Arial Narrow"/>
              </a:rPr>
              <a:t>1. Identificar la fuente/origen (</a:t>
            </a:r>
            <a:r>
              <a:rPr lang="es-ES" b="1" spc="-4" dirty="0">
                <a:cs typeface="Arial Narrow"/>
              </a:rPr>
              <a:t>tráfico fuente</a:t>
            </a:r>
            <a:r>
              <a:rPr lang="es-ES" spc="-4" dirty="0">
                <a:cs typeface="Arial Narrow"/>
              </a:rPr>
              <a:t>) y el destino.</a:t>
            </a:r>
          </a:p>
          <a:p>
            <a:pPr marL="123825" marR="3810" algn="just">
              <a:lnSpc>
                <a:spcPct val="150000"/>
              </a:lnSpc>
            </a:pPr>
            <a:r>
              <a:rPr lang="es-ES" spc="-4" dirty="0">
                <a:cs typeface="Arial Narrow"/>
              </a:rPr>
              <a:t>2. Trazar el </a:t>
            </a:r>
            <a:r>
              <a:rPr lang="es-ES" b="1" spc="-4" dirty="0">
                <a:cs typeface="Arial Narrow"/>
              </a:rPr>
              <a:t>trayecto</a:t>
            </a:r>
            <a:r>
              <a:rPr lang="es-ES" spc="-4" dirty="0">
                <a:cs typeface="Arial Narrow"/>
              </a:rPr>
              <a:t> del </a:t>
            </a:r>
            <a:r>
              <a:rPr lang="es-ES" b="1" spc="-4" dirty="0">
                <a:cs typeface="Arial Narrow"/>
              </a:rPr>
              <a:t>tráfico NO permitido</a:t>
            </a:r>
            <a:r>
              <a:rPr lang="es-ES" spc="-4" dirty="0">
                <a:cs typeface="Arial Narrow"/>
              </a:rPr>
              <a:t>. </a:t>
            </a:r>
          </a:p>
          <a:p>
            <a:pPr marL="123825" marR="3810" algn="just">
              <a:lnSpc>
                <a:spcPct val="150000"/>
              </a:lnSpc>
            </a:pPr>
            <a:r>
              <a:rPr lang="es-ES" spc="-4" dirty="0">
                <a:cs typeface="Arial Narrow"/>
              </a:rPr>
              <a:t>3. Trazar el </a:t>
            </a:r>
            <a:r>
              <a:rPr lang="es-ES" b="1" spc="-4" dirty="0">
                <a:cs typeface="Arial Narrow"/>
              </a:rPr>
              <a:t>trayecto </a:t>
            </a:r>
            <a:r>
              <a:rPr lang="es-ES" spc="-4" dirty="0">
                <a:cs typeface="Arial Narrow"/>
              </a:rPr>
              <a:t>del </a:t>
            </a:r>
            <a:r>
              <a:rPr lang="es-ES" b="1" spc="-4" dirty="0">
                <a:cs typeface="Arial Narrow"/>
              </a:rPr>
              <a:t>tráfico permitido</a:t>
            </a:r>
            <a:r>
              <a:rPr lang="es-ES" spc="-4" dirty="0">
                <a:cs typeface="Arial Narrow"/>
              </a:rPr>
              <a:t>. </a:t>
            </a:r>
          </a:p>
          <a:p>
            <a:pPr marL="123825" marR="3810" algn="just">
              <a:lnSpc>
                <a:spcPct val="150000"/>
              </a:lnSpc>
            </a:pPr>
            <a:r>
              <a:rPr lang="es-ES" spc="-4" dirty="0">
                <a:cs typeface="Arial Narrow"/>
              </a:rPr>
              <a:t>4. Identificar el </a:t>
            </a:r>
            <a:r>
              <a:rPr lang="es-ES" b="1" spc="-4" dirty="0" err="1">
                <a:cs typeface="Arial Narrow"/>
              </a:rPr>
              <a:t>router</a:t>
            </a:r>
            <a:r>
              <a:rPr lang="es-ES" spc="-4" dirty="0">
                <a:cs typeface="Arial Narrow"/>
              </a:rPr>
              <a:t> donde se instalará la lista de control de acceso.</a:t>
            </a:r>
          </a:p>
          <a:p>
            <a:pPr marL="123825" marR="3810" algn="just">
              <a:lnSpc>
                <a:spcPct val="150000"/>
              </a:lnSpc>
            </a:pPr>
            <a:r>
              <a:rPr lang="es-ES" spc="-4" dirty="0">
                <a:cs typeface="Arial Narrow"/>
              </a:rPr>
              <a:t>5. Identificar la </a:t>
            </a:r>
            <a:r>
              <a:rPr lang="es-ES" b="1" spc="-4" dirty="0">
                <a:cs typeface="Arial Narrow"/>
              </a:rPr>
              <a:t>interfaz</a:t>
            </a:r>
            <a:r>
              <a:rPr lang="es-ES" spc="-4" dirty="0">
                <a:cs typeface="Arial Narrow"/>
              </a:rPr>
              <a:t> donde se va a asociar la lista de control de acceso.</a:t>
            </a:r>
          </a:p>
          <a:p>
            <a:pPr marL="123825" marR="3810" algn="just">
              <a:lnSpc>
                <a:spcPct val="150000"/>
              </a:lnSpc>
              <a:spcAft>
                <a:spcPts val="1200"/>
              </a:spcAft>
            </a:pPr>
            <a:r>
              <a:rPr lang="es-ES" spc="-4" dirty="0">
                <a:cs typeface="Arial Narrow"/>
              </a:rPr>
              <a:t>6. Escribir la ACL, instalarla y probarla.</a:t>
            </a:r>
          </a:p>
          <a:p>
            <a:pPr marL="123825" marR="3810" algn="just">
              <a:lnSpc>
                <a:spcPct val="150000"/>
              </a:lnSpc>
              <a:spcAft>
                <a:spcPts val="1200"/>
              </a:spcAft>
            </a:pPr>
            <a:r>
              <a:rPr lang="es-ES" b="1" spc="-4" dirty="0">
                <a:cs typeface="Arial Narrow"/>
              </a:rPr>
              <a:t>NOTA: </a:t>
            </a:r>
            <a:r>
              <a:rPr lang="es-ES" spc="-4" dirty="0">
                <a:cs typeface="Arial Narrow"/>
              </a:rPr>
              <a:t>Realizar pruebas de conectividad antes y después de instalar una ACL</a:t>
            </a:r>
          </a:p>
          <a:p>
            <a:pPr marL="123825" marR="3810" algn="just">
              <a:lnSpc>
                <a:spcPct val="150000"/>
              </a:lnSpc>
            </a:pPr>
            <a:r>
              <a:rPr lang="es-ES" b="1" spc="-4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REGLA: LAS LISTAS DE CONTROL DE ACCESO EXTENDIDAS SE DEBEN INSTALAR LO MAS CERCA DEL ORIGEN, PARA EVITAR QUE EL TRÁFICO LLEGUE A LUGARES DONDE NO SE NECESITE LLEGAR.</a:t>
            </a:r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257E321D-AB3B-4F6E-89EC-D5AD1090E97F}"/>
              </a:ext>
            </a:extLst>
          </p:cNvPr>
          <p:cNvSpPr txBox="1">
            <a:spLocks/>
          </p:cNvSpPr>
          <p:nvPr/>
        </p:nvSpPr>
        <p:spPr>
          <a:xfrm>
            <a:off x="647564" y="404664"/>
            <a:ext cx="7848872" cy="984885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700" b="1" i="0" kern="1200">
                <a:solidFill>
                  <a:schemeClr val="bg1"/>
                </a:solidFill>
                <a:latin typeface="Arial Narrow"/>
                <a:ea typeface="+mj-ea"/>
                <a:cs typeface="Arial Narrow"/>
              </a:defRPr>
            </a:lvl1pPr>
          </a:lstStyle>
          <a:p>
            <a:pPr marL="92075"/>
            <a:r>
              <a:rPr lang="es-MX" sz="3200" spc="-15" dirty="0">
                <a:solidFill>
                  <a:schemeClr val="accent4">
                    <a:lumMod val="50000"/>
                  </a:schemeClr>
                </a:solidFill>
                <a:latin typeface="Dom Casual"/>
              </a:rPr>
              <a:t>Mejores prácticas para el diseño de listas de control de acceso “Extendidas”</a:t>
            </a:r>
          </a:p>
        </p:txBody>
      </p:sp>
    </p:spTree>
    <p:extLst>
      <p:ext uri="{BB962C8B-B14F-4D97-AF65-F5344CB8AC3E}">
        <p14:creationId xmlns:p14="http://schemas.microsoft.com/office/powerpoint/2010/main" val="495763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12457</TotalTime>
  <Words>968</Words>
  <Application>Microsoft Office PowerPoint</Application>
  <PresentationFormat>On-screen Show (4:3)</PresentationFormat>
  <Paragraphs>100</Paragraphs>
  <Slides>14</Slides>
  <Notes>14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Arial Narrow</vt:lpstr>
      <vt:lpstr>Calibri</vt:lpstr>
      <vt:lpstr>Dom Casual</vt:lpstr>
      <vt:lpstr>Times New Roman</vt:lpstr>
      <vt:lpstr>Tema de Office</vt:lpstr>
      <vt:lpstr>Bitmap Image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TC1017  Solución de problemas con programación</dc:title>
  <dc:creator>profesor</dc:creator>
  <cp:lastModifiedBy>Lizethe Pérez Fuertes</cp:lastModifiedBy>
  <cp:revision>177</cp:revision>
  <dcterms:created xsi:type="dcterms:W3CDTF">2013-06-11T22:32:36Z</dcterms:created>
  <dcterms:modified xsi:type="dcterms:W3CDTF">2025-04-21T22:39:17Z</dcterms:modified>
</cp:coreProperties>
</file>