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79" r:id="rId2"/>
    <p:sldId id="262" r:id="rId3"/>
    <p:sldId id="308" r:id="rId4"/>
    <p:sldId id="963" r:id="rId5"/>
    <p:sldId id="950" r:id="rId6"/>
    <p:sldId id="964" r:id="rId7"/>
    <p:sldId id="967" r:id="rId8"/>
    <p:sldId id="951" r:id="rId9"/>
    <p:sldId id="952" r:id="rId10"/>
    <p:sldId id="953" r:id="rId11"/>
    <p:sldId id="961" r:id="rId12"/>
    <p:sldId id="955" r:id="rId13"/>
    <p:sldId id="710" r:id="rId14"/>
    <p:sldId id="965" r:id="rId15"/>
    <p:sldId id="960" r:id="rId16"/>
    <p:sldId id="962" r:id="rId17"/>
    <p:sldId id="956" r:id="rId18"/>
    <p:sldId id="957" r:id="rId19"/>
    <p:sldId id="958" r:id="rId20"/>
    <p:sldId id="954" r:id="rId21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96883-6A3A-4278-9C7B-0DCF660298B8}" v="29" dt="2025-10-21T23:04:14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97" autoAdjust="0"/>
  </p:normalViewPr>
  <p:slideViewPr>
    <p:cSldViewPr>
      <p:cViewPr varScale="1">
        <p:scale>
          <a:sx n="115" d="100"/>
          <a:sy n="115" d="100"/>
        </p:scale>
        <p:origin x="149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5-10-21T23:03:57.947" v="15" actId="6549"/>
      <pc:docMkLst>
        <pc:docMk/>
      </pc:docMkLst>
      <pc:sldChg chg="modSp">
        <pc:chgData name="Lizethe Pérez Fuertes" userId="4ae9ef87-2a7d-42f8-8dfa-0a501a9e2ff4" providerId="ADAL" clId="{FDDD45CB-1330-4033-A842-3D2746AFF7C7}" dt="2025-10-21T23:03:57.947" v="15" actId="6549"/>
        <pc:sldMkLst>
          <pc:docMk/>
          <pc:sldMk cId="1780251493" sldId="262"/>
        </pc:sldMkLst>
        <pc:spChg chg="mod">
          <ac:chgData name="Lizethe Pérez Fuertes" userId="4ae9ef87-2a7d-42f8-8dfa-0a501a9e2ff4" providerId="ADAL" clId="{FDDD45CB-1330-4033-A842-3D2746AFF7C7}" dt="2025-10-21T23:03:57.947" v="15" actId="6549"/>
          <ac:spMkLst>
            <pc:docMk/>
            <pc:sldMk cId="1780251493" sldId="262"/>
            <ac:spMk id="7" creationId="{FB75CD55-7846-472C-BBC2-B925209016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1448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4980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3DCDD9-35C3-4460-B796-C7CBBA0D189F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92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82700" y="571500"/>
            <a:ext cx="4457700" cy="3343275"/>
          </a:xfrm>
          <a:ln/>
        </p:spPr>
      </p:sp>
      <p:sp>
        <p:nvSpPr>
          <p:cNvPr id="92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8330" y="4063317"/>
            <a:ext cx="5274847" cy="4380128"/>
          </a:xfrm>
        </p:spPr>
        <p:txBody>
          <a:bodyPr lIns="91507" tIns="45753" rIns="91507" bIns="45753"/>
          <a:lstStyle/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9400" y="365761"/>
            <a:ext cx="8522208" cy="5486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/>
              <a:t>Title Only</a:t>
            </a:r>
          </a:p>
        </p:txBody>
      </p:sp>
    </p:spTree>
    <p:extLst>
      <p:ext uri="{BB962C8B-B14F-4D97-AF65-F5344CB8AC3E}">
        <p14:creationId xmlns:p14="http://schemas.microsoft.com/office/powerpoint/2010/main" val="22651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21/10/2025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6712" y="43502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66787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BGP (Border Gateway Protocol)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ITESM Campus Querétaro</a:t>
            </a:r>
          </a:p>
        </p:txBody>
      </p:sp>
      <p:pic>
        <p:nvPicPr>
          <p:cNvPr id="5" name="Imagen 4" descr="Mapa&#10;&#10;Descripción generada automáticamente">
            <a:extLst>
              <a:ext uri="{FF2B5EF4-FFF2-40B4-BE49-F238E27FC236}">
                <a16:creationId xmlns:a16="http://schemas.microsoft.com/office/drawing/2014/main" id="{AF65F0E4-D7AC-18E2-C630-1C2907AEB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740" y="3501008"/>
            <a:ext cx="4680520" cy="280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3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Protocolos de ruteo interior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Interior Gateway Protocol (IGP)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1210580"/>
            <a:ext cx="7416824" cy="1225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5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Son los protocolos de ruteo que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operan dentro de una organización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(sistema autónomo).</a:t>
            </a:r>
          </a:p>
          <a:p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RIP, IGRP, EIGRP, OSPF e IS-IS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D1DBF0-9F36-4DAF-9F1C-F4E306024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674160"/>
            <a:ext cx="5760640" cy="391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25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Protocolos de ruteo exterior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Exterior Gateway Protocol (EGP)</a:t>
            </a:r>
            <a:endParaRPr lang="es-ES_tradnl" sz="32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51" y="1371287"/>
            <a:ext cx="7344816" cy="1225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Son los protocolos de ruteo que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intercambian información de ruteo entre distintos sistemas autónomos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como ISP.</a:t>
            </a:r>
          </a:p>
          <a:p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Ejemplo: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BGP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(Border Gateway Protocol).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33F4876-F322-445C-97EA-7FDC56DB8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188" y="2780928"/>
            <a:ext cx="5748143" cy="390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1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Protocolos de ruteo interior vs exterior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187624"/>
            <a:ext cx="7848872" cy="1341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Mientras que los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protocolos de ruteo interior (IGP)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son usados para rutear dentro de una organización, los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protocolos de ruteo exterior (EGP)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son usados para rutear entre las organizaciones.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Actualmente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BPG es el único protocolo de ruteo exterior (EGP) en uso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33F4876-F322-445C-97EA-7FDC56DB8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188" y="2780928"/>
            <a:ext cx="5748143" cy="390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5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Border Gateway Protocol (BGP)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1268760"/>
            <a:ext cx="7344816" cy="102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El protocolo de gateway fronterizo (BGP)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un protocolo de ruteo exterior.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asigna a cada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Sistema Autónomo (AS)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 número AS de 16 o 32 bits que lo identifica de manera única en Internet. 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4D622CD-DC0A-110D-4FDC-010954486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372102"/>
            <a:ext cx="6264696" cy="391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1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Border Gateway Protocol (BGP)</a:t>
            </a:r>
            <a:endParaRPr lang="es-ES_tradnl" sz="18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1258887"/>
            <a:ext cx="8568952" cy="1738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BGP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es el pegamento que une a Internet. Es uno de los pilares de Internet. Se dice que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BGP, NAT y DNS 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son los protocolos que han permitido que Internet tenga este crecimiento que hemos visto hasta nuestros días.</a:t>
            </a:r>
          </a:p>
          <a:p>
            <a:pPr marL="285750" indent="-285750" algn="just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Permite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intercambiar información de enrutamiento entre distintos sistemas autónomos 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sin depender de las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métricas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3" descr="Connecting Networks - Mozilla Firefox">
            <a:extLst>
              <a:ext uri="{FF2B5EF4-FFF2-40B4-BE49-F238E27FC236}">
                <a16:creationId xmlns:a16="http://schemas.microsoft.com/office/drawing/2014/main" id="{3707BDDA-9B04-896A-7844-D1B67547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3098422"/>
            <a:ext cx="5328592" cy="333264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3E88B80-D944-8266-A131-FD7912BF7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3097844"/>
            <a:ext cx="2988332" cy="1982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BGP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hace anuncios entre los ruteadores que están en las fronteras 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de las organizaciones, por eso es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border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(frontera) </a:t>
            </a:r>
            <a:r>
              <a:rPr lang="es-MX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gateway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(ruteador)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protocol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42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Border Gateway Protocol (BGP)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Sistema Autónomo (AS)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354" y="1302518"/>
            <a:ext cx="7992888" cy="1982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 sistema autónomo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es un número homologado asignado por una autoridad de registro 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que identifica a un grupo de ruteadores y redes administradas bajo una misma política. Este número se asigna a alguien como un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proveedor de servicios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 Cuando yo me conecto con ese proveedor voy a formar parte de ese sistema autónomo. Dentro de un sistema autónomo sabemos que hay tales redes que están siendo anunciadas a través de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BGP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al resto de Internet.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3" descr="Connecting Networks - Mozilla Firefox">
            <a:extLst>
              <a:ext uri="{FF2B5EF4-FFF2-40B4-BE49-F238E27FC236}">
                <a16:creationId xmlns:a16="http://schemas.microsoft.com/office/drawing/2014/main" id="{3707BDDA-9B04-896A-7844-D1B67547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3439818"/>
            <a:ext cx="4879262" cy="305162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1F82DBF-9599-15EC-06A5-28D5CED76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710" y="3537607"/>
            <a:ext cx="2830138" cy="2303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 principal objetivo de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BGP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es permitir que cada sistema autónomo anuncie sus rutas a través de las conexiones BGP al resto de Internet.</a:t>
            </a:r>
          </a:p>
          <a:p>
            <a:pPr algn="just">
              <a:lnSpc>
                <a:spcPts val="2500"/>
              </a:lnSpc>
            </a:pP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6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Border Gateway Protocol (BGP)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52" y="1184175"/>
            <a:ext cx="7344816" cy="7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BGP se utiliza cuando un AS tiene conexiones a sistemas autónomos múltiples. Esto se conoce como “conexión múltiple”.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4D622CD-DC0A-110D-4FDC-010954486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060848"/>
            <a:ext cx="6912768" cy="432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3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Pasos para configurar BGP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340768"/>
            <a:ext cx="7344816" cy="1341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Habilitar el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ruteo BGP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lnSpc>
                <a:spcPts val="2500"/>
              </a:lnSpc>
              <a:buFont typeface="+mj-lt"/>
              <a:buAutoNum type="arabicPeriod"/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Configurar vecinos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BGP (interconexión).</a:t>
            </a:r>
          </a:p>
          <a:p>
            <a:pPr marL="342900" indent="-342900" algn="just">
              <a:lnSpc>
                <a:spcPts val="2500"/>
              </a:lnSpc>
              <a:buFont typeface="+mj-lt"/>
              <a:buAutoNum type="arabicPeriod"/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Publicar las redes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se originan de este AS. (Definimos que redes queremos anunciar en BGP)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2" descr="Connecting Networks - Mozilla Firefox">
            <a:extLst>
              <a:ext uri="{FF2B5EF4-FFF2-40B4-BE49-F238E27FC236}">
                <a16:creationId xmlns:a16="http://schemas.microsoft.com/office/drawing/2014/main" id="{33DF3744-55BD-B5E1-B95C-0AF2E5273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11" y="3109244"/>
            <a:ext cx="8009578" cy="213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2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820472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Habilita el ruteo BGP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07" y="1238068"/>
            <a:ext cx="8252165" cy="865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Define BGP como el protocolo de ruteo IP. Habilita BGP e identifica el número de AS. </a:t>
            </a:r>
          </a:p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bgp </a:t>
            </a:r>
            <a:r>
              <a:rPr lang="es-E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51" y="2820941"/>
            <a:ext cx="7632848" cy="2523329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C7FF7579-6929-9EBE-0804-EF0B7C1B6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51" y="5373216"/>
            <a:ext cx="7740560" cy="1143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75A9F90-A529-584B-B7BF-FC96D42728AC}"/>
              </a:ext>
            </a:extLst>
          </p:cNvPr>
          <p:cNvSpPr txBox="1"/>
          <p:nvPr/>
        </p:nvSpPr>
        <p:spPr>
          <a:xfrm>
            <a:off x="568307" y="2283461"/>
            <a:ext cx="6005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sistema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autónomo de mi ruteador.</a:t>
            </a:r>
            <a:endParaRPr lang="es-MX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2D32B9-1B58-0C67-8C81-6E711787C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138" y="4653136"/>
            <a:ext cx="1785873" cy="1051578"/>
          </a:xfrm>
          <a:prstGeom prst="rect">
            <a:avLst/>
          </a:prstGeom>
          <a:solidFill>
            <a:srgbClr val="F8F9FA"/>
          </a:solidFill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network 0.0.0.0 </a:t>
            </a:r>
            <a:r>
              <a:rPr kumimoji="0" lang="es-ES" altLang="es-MX" sz="14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inyecta una ruta por default en la tabla BGP y se anunciará a todos los vecinos de BGP</a:t>
            </a:r>
            <a:endParaRPr kumimoji="0" lang="es-ES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78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8367" y="36260"/>
            <a:ext cx="887537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Define vecinos BGP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54" y="3217850"/>
            <a:ext cx="7632848" cy="2523329"/>
          </a:xfrm>
          <a:prstGeom prst="rect">
            <a:avLst/>
          </a:prstGeom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1EE2EC88-C9D7-A61B-5697-2805E6B966EF}"/>
              </a:ext>
            </a:extLst>
          </p:cNvPr>
          <p:cNvSpPr/>
          <p:nvPr/>
        </p:nvSpPr>
        <p:spPr>
          <a:xfrm>
            <a:off x="521553" y="5278892"/>
            <a:ext cx="7758793" cy="103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53" y="2411386"/>
            <a:ext cx="8502192" cy="391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ip-address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la dirección de destino 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(router-id)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del par BGP.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A5FDF1A-D8F8-1A04-0236-8D2FB4A3F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529" y="1138815"/>
            <a:ext cx="8171928" cy="118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Identifica el ruteador vecino con el que establecerá una sesión BGP. Identifica el par de BGP y su número de AS.</a:t>
            </a:r>
          </a:p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 neighbor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ip-address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remote-as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endParaRPr lang="es-MX" sz="2000" i="1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C88BD8A5-A1C4-782C-D709-FD9026BF31DE}"/>
              </a:ext>
            </a:extLst>
          </p:cNvPr>
          <p:cNvSpPr txBox="1"/>
          <p:nvPr/>
        </p:nvSpPr>
        <p:spPr>
          <a:xfrm>
            <a:off x="692603" y="5257520"/>
            <a:ext cx="775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(config)#</a:t>
            </a:r>
            <a:r>
              <a:rPr lang="es-ES" b="1" dirty="0">
                <a:solidFill>
                  <a:schemeClr val="bg1"/>
                </a:solidFill>
              </a:rPr>
              <a:t>router bgp 65000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neighbor 209.165.201.1 remote-as 65001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network 198.133.219.0 mask 255.255.255.0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FE6AAF-78E0-6F2B-B8B6-71F5A639BD07}"/>
              </a:ext>
            </a:extLst>
          </p:cNvPr>
          <p:cNvSpPr txBox="1"/>
          <p:nvPr/>
        </p:nvSpPr>
        <p:spPr>
          <a:xfrm>
            <a:off x="504837" y="2778224"/>
            <a:ext cx="60780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sistema autónomo del vecino BGP.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01347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8367" y="36260"/>
            <a:ext cx="8816121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Define vecinos BGP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01" y="2482404"/>
            <a:ext cx="7632848" cy="2523329"/>
          </a:xfrm>
          <a:prstGeom prst="rect">
            <a:avLst/>
          </a:prstGeom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1EE2EC88-C9D7-A61B-5697-2805E6B966EF}"/>
              </a:ext>
            </a:extLst>
          </p:cNvPr>
          <p:cNvSpPr/>
          <p:nvPr/>
        </p:nvSpPr>
        <p:spPr>
          <a:xfrm>
            <a:off x="557250" y="4449461"/>
            <a:ext cx="7758793" cy="103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A5FDF1A-D8F8-1A04-0236-8D2FB4A3F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36" y="1242697"/>
            <a:ext cx="7800378" cy="391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 neighbor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ip-address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remote-as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endParaRPr lang="es-MX" sz="2000" i="1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C88BD8A5-A1C4-782C-D709-FD9026BF31DE}"/>
              </a:ext>
            </a:extLst>
          </p:cNvPr>
          <p:cNvSpPr txBox="1"/>
          <p:nvPr/>
        </p:nvSpPr>
        <p:spPr>
          <a:xfrm>
            <a:off x="557250" y="4512898"/>
            <a:ext cx="775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(config)#</a:t>
            </a:r>
            <a:r>
              <a:rPr lang="es-ES" b="1" dirty="0">
                <a:solidFill>
                  <a:schemeClr val="bg1"/>
                </a:solidFill>
              </a:rPr>
              <a:t>router bgp 65000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neighbor 209.165.201.1 remote-as 65001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network 198.133.219.0 mask 255.255.255.0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B5EFA052-28E8-680D-9A7B-8DC107CE5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73" y="5587676"/>
            <a:ext cx="7740560" cy="1143000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A1635A8A-0609-A440-965F-05BA9ECED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36" y="1633894"/>
            <a:ext cx="6390220" cy="391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ip-address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la dirección de 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router-id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destino del par BGP.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C4E6598-9209-1C24-4EF1-723D6F642651}"/>
              </a:ext>
            </a:extLst>
          </p:cNvPr>
          <p:cNvSpPr txBox="1"/>
          <p:nvPr/>
        </p:nvSpPr>
        <p:spPr>
          <a:xfrm>
            <a:off x="469320" y="2000732"/>
            <a:ext cx="60780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sistema autónomo del vecino BGP.</a:t>
            </a:r>
            <a:endParaRPr lang="es-MX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D289D0-93B6-C0D5-7C95-1E827F47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522" y="1906516"/>
            <a:ext cx="1785873" cy="1051578"/>
          </a:xfrm>
          <a:prstGeom prst="rect">
            <a:avLst/>
          </a:prstGeom>
          <a:solidFill>
            <a:srgbClr val="F8F9FA"/>
          </a:solidFill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network 0.0.0.0 </a:t>
            </a:r>
            <a:r>
              <a:rPr kumimoji="0" lang="es-ES" altLang="es-MX" sz="14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inyecta una ruta por default en la tabla BGP y se anunciará a todos los vecinos de BGP</a:t>
            </a:r>
            <a:endParaRPr kumimoji="0" lang="es-ES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12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724" name="Picture 4" descr="l01_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340768"/>
            <a:ext cx="7772400" cy="4743450"/>
          </a:xfrm>
          <a:prstGeom prst="rect">
            <a:avLst/>
          </a:prstGeom>
          <a:noFill/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724D39D-1A23-3FFC-3BAC-E1A400226871}"/>
              </a:ext>
            </a:extLst>
          </p:cNvPr>
          <p:cNvSpPr txBox="1">
            <a:spLocks noChangeArrowheads="1"/>
          </p:cNvSpPr>
          <p:nvPr/>
        </p:nvSpPr>
        <p:spPr>
          <a:xfrm>
            <a:off x="148367" y="36260"/>
            <a:ext cx="8816121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BGP neighbor command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14234D-0D0C-B08B-0F4E-8DC9D456D2E6}"/>
              </a:ext>
            </a:extLst>
          </p:cNvPr>
          <p:cNvSpPr txBox="1"/>
          <p:nvPr/>
        </p:nvSpPr>
        <p:spPr>
          <a:xfrm>
            <a:off x="6804248" y="4293096"/>
            <a:ext cx="216024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El comando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neighbor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le dice al ruteador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, vas a intentar establecer una conexión TCP hacia el ruteador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con la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dirección del ruteador A 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y el número de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remoto</a:t>
            </a:r>
            <a:r>
              <a:rPr lang="es-MX" sz="1400" dirty="0"/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45FA24-1B42-479C-2210-1D02AF01E42C}"/>
              </a:ext>
            </a:extLst>
          </p:cNvPr>
          <p:cNvSpPr txBox="1"/>
          <p:nvPr/>
        </p:nvSpPr>
        <p:spPr>
          <a:xfrm>
            <a:off x="4355976" y="5556061"/>
            <a:ext cx="2341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En el ruteador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, debe haber un comando reciproco. Hasta que ponga los dos comandos se establece la conexión. El ruteador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tiene un vecino interno que es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DC75556-0A1A-EB06-AF43-370A54660912}"/>
              </a:ext>
            </a:extLst>
          </p:cNvPr>
          <p:cNvSpPr txBox="1"/>
          <p:nvPr/>
        </p:nvSpPr>
        <p:spPr>
          <a:xfrm>
            <a:off x="395536" y="1268760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Ya con esto tenemos intercambio de rutas entre el ruteador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C, A y B. 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Esta es la configuración mínima que ocupamos para BGP. Esto solo establece las adyacencias.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26813" y="90519"/>
            <a:ext cx="8820472" cy="927072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Publica las redes que se originan de este AS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31" y="2368770"/>
            <a:ext cx="7632848" cy="2523329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C7FF7579-6929-9EBE-0804-EF0B7C1B6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55" y="5450033"/>
            <a:ext cx="7740560" cy="1143000"/>
          </a:xfrm>
          <a:prstGeom prst="rect">
            <a:avLst/>
          </a:prstGeom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1EE2EC88-C9D7-A61B-5697-2805E6B966EF}"/>
              </a:ext>
            </a:extLst>
          </p:cNvPr>
          <p:cNvSpPr/>
          <p:nvPr/>
        </p:nvSpPr>
        <p:spPr>
          <a:xfrm>
            <a:off x="529355" y="4225993"/>
            <a:ext cx="7771329" cy="1143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8E2950B-DD1E-FB73-B831-902E4BC06AF2}"/>
              </a:ext>
            </a:extLst>
          </p:cNvPr>
          <p:cNvSpPr txBox="1"/>
          <p:nvPr/>
        </p:nvSpPr>
        <p:spPr>
          <a:xfrm>
            <a:off x="584815" y="4251015"/>
            <a:ext cx="775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(config)#</a:t>
            </a:r>
            <a:r>
              <a:rPr lang="es-ES" b="1" dirty="0">
                <a:solidFill>
                  <a:schemeClr val="bg1"/>
                </a:solidFill>
              </a:rPr>
              <a:t>router bgp 65000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neighbor 209.165.201.1 remote-as 65001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network 198.133.219.0 mask 255.255.255.0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19" y="1115723"/>
            <a:ext cx="8113460" cy="1058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Introduce la dirección de red en la tabla de BGP local. Identifica que red va a ser anunciada por medio de BGP.</a:t>
            </a:r>
          </a:p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network-address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[mask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network-mask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]</a:t>
            </a:r>
            <a:endParaRPr lang="es-MX" sz="20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57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820472" cy="927072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Publica las redes que se originan de este AS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31" y="2368770"/>
            <a:ext cx="7632848" cy="2523329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C7FF7579-6929-9EBE-0804-EF0B7C1B6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55" y="5450033"/>
            <a:ext cx="7740560" cy="1143000"/>
          </a:xfrm>
          <a:prstGeom prst="rect">
            <a:avLst/>
          </a:prstGeom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1EE2EC88-C9D7-A61B-5697-2805E6B966EF}"/>
              </a:ext>
            </a:extLst>
          </p:cNvPr>
          <p:cNvSpPr/>
          <p:nvPr/>
        </p:nvSpPr>
        <p:spPr>
          <a:xfrm>
            <a:off x="529355" y="4225993"/>
            <a:ext cx="7771329" cy="1143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8E2950B-DD1E-FB73-B831-902E4BC06AF2}"/>
              </a:ext>
            </a:extLst>
          </p:cNvPr>
          <p:cNvSpPr txBox="1"/>
          <p:nvPr/>
        </p:nvSpPr>
        <p:spPr>
          <a:xfrm>
            <a:off x="584815" y="4251015"/>
            <a:ext cx="775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(config)#</a:t>
            </a:r>
            <a:r>
              <a:rPr lang="es-ES" b="1" dirty="0">
                <a:solidFill>
                  <a:schemeClr val="bg1"/>
                </a:solidFill>
              </a:rPr>
              <a:t>router bgp 65000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neighbor 209.165.201.1 remote-as 65001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network 198.133.219.0 mask 255.255.255.0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480" y="1114731"/>
            <a:ext cx="8196967" cy="1058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comando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network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refiere a qué redes vas a inyectar a la tabla de ruteo global de BGP.  Pero es necesario que la ruta exista en mi tabla de ruteo, antes de que BGP la pueda inyectar.</a:t>
            </a:r>
          </a:p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network-address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[mask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network-mask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]</a:t>
            </a:r>
            <a:endParaRPr lang="es-MX" sz="20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02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50192" y="-22820"/>
            <a:ext cx="85702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Verificación de BGP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08" y="2996952"/>
            <a:ext cx="7632848" cy="2523329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194734"/>
            <a:ext cx="8464103" cy="1501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Estos son los tres comandos para verificar BGP: 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 ip route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show ip bgp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show ip bgp summary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20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50192" y="-22820"/>
            <a:ext cx="8570280" cy="954247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Verificación de BGP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908" y="636385"/>
            <a:ext cx="1368152" cy="3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 ip route</a:t>
            </a:r>
            <a:endParaRPr lang="es-MX" sz="2000" b="1" dirty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4267236-AE84-A8F1-D8EE-0AD6606D071E}"/>
              </a:ext>
            </a:extLst>
          </p:cNvPr>
          <p:cNvGrpSpPr/>
          <p:nvPr/>
        </p:nvGrpSpPr>
        <p:grpSpPr>
          <a:xfrm>
            <a:off x="611560" y="1556792"/>
            <a:ext cx="7632848" cy="2523329"/>
            <a:chOff x="611560" y="1556792"/>
            <a:chExt cx="7632848" cy="2523329"/>
          </a:xfrm>
        </p:grpSpPr>
        <p:pic>
          <p:nvPicPr>
            <p:cNvPr id="3" name="Picture 3" descr="Connecting Networks - Mozilla Firefox">
              <a:extLst>
                <a:ext uri="{FF2B5EF4-FFF2-40B4-BE49-F238E27FC236}">
                  <a16:creationId xmlns:a16="http://schemas.microsoft.com/office/drawing/2014/main" id="{CFA18CA9-702D-71B5-484F-C6CCB14FB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1556792"/>
              <a:ext cx="7632848" cy="2523329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960C0AA8-731C-3A29-6366-1085B581F9A7}"/>
                </a:ext>
              </a:extLst>
            </p:cNvPr>
            <p:cNvSpPr txBox="1"/>
            <p:nvPr/>
          </p:nvSpPr>
          <p:spPr>
            <a:xfrm>
              <a:off x="1403648" y="2193663"/>
              <a:ext cx="97815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MX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Company-A</a:t>
              </a: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19F80AB-965B-8E65-204F-FB035C8F58ED}"/>
                </a:ext>
              </a:extLst>
            </p:cNvPr>
            <p:cNvSpPr txBox="1"/>
            <p:nvPr/>
          </p:nvSpPr>
          <p:spPr>
            <a:xfrm>
              <a:off x="5652120" y="2335059"/>
              <a:ext cx="614271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MX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0.0.0.0</a:t>
              </a:r>
            </a:p>
          </p:txBody>
        </p: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347E3553-57EF-D7AB-4972-4753EF9E0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150248"/>
            <a:ext cx="8464103" cy="38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Despliega el contenido de la tabla de ruteo.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AC3B5550-2F6C-5411-F051-92D518C14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636546"/>
            <a:ext cx="7448826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3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79512" y="-20320"/>
            <a:ext cx="871296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Verificación de BGP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324" y="743217"/>
            <a:ext cx="1623343" cy="3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show ip bgp</a:t>
            </a:r>
            <a:endParaRPr lang="es-MX" sz="2000" b="1" dirty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0A73C2-6047-95EC-28FF-579C5D68A411}"/>
              </a:ext>
            </a:extLst>
          </p:cNvPr>
          <p:cNvGrpSpPr/>
          <p:nvPr/>
        </p:nvGrpSpPr>
        <p:grpSpPr>
          <a:xfrm>
            <a:off x="611560" y="1787884"/>
            <a:ext cx="7632848" cy="2523329"/>
            <a:chOff x="611560" y="1787884"/>
            <a:chExt cx="7632848" cy="2523329"/>
          </a:xfrm>
        </p:grpSpPr>
        <p:pic>
          <p:nvPicPr>
            <p:cNvPr id="3" name="Picture 3" descr="Connecting Networks - Mozilla Firefox">
              <a:extLst>
                <a:ext uri="{FF2B5EF4-FFF2-40B4-BE49-F238E27FC236}">
                  <a16:creationId xmlns:a16="http://schemas.microsoft.com/office/drawing/2014/main" id="{CFA18CA9-702D-71B5-484F-C6CCB14FB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1787884"/>
              <a:ext cx="7632848" cy="2523329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EAA2AF8-51F4-1859-F89F-B778692CDCD9}"/>
                </a:ext>
              </a:extLst>
            </p:cNvPr>
            <p:cNvSpPr txBox="1"/>
            <p:nvPr/>
          </p:nvSpPr>
          <p:spPr>
            <a:xfrm>
              <a:off x="1403648" y="2399294"/>
              <a:ext cx="97815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MX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Company-A</a:t>
              </a: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39F1344C-EA4A-9DCB-8EB1-7CFEB11F759A}"/>
                </a:ext>
              </a:extLst>
            </p:cNvPr>
            <p:cNvSpPr txBox="1"/>
            <p:nvPr/>
          </p:nvSpPr>
          <p:spPr>
            <a:xfrm>
              <a:off x="5652120" y="2594374"/>
              <a:ext cx="614271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MX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0.0.0.0</a:t>
              </a:r>
            </a:p>
          </p:txBody>
        </p: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C7526186-8A9A-7E42-B972-D9F1278DA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15" y="1273968"/>
            <a:ext cx="8464103" cy="38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Despliega el contenido de la tabla de ruteo de bgp.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A890EBB1-2183-CAC1-4DAF-25972E1B9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861048"/>
            <a:ext cx="8035114" cy="252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2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79512" y="146936"/>
            <a:ext cx="8784976" cy="641008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Verificación de BGP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280" y="644639"/>
            <a:ext cx="2343423" cy="3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show ip bgp summary</a:t>
            </a:r>
            <a:endParaRPr lang="es-MX" sz="2000" b="1" dirty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472A2F-1C28-518F-CEF2-E33737D2B449}"/>
              </a:ext>
            </a:extLst>
          </p:cNvPr>
          <p:cNvGrpSpPr/>
          <p:nvPr/>
        </p:nvGrpSpPr>
        <p:grpSpPr>
          <a:xfrm>
            <a:off x="611560" y="1574307"/>
            <a:ext cx="7632848" cy="2523329"/>
            <a:chOff x="611560" y="1574307"/>
            <a:chExt cx="7632848" cy="2523329"/>
          </a:xfrm>
        </p:grpSpPr>
        <p:pic>
          <p:nvPicPr>
            <p:cNvPr id="3" name="Picture 3" descr="Connecting Networks - Mozilla Firefox">
              <a:extLst>
                <a:ext uri="{FF2B5EF4-FFF2-40B4-BE49-F238E27FC236}">
                  <a16:creationId xmlns:a16="http://schemas.microsoft.com/office/drawing/2014/main" id="{CFA18CA9-702D-71B5-484F-C6CCB14FB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1574307"/>
              <a:ext cx="7632848" cy="2523329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C401FD07-D793-8C0D-6F93-8B7903F2DC72}"/>
                </a:ext>
              </a:extLst>
            </p:cNvPr>
            <p:cNvSpPr txBox="1"/>
            <p:nvPr/>
          </p:nvSpPr>
          <p:spPr>
            <a:xfrm>
              <a:off x="1403648" y="2159278"/>
              <a:ext cx="97815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MX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Company-A</a:t>
              </a:r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C8E98546-2468-861F-B61D-67AE19E86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19" y="6500022"/>
            <a:ext cx="8464103" cy="38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Versión 4 Número de sistema autónomo del vecino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046520-99A3-F816-9548-01EF9BF83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15" y="1060992"/>
            <a:ext cx="8464103" cy="38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Nos muestra las relaciones de adyacencia que tenemos establecidas.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A7E21E5B-4FEF-2660-77ED-6F89C6DF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78" y="3438951"/>
            <a:ext cx="7776864" cy="305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2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1495" y="10572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581731"/>
            <a:ext cx="7344816" cy="1982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comando de configuración global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 bgp </a:t>
            </a:r>
            <a:r>
              <a:rPr lang="es-E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habilita BGP e identifica el número de AS.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comando de configuración del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 neighbor ip-address remote-as as-number 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identifica el par de BGP y su número de AS.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comando de configuración del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 network network-address [mask network-mask]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introduce la dirección de red en la tabla de BGP local.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993558"/>
            <a:ext cx="5178471" cy="1711941"/>
          </a:xfrm>
          <a:prstGeom prst="rect">
            <a:avLst/>
          </a:prstGeom>
        </p:spPr>
      </p:pic>
      <p:sp>
        <p:nvSpPr>
          <p:cNvPr id="4" name="Rectangle 7">
            <a:extLst>
              <a:ext uri="{FF2B5EF4-FFF2-40B4-BE49-F238E27FC236}">
                <a16:creationId xmlns:a16="http://schemas.microsoft.com/office/drawing/2014/main" id="{B9900FA3-AC56-7B93-FC80-9DDE795D0312}"/>
              </a:ext>
            </a:extLst>
          </p:cNvPr>
          <p:cNvSpPr/>
          <p:nvPr/>
        </p:nvSpPr>
        <p:spPr>
          <a:xfrm>
            <a:off x="692603" y="5373216"/>
            <a:ext cx="7758793" cy="103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33EF57A-B4EF-5838-7EBC-BC9D4028EFDC}"/>
              </a:ext>
            </a:extLst>
          </p:cNvPr>
          <p:cNvSpPr txBox="1"/>
          <p:nvPr/>
        </p:nvSpPr>
        <p:spPr>
          <a:xfrm>
            <a:off x="692603" y="5436653"/>
            <a:ext cx="775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(config)#</a:t>
            </a:r>
            <a:r>
              <a:rPr lang="es-ES" b="1" dirty="0">
                <a:solidFill>
                  <a:schemeClr val="bg1"/>
                </a:solidFill>
              </a:rPr>
              <a:t>router bgp 65000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neighbor 209.165.201.1 remote-as 65001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network 198.133.219.0 mask 255.255.255.0</a:t>
            </a:r>
          </a:p>
        </p:txBody>
      </p:sp>
    </p:spTree>
    <p:extLst>
      <p:ext uri="{BB962C8B-B14F-4D97-AF65-F5344CB8AC3E}">
        <p14:creationId xmlns:p14="http://schemas.microsoft.com/office/powerpoint/2010/main" val="276207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2906</TotalTime>
  <Words>1120</Words>
  <Application>Microsoft Office PowerPoint</Application>
  <PresentationFormat>Presentación en pantalla (4:3)</PresentationFormat>
  <Paragraphs>106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Dom Casual</vt:lpstr>
      <vt:lpstr>inherit</vt:lpstr>
      <vt:lpstr>Tema de Office</vt:lpstr>
      <vt:lpstr>TC 3003B Implementación de redes de área amplia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2022 Interconexión de redes</dc:title>
  <dc:creator>Lizethe Pérez Fuertes</dc:creator>
  <cp:lastModifiedBy>Lizethe Pérez Fuertes</cp:lastModifiedBy>
  <cp:revision>30</cp:revision>
  <dcterms:created xsi:type="dcterms:W3CDTF">2021-02-08T03:07:42Z</dcterms:created>
  <dcterms:modified xsi:type="dcterms:W3CDTF">2025-10-21T23:04:20Z</dcterms:modified>
</cp:coreProperties>
</file>