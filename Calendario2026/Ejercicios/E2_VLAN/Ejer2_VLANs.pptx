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54" r:id="rId2"/>
    <p:sldId id="259" r:id="rId3"/>
    <p:sldId id="359" r:id="rId4"/>
    <p:sldId id="261" r:id="rId5"/>
    <p:sldId id="360" r:id="rId6"/>
    <p:sldId id="357" r:id="rId7"/>
    <p:sldId id="340" r:id="rId8"/>
    <p:sldId id="342" r:id="rId9"/>
    <p:sldId id="347" r:id="rId10"/>
    <p:sldId id="353" r:id="rId11"/>
    <p:sldId id="350" r:id="rId12"/>
    <p:sldId id="356" r:id="rId13"/>
    <p:sldId id="351" r:id="rId14"/>
  </p:sldIdLst>
  <p:sldSz cx="12192000" cy="6858000"/>
  <p:notesSz cx="9296400" cy="7010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79"/>
    <a:srgbClr val="A647D1"/>
    <a:srgbClr val="83E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B6C174-159D-4F38-87E0-B71FD639C87F}" v="8" dt="2026-03-25T14:36:44.24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40" autoAdjust="0"/>
  </p:normalViewPr>
  <p:slideViewPr>
    <p:cSldViewPr>
      <p:cViewPr varScale="1">
        <p:scale>
          <a:sx n="116" d="100"/>
          <a:sy n="116" d="100"/>
        </p:scale>
        <p:origin x="35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custSel modSld">
      <pc:chgData name="Lizethe Pérez Fuertes" userId="4ae9ef87-2a7d-42f8-8dfa-0a501a9e2ff4" providerId="ADAL" clId="{FDDD45CB-1330-4033-A842-3D2746AFF7C7}" dt="2026-03-25T14:36:47.384" v="286" actId="6549"/>
      <pc:docMkLst>
        <pc:docMk/>
      </pc:docMkLst>
      <pc:sldChg chg="modSp mod">
        <pc:chgData name="Lizethe Pérez Fuertes" userId="4ae9ef87-2a7d-42f8-8dfa-0a501a9e2ff4" providerId="ADAL" clId="{FDDD45CB-1330-4033-A842-3D2746AFF7C7}" dt="2026-03-24T22:04:02.255" v="268" actId="20577"/>
        <pc:sldMkLst>
          <pc:docMk/>
          <pc:sldMk cId="0" sldId="261"/>
        </pc:sldMkLst>
        <pc:spChg chg="mod">
          <ac:chgData name="Lizethe Pérez Fuertes" userId="4ae9ef87-2a7d-42f8-8dfa-0a501a9e2ff4" providerId="ADAL" clId="{FDDD45CB-1330-4033-A842-3D2746AFF7C7}" dt="2026-03-24T22:04:02.255" v="268" actId="20577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Lizethe Pérez Fuertes" userId="4ae9ef87-2a7d-42f8-8dfa-0a501a9e2ff4" providerId="ADAL" clId="{FDDD45CB-1330-4033-A842-3D2746AFF7C7}" dt="2026-03-24T22:21:51.130" v="272" actId="20577"/>
        <pc:sldMkLst>
          <pc:docMk/>
          <pc:sldMk cId="536682890" sldId="340"/>
        </pc:sldMkLst>
        <pc:spChg chg="mod">
          <ac:chgData name="Lizethe Pérez Fuertes" userId="4ae9ef87-2a7d-42f8-8dfa-0a501a9e2ff4" providerId="ADAL" clId="{FDDD45CB-1330-4033-A842-3D2746AFF7C7}" dt="2026-03-24T22:21:51.130" v="272" actId="20577"/>
          <ac:spMkLst>
            <pc:docMk/>
            <pc:sldMk cId="536682890" sldId="340"/>
            <ac:spMk id="14" creationId="{7646E0FB-7123-46AC-A020-B0A72B7A742A}"/>
          </ac:spMkLst>
        </pc:spChg>
      </pc:sldChg>
      <pc:sldChg chg="modSp mod">
        <pc:chgData name="Lizethe Pérez Fuertes" userId="4ae9ef87-2a7d-42f8-8dfa-0a501a9e2ff4" providerId="ADAL" clId="{FDDD45CB-1330-4033-A842-3D2746AFF7C7}" dt="2026-03-24T22:22:02.963" v="278" actId="6549"/>
        <pc:sldMkLst>
          <pc:docMk/>
          <pc:sldMk cId="1245641084" sldId="347"/>
        </pc:sldMkLst>
        <pc:graphicFrameChg chg="modGraphic">
          <ac:chgData name="Lizethe Pérez Fuertes" userId="4ae9ef87-2a7d-42f8-8dfa-0a501a9e2ff4" providerId="ADAL" clId="{FDDD45CB-1330-4033-A842-3D2746AFF7C7}" dt="2026-03-24T22:22:02.963" v="278" actId="6549"/>
          <ac:graphicFrameMkLst>
            <pc:docMk/>
            <pc:sldMk cId="1245641084" sldId="347"/>
            <ac:graphicFrameMk id="5" creationId="{D5DA73BA-9C18-4089-BD14-C3684A90530F}"/>
          </ac:graphicFrameMkLst>
        </pc:graphicFrameChg>
      </pc:sldChg>
      <pc:sldChg chg="modSp mod">
        <pc:chgData name="Lizethe Pérez Fuertes" userId="4ae9ef87-2a7d-42f8-8dfa-0a501a9e2ff4" providerId="ADAL" clId="{FDDD45CB-1330-4033-A842-3D2746AFF7C7}" dt="2026-03-25T14:36:47.384" v="286" actId="6549"/>
        <pc:sldMkLst>
          <pc:docMk/>
          <pc:sldMk cId="1392632694" sldId="360"/>
        </pc:sldMkLst>
        <pc:graphicFrameChg chg="mod modGraphic">
          <ac:chgData name="Lizethe Pérez Fuertes" userId="4ae9ef87-2a7d-42f8-8dfa-0a501a9e2ff4" providerId="ADAL" clId="{FDDD45CB-1330-4033-A842-3D2746AFF7C7}" dt="2026-03-25T14:36:47.384" v="286" actId="6549"/>
          <ac:graphicFrameMkLst>
            <pc:docMk/>
            <pc:sldMk cId="1392632694" sldId="360"/>
            <ac:graphicFrameMk id="3" creationId="{D4EF5B48-9283-3FB1-AEA0-33B024D5E95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3432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5425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6430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es-MX" noProof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215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3908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631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04251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4724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43746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96169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854897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71574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3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52984" y="257556"/>
            <a:ext cx="11681460" cy="6307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E75A0DC-66C6-4CEC-A5EB-F8C97CEC3796}" type="datetimeFigureOut">
              <a:rPr lang="es-MX" smtClean="0"/>
              <a:t>25/03/2026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39" cy="276999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29193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55399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4308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E75A0DC-66C6-4CEC-A5EB-F8C97CEC3796}" type="datetimeFigureOut">
              <a:rPr lang="es-MX" smtClean="0"/>
              <a:t>25/03/2026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39" cy="276999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224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04438" y="827024"/>
            <a:ext cx="5183123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87272" y="2393823"/>
            <a:ext cx="9617455" cy="2148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533400"/>
            <a:ext cx="7342584" cy="1470025"/>
          </a:xfrm>
        </p:spPr>
        <p:txBody>
          <a:bodyPr rtlCol="0">
            <a:normAutofit/>
          </a:bodyPr>
          <a:lstStyle/>
          <a:p>
            <a:pPr algn="l">
              <a:defRPr/>
            </a:pPr>
            <a:r>
              <a:rPr lang="es-MX" sz="3200" b="0" dirty="0">
                <a:solidFill>
                  <a:schemeClr val="bg2">
                    <a:lumMod val="50000"/>
                  </a:schemeClr>
                </a:solidFill>
              </a:rPr>
              <a:t>TC 3003B </a:t>
            </a:r>
            <a:br>
              <a:rPr lang="es-MX" sz="3200" b="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b="0" dirty="0">
                <a:solidFill>
                  <a:schemeClr val="bg2">
                    <a:lumMod val="50000"/>
                  </a:schemeClr>
                </a:solidFill>
              </a:rPr>
              <a:t>Redes de área amplia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2106612"/>
            <a:ext cx="7848600" cy="900137"/>
          </a:xfrm>
        </p:spPr>
        <p:txBody>
          <a:bodyPr rtlCol="0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Ejercicio 2: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</a:rPr>
              <a:t>VLANs</a:t>
            </a: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, rutas estáticas y por default</a:t>
            </a:r>
          </a:p>
          <a:p>
            <a:pPr>
              <a:spcAft>
                <a:spcPts val="60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Monterrey, Campus Querétaro</a:t>
            </a:r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F4BFC986-6D54-472C-AD54-15826305B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544" y="3093460"/>
            <a:ext cx="2808312" cy="332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287269" y="1432011"/>
            <a:ext cx="9617455" cy="2154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pc="-20" dirty="0"/>
              <a:t>Nu</a:t>
            </a:r>
            <a:r>
              <a:rPr spc="-5" dirty="0"/>
              <a:t>e</a:t>
            </a:r>
            <a:r>
              <a:rPr spc="-55" dirty="0"/>
              <a:t>s</a:t>
            </a:r>
            <a:r>
              <a:rPr spc="-10" dirty="0"/>
              <a:t>t</a:t>
            </a:r>
            <a:r>
              <a:rPr spc="-65" dirty="0"/>
              <a:t>r</a:t>
            </a:r>
            <a:r>
              <a:rPr spc="-15" dirty="0"/>
              <a:t>o</a:t>
            </a:r>
            <a:r>
              <a:rPr spc="175" dirty="0"/>
              <a:t> </a:t>
            </a:r>
            <a:r>
              <a:rPr spc="-50" dirty="0"/>
              <a:t>r</a:t>
            </a:r>
            <a:r>
              <a:rPr spc="-25" dirty="0"/>
              <a:t>e</a:t>
            </a:r>
            <a:r>
              <a:rPr spc="-35" dirty="0"/>
              <a:t>t</a:t>
            </a:r>
            <a:r>
              <a:rPr spc="-15" dirty="0"/>
              <a:t>o</a:t>
            </a:r>
            <a:r>
              <a:rPr spc="170" dirty="0"/>
              <a:t> </a:t>
            </a:r>
            <a:r>
              <a:rPr spc="-15" dirty="0"/>
              <a:t>el</a:t>
            </a:r>
            <a:r>
              <a:rPr spc="165" dirty="0"/>
              <a:t> </a:t>
            </a:r>
            <a:r>
              <a:rPr spc="-20" dirty="0"/>
              <a:t>dí</a:t>
            </a:r>
            <a:r>
              <a:rPr spc="-15" dirty="0"/>
              <a:t>a</a:t>
            </a:r>
            <a:r>
              <a:rPr spc="175" dirty="0"/>
              <a:t> </a:t>
            </a:r>
            <a:r>
              <a:rPr spc="-20" dirty="0"/>
              <a:t>d</a:t>
            </a:r>
            <a:r>
              <a:rPr spc="-15" dirty="0"/>
              <a:t>e</a:t>
            </a:r>
            <a:r>
              <a:rPr spc="175" dirty="0"/>
              <a:t> </a:t>
            </a:r>
            <a:r>
              <a:rPr spc="-20" dirty="0"/>
              <a:t>h</a:t>
            </a:r>
            <a:r>
              <a:rPr spc="-30" dirty="0"/>
              <a:t>o</a:t>
            </a:r>
            <a:r>
              <a:rPr spc="-15" dirty="0"/>
              <a:t>y</a:t>
            </a:r>
            <a:r>
              <a:rPr spc="165" dirty="0"/>
              <a:t> </a:t>
            </a:r>
            <a:r>
              <a:rPr spc="-15" dirty="0"/>
              <a:t>es</a:t>
            </a:r>
            <a:r>
              <a:rPr spc="165" dirty="0"/>
              <a:t> </a:t>
            </a:r>
            <a:r>
              <a:rPr spc="-10" dirty="0"/>
              <a:t>t</a:t>
            </a:r>
            <a:r>
              <a:rPr spc="-75" dirty="0"/>
              <a:t>r</a:t>
            </a:r>
            <a:r>
              <a:rPr spc="-15" dirty="0"/>
              <a:t>abajar</a:t>
            </a:r>
            <a:r>
              <a:rPr spc="175" dirty="0"/>
              <a:t> </a:t>
            </a:r>
            <a:r>
              <a:rPr spc="-35" dirty="0"/>
              <a:t>c</a:t>
            </a:r>
            <a:r>
              <a:rPr spc="-20" dirty="0"/>
              <a:t>o</a:t>
            </a:r>
            <a:r>
              <a:rPr spc="-15" dirty="0"/>
              <a:t>n</a:t>
            </a:r>
            <a:r>
              <a:rPr spc="180" dirty="0"/>
              <a:t> </a:t>
            </a:r>
            <a:r>
              <a:rPr spc="-20" dirty="0"/>
              <a:t>u</a:t>
            </a:r>
            <a:r>
              <a:rPr spc="-15" dirty="0"/>
              <a:t>n</a:t>
            </a:r>
            <a:r>
              <a:rPr spc="175" dirty="0"/>
              <a:t> </a:t>
            </a:r>
            <a:r>
              <a:rPr spc="-20" dirty="0"/>
              <a:t>diseñ</a:t>
            </a:r>
            <a:r>
              <a:rPr spc="-15" dirty="0"/>
              <a:t>o</a:t>
            </a:r>
            <a:r>
              <a:rPr spc="185" dirty="0"/>
              <a:t> </a:t>
            </a:r>
            <a:r>
              <a:rPr spc="-15" dirty="0"/>
              <a:t>fí</a:t>
            </a:r>
            <a:r>
              <a:rPr spc="-25" dirty="0"/>
              <a:t>s</a:t>
            </a:r>
            <a:r>
              <a:rPr spc="-10" dirty="0"/>
              <a:t>i</a:t>
            </a:r>
            <a:r>
              <a:rPr spc="-40" dirty="0"/>
              <a:t>c</a:t>
            </a:r>
            <a:r>
              <a:rPr spc="-15" dirty="0"/>
              <a:t>o</a:t>
            </a:r>
            <a:r>
              <a:rPr spc="170" dirty="0"/>
              <a:t> </a:t>
            </a:r>
            <a:r>
              <a:rPr spc="-20" dirty="0"/>
              <a:t>d</a:t>
            </a:r>
            <a:r>
              <a:rPr spc="-15" dirty="0"/>
              <a:t>e</a:t>
            </a:r>
            <a:r>
              <a:rPr spc="180" dirty="0"/>
              <a:t> </a:t>
            </a:r>
            <a:r>
              <a:rPr spc="-50" dirty="0"/>
              <a:t>r</a:t>
            </a:r>
            <a:r>
              <a:rPr spc="-15" dirty="0"/>
              <a:t>ed en</a:t>
            </a:r>
            <a:r>
              <a:rPr dirty="0"/>
              <a:t> </a:t>
            </a:r>
            <a:r>
              <a:rPr spc="-35" dirty="0"/>
              <a:t> </a:t>
            </a:r>
            <a:r>
              <a:rPr b="1" spc="-65" dirty="0">
                <a:latin typeface="Calibri"/>
                <a:cs typeface="Calibri"/>
              </a:rPr>
              <a:t>P</a:t>
            </a:r>
            <a:r>
              <a:rPr b="1" spc="-15" dirty="0">
                <a:latin typeface="Calibri"/>
                <a:cs typeface="Calibri"/>
              </a:rPr>
              <a:t>a</a:t>
            </a:r>
            <a:r>
              <a:rPr b="1" spc="-10" dirty="0">
                <a:latin typeface="Calibri"/>
                <a:cs typeface="Calibri"/>
              </a:rPr>
              <a:t>c</a:t>
            </a:r>
            <a:r>
              <a:rPr b="1" spc="-75" dirty="0">
                <a:latin typeface="Calibri"/>
                <a:cs typeface="Calibri"/>
              </a:rPr>
              <a:t>k</a:t>
            </a:r>
            <a:r>
              <a:rPr b="1" spc="-45" dirty="0">
                <a:latin typeface="Calibri"/>
                <a:cs typeface="Calibri"/>
              </a:rPr>
              <a:t>e</a:t>
            </a:r>
            <a:r>
              <a:rPr b="1" spc="-10" dirty="0">
                <a:latin typeface="Calibri"/>
                <a:cs typeface="Calibri"/>
              </a:rPr>
              <a:t>t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spc="-165" dirty="0">
                <a:latin typeface="Calibri"/>
                <a:cs typeface="Calibri"/>
              </a:rPr>
              <a:t>T</a:t>
            </a:r>
            <a:r>
              <a:rPr b="1" spc="-60" dirty="0">
                <a:latin typeface="Calibri"/>
                <a:cs typeface="Calibri"/>
              </a:rPr>
              <a:t>r</a:t>
            </a:r>
            <a:r>
              <a:rPr b="1" spc="-15" dirty="0">
                <a:latin typeface="Calibri"/>
                <a:cs typeface="Calibri"/>
              </a:rPr>
              <a:t>ac</a:t>
            </a:r>
            <a:r>
              <a:rPr b="1" spc="-5" dirty="0">
                <a:latin typeface="Calibri"/>
                <a:cs typeface="Calibri"/>
              </a:rPr>
              <a:t>e</a:t>
            </a:r>
            <a:r>
              <a:rPr b="1" spc="-10" dirty="0">
                <a:latin typeface="Calibri"/>
                <a:cs typeface="Calibri"/>
              </a:rPr>
              <a:t>r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spc="-15" dirty="0"/>
              <a:t>y</a:t>
            </a:r>
            <a:r>
              <a:rPr dirty="0"/>
              <a:t> </a:t>
            </a:r>
            <a:r>
              <a:rPr spc="-25" dirty="0"/>
              <a:t> </a:t>
            </a:r>
            <a:r>
              <a:rPr spc="-50" dirty="0"/>
              <a:t>r</a:t>
            </a:r>
            <a:r>
              <a:rPr spc="-15" dirty="0"/>
              <a:t>eal</a:t>
            </a:r>
            <a:r>
              <a:rPr spc="-25" dirty="0"/>
              <a:t>i</a:t>
            </a:r>
            <a:r>
              <a:rPr spc="-65" dirty="0"/>
              <a:t>z</a:t>
            </a:r>
            <a:r>
              <a:rPr spc="-15" dirty="0"/>
              <a:t>ar</a:t>
            </a:r>
            <a:r>
              <a:rPr dirty="0"/>
              <a:t> </a:t>
            </a:r>
            <a:r>
              <a:rPr spc="-25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dirty="0"/>
              <a:t> </a:t>
            </a:r>
            <a:r>
              <a:rPr spc="-40" dirty="0"/>
              <a:t> </a:t>
            </a:r>
            <a:r>
              <a:rPr spc="-20" dirty="0"/>
              <a:t>p</a:t>
            </a:r>
            <a:r>
              <a:rPr spc="-55" dirty="0"/>
              <a:t>r</a:t>
            </a:r>
            <a:r>
              <a:rPr spc="-20" dirty="0"/>
              <a:t>og</a:t>
            </a:r>
            <a:r>
              <a:rPr spc="-70" dirty="0"/>
              <a:t>r</a:t>
            </a:r>
            <a:r>
              <a:rPr spc="-20" dirty="0"/>
              <a:t>ama</a:t>
            </a:r>
            <a:r>
              <a:rPr spc="-5" dirty="0"/>
              <a:t>c</a:t>
            </a:r>
            <a:r>
              <a:rPr spc="-15" dirty="0"/>
              <a:t>ión</a:t>
            </a:r>
            <a:r>
              <a:rPr dirty="0"/>
              <a:t> </a:t>
            </a:r>
            <a:r>
              <a:rPr spc="-25" dirty="0"/>
              <a:t> </a:t>
            </a:r>
            <a:r>
              <a:rPr spc="-20" dirty="0"/>
              <a:t>d</a:t>
            </a:r>
            <a:r>
              <a:rPr spc="-15" dirty="0"/>
              <a:t>e</a:t>
            </a:r>
            <a:r>
              <a:rPr dirty="0"/>
              <a:t> </a:t>
            </a:r>
            <a:r>
              <a:rPr spc="-30" dirty="0"/>
              <a:t> </a:t>
            </a:r>
            <a:r>
              <a:rPr spc="-15" dirty="0"/>
              <a:t>los</a:t>
            </a:r>
            <a:r>
              <a:rPr dirty="0"/>
              <a:t> </a:t>
            </a:r>
            <a:r>
              <a:rPr spc="-30" dirty="0"/>
              <a:t> </a:t>
            </a:r>
            <a:r>
              <a:rPr spc="-15" dirty="0"/>
              <a:t>eq</a:t>
            </a:r>
            <a:r>
              <a:rPr spc="-5" dirty="0"/>
              <a:t>u</a:t>
            </a:r>
            <a:r>
              <a:rPr spc="-10" dirty="0"/>
              <a:t>i</a:t>
            </a:r>
            <a:r>
              <a:rPr spc="-30" dirty="0"/>
              <a:t>p</a:t>
            </a:r>
            <a:r>
              <a:rPr spc="-5" dirty="0"/>
              <a:t>o</a:t>
            </a:r>
            <a:r>
              <a:rPr spc="-15" dirty="0"/>
              <a:t>s</a:t>
            </a:r>
            <a:r>
              <a:rPr dirty="0"/>
              <a:t> </a:t>
            </a:r>
            <a:r>
              <a:rPr spc="-15" dirty="0"/>
              <a:t> </a:t>
            </a:r>
            <a:r>
              <a:rPr spc="-20" dirty="0"/>
              <a:t>de</a:t>
            </a:r>
            <a:r>
              <a:rPr spc="-15" dirty="0"/>
              <a:t> </a:t>
            </a:r>
            <a:r>
              <a:rPr lang="es-MX" spc="-10" dirty="0"/>
              <a:t>i</a:t>
            </a:r>
            <a:r>
              <a:rPr lang="es-MX" spc="-55" dirty="0"/>
              <a:t>n</a:t>
            </a:r>
            <a:r>
              <a:rPr lang="es-MX" spc="-35" dirty="0"/>
              <a:t>t</a:t>
            </a:r>
            <a:r>
              <a:rPr lang="es-MX" spc="-15" dirty="0"/>
              <a:t>e</a:t>
            </a:r>
            <a:r>
              <a:rPr lang="es-MX" spc="-50" dirty="0"/>
              <a:t>r</a:t>
            </a:r>
            <a:r>
              <a:rPr lang="es-MX" spc="-35" dirty="0"/>
              <a:t>c</a:t>
            </a:r>
            <a:r>
              <a:rPr lang="es-MX" spc="-20" dirty="0"/>
              <a:t>on</a:t>
            </a:r>
            <a:r>
              <a:rPr lang="es-MX" spc="-65" dirty="0"/>
              <a:t>e</a:t>
            </a:r>
            <a:r>
              <a:rPr lang="es-MX" spc="-5" dirty="0"/>
              <a:t>x</a:t>
            </a:r>
            <a:r>
              <a:rPr lang="es-MX" spc="-15" dirty="0"/>
              <a:t>ión</a:t>
            </a:r>
            <a:r>
              <a:rPr lang="es-ES" spc="-15" dirty="0"/>
              <a:t>,</a:t>
            </a:r>
            <a:r>
              <a:rPr dirty="0"/>
              <a:t> </a:t>
            </a:r>
            <a:r>
              <a:rPr lang="es-ES" spc="-15" dirty="0">
                <a:latin typeface="Calibri"/>
                <a:cs typeface="Calibri"/>
              </a:rPr>
              <a:t>la configuración de </a:t>
            </a:r>
            <a:r>
              <a:rPr lang="es-ES" b="1" spc="-15" dirty="0">
                <a:latin typeface="Calibri"/>
                <a:cs typeface="Calibri"/>
              </a:rPr>
              <a:t>VLANs</a:t>
            </a:r>
            <a:r>
              <a:rPr lang="es-ES" spc="-15" dirty="0">
                <a:latin typeface="Calibri"/>
                <a:cs typeface="Calibri"/>
              </a:rPr>
              <a:t>,</a:t>
            </a:r>
            <a:r>
              <a:rPr lang="es-ES" b="1" spc="-15" dirty="0">
                <a:latin typeface="Calibri"/>
                <a:cs typeface="Calibri"/>
              </a:rPr>
              <a:t> rutas estáticas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lang="es-ES" spc="-10" dirty="0">
                <a:latin typeface="Calibri"/>
                <a:cs typeface="Calibri"/>
              </a:rPr>
              <a:t>y una </a:t>
            </a:r>
            <a:r>
              <a:rPr lang="es-ES" b="1" spc="-10" dirty="0">
                <a:latin typeface="Calibri"/>
                <a:cs typeface="Calibri"/>
              </a:rPr>
              <a:t>ruta por default </a:t>
            </a:r>
            <a:r>
              <a:rPr spc="-20" dirty="0"/>
              <a:t>pa</a:t>
            </a:r>
            <a:r>
              <a:rPr spc="-75" dirty="0"/>
              <a:t>r</a:t>
            </a:r>
            <a:r>
              <a:rPr spc="-15" dirty="0"/>
              <a:t>a</a:t>
            </a:r>
            <a:r>
              <a:rPr spc="130" dirty="0"/>
              <a:t> </a:t>
            </a:r>
            <a:r>
              <a:rPr spc="-15" dirty="0"/>
              <a:t>log</a:t>
            </a:r>
            <a:r>
              <a:rPr spc="-80" dirty="0"/>
              <a:t>r</a:t>
            </a:r>
            <a:r>
              <a:rPr spc="-15" dirty="0"/>
              <a:t>ar</a:t>
            </a:r>
            <a:r>
              <a:rPr spc="110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spc="125" dirty="0"/>
              <a:t> </a:t>
            </a:r>
            <a:r>
              <a:rPr spc="-35" dirty="0" err="1"/>
              <a:t>c</a:t>
            </a:r>
            <a:r>
              <a:rPr spc="-20" dirty="0" err="1"/>
              <a:t>onectivid</a:t>
            </a:r>
            <a:r>
              <a:rPr spc="-5" dirty="0" err="1"/>
              <a:t>a</a:t>
            </a:r>
            <a:r>
              <a:rPr spc="-15" dirty="0" err="1"/>
              <a:t>d</a:t>
            </a:r>
            <a:r>
              <a:rPr spc="120" dirty="0"/>
              <a:t> </a:t>
            </a:r>
            <a:r>
              <a:rPr spc="-20" dirty="0"/>
              <a:t>d</a:t>
            </a:r>
            <a:r>
              <a:rPr spc="-15" dirty="0"/>
              <a:t>e</a:t>
            </a:r>
            <a:r>
              <a:rPr lang="es-ES" spc="-15" dirty="0"/>
              <a:t>l</a:t>
            </a:r>
            <a:r>
              <a:rPr spc="114" dirty="0"/>
              <a:t> </a:t>
            </a:r>
            <a:r>
              <a:rPr spc="-15" dirty="0" err="1"/>
              <a:t>e</a:t>
            </a:r>
            <a:r>
              <a:rPr spc="-10" dirty="0" err="1"/>
              <a:t>s</a:t>
            </a:r>
            <a:r>
              <a:rPr spc="-20" dirty="0" err="1"/>
              <a:t>paci</a:t>
            </a:r>
            <a:r>
              <a:rPr spc="-15" dirty="0" err="1"/>
              <a:t>o</a:t>
            </a:r>
            <a:r>
              <a:rPr lang="es-ES" spc="-15" dirty="0"/>
              <a:t> de trabajo de la compañía </a:t>
            </a:r>
            <a:r>
              <a:rPr lang="es-ES" b="1" spc="-15" dirty="0"/>
              <a:t>“Pisos y más”</a:t>
            </a:r>
            <a:r>
              <a:rPr b="1" spc="120" dirty="0"/>
              <a:t> </a:t>
            </a:r>
            <a:r>
              <a:rPr spc="-35" dirty="0"/>
              <a:t>c</a:t>
            </a:r>
            <a:r>
              <a:rPr spc="-20" dirty="0"/>
              <a:t>o</a:t>
            </a:r>
            <a:r>
              <a:rPr spc="-15" dirty="0"/>
              <a:t>n</a:t>
            </a:r>
            <a:r>
              <a:rPr spc="120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spc="125" dirty="0"/>
              <a:t> </a:t>
            </a:r>
            <a:r>
              <a:rPr spc="-50" dirty="0"/>
              <a:t>r</a:t>
            </a:r>
            <a:r>
              <a:rPr spc="-15" dirty="0"/>
              <a:t>ed</a:t>
            </a:r>
            <a:r>
              <a:rPr spc="-10" dirty="0"/>
              <a:t> I</a:t>
            </a:r>
            <a:r>
              <a:rPr spc="-45" dirty="0"/>
              <a:t>n</a:t>
            </a:r>
            <a:r>
              <a:rPr spc="-35" dirty="0"/>
              <a:t>t</a:t>
            </a:r>
            <a:r>
              <a:rPr spc="-15" dirty="0"/>
              <a:t>ern</a:t>
            </a:r>
            <a:r>
              <a:rPr spc="-40" dirty="0"/>
              <a:t>e</a:t>
            </a:r>
            <a:r>
              <a:rPr spc="-10" dirty="0"/>
              <a:t>t</a:t>
            </a:r>
            <a:r>
              <a:rPr dirty="0"/>
              <a:t>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7000" y="457200"/>
            <a:ext cx="6477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25" dirty="0">
                <a:solidFill>
                  <a:schemeClr val="accent4">
                    <a:lumMod val="50000"/>
                  </a:schemeClr>
                </a:solidFill>
              </a:rPr>
              <a:t>Cas</a:t>
            </a:r>
            <a:r>
              <a:rPr spc="-20" dirty="0">
                <a:solidFill>
                  <a:schemeClr val="accent4">
                    <a:lumMod val="50000"/>
                  </a:schemeClr>
                </a:solidFill>
              </a:rPr>
              <a:t>o</a:t>
            </a:r>
            <a:r>
              <a:rPr spc="5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s-ES" spc="5" dirty="0">
                <a:solidFill>
                  <a:schemeClr val="accent4">
                    <a:lumMod val="50000"/>
                  </a:schemeClr>
                </a:solidFill>
              </a:rPr>
              <a:t>“Pisos y más”</a:t>
            </a:r>
            <a:endParaRPr spc="-2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Imagen 4" descr="Una captura de pantalla de un celular con la imagen de un videojuego&#10;&#10;Descripción generada automáticamente con confianza baja">
            <a:extLst>
              <a:ext uri="{FF2B5EF4-FFF2-40B4-BE49-F238E27FC236}">
                <a16:creationId xmlns:a16="http://schemas.microsoft.com/office/drawing/2014/main" id="{0DF0B658-8BDF-4311-A02B-6133152272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124" y="3886200"/>
            <a:ext cx="3149600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2800" y="304800"/>
            <a:ext cx="516445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z="3200" b="1" spc="-25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Cas</a:t>
            </a:r>
            <a:r>
              <a:rPr sz="3200" b="1" spc="-20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o</a:t>
            </a:r>
            <a:r>
              <a:rPr sz="3200" b="1" spc="5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lang="es-ES" sz="3200" b="1" spc="5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“Pisos y más”</a:t>
            </a:r>
            <a:endParaRPr sz="3200" dirty="0">
              <a:solidFill>
                <a:schemeClr val="accent4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333EBF-42F1-1F25-0BFB-07DFDE30A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447800"/>
            <a:ext cx="9156823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66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A06BD-AB81-CF45-0C30-626626844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2947380"/>
            <a:ext cx="7620000" cy="3741253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74240" y="990600"/>
            <a:ext cx="10453817" cy="1967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  <a:spcAft>
                <a:spcPts val="600"/>
              </a:spcAf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Debemo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4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eali</a:t>
            </a:r>
            <a:r>
              <a:rPr sz="1600" spc="-35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dis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ñ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bas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4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tri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qu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sid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25" dirty="0" err="1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ablecidas</a:t>
            </a:r>
            <a:r>
              <a:rPr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s-ES"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cli</a:t>
            </a:r>
            <a:r>
              <a:rPr lang="es-MX" sz="1600" spc="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1600" spc="-2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MX" sz="1600" spc="-35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MX" sz="1600" spc="-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1600" spc="-5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ts val="2500"/>
              </a:lnSpc>
              <a:buFont typeface="+mj-lt"/>
              <a:buAutoNum type="arabicPeriod"/>
              <a:tabLst>
                <a:tab pos="311150" algn="l"/>
                <a:tab pos="2332038" algn="l"/>
              </a:tabLst>
            </a:pPr>
            <a:r>
              <a:rPr lang="es-MX" sz="1600" spc="-20" dirty="0">
                <a:latin typeface="Arial" panose="020B0604020202020204" pitchFamily="34" charset="0"/>
                <a:cs typeface="Arial" panose="020B0604020202020204" pitchFamily="34" charset="0"/>
              </a:rPr>
              <a:t>Deb</a:t>
            </a:r>
            <a:r>
              <a:rPr lang="es-MX" sz="16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mos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utili</a:t>
            </a:r>
            <a:r>
              <a:rPr sz="1600" spc="-30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ar </a:t>
            </a:r>
            <a:r>
              <a:rPr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VL</a:t>
            </a:r>
            <a:r>
              <a:rPr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ts val="2500"/>
              </a:lnSpc>
              <a:buFont typeface="+mj-lt"/>
              <a:buAutoNum type="arabicPeriod"/>
              <a:tabLst>
                <a:tab pos="311785" algn="l"/>
              </a:tabLst>
            </a:pPr>
            <a:r>
              <a:rPr lang="es-MX" sz="1600" spc="-20" noProof="1">
                <a:latin typeface="Arial" panose="020B0604020202020204" pitchFamily="34" charset="0"/>
                <a:cs typeface="Arial" panose="020B0604020202020204" pitchFamily="34" charset="0"/>
              </a:rPr>
              <a:t>Deb</a:t>
            </a:r>
            <a:r>
              <a:rPr lang="es-MX" sz="1600" spc="-10" noProof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1600" noProof="1">
                <a:latin typeface="Arial" panose="020B0604020202020204" pitchFamily="34" charset="0"/>
                <a:cs typeface="Arial" panose="020B0604020202020204" pitchFamily="34" charset="0"/>
              </a:rPr>
              <a:t>mos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 err="1">
                <a:latin typeface="Arial" panose="020B0604020202020204" pitchFamily="34" charset="0"/>
                <a:cs typeface="Arial" panose="020B0604020202020204" pitchFamily="34" charset="0"/>
              </a:rPr>
              <a:t>utili</a:t>
            </a:r>
            <a:r>
              <a:rPr sz="1600" spc="-3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sz="1600" spc="-10" dirty="0" err="1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spc="-10" dirty="0">
                <a:latin typeface="Arial" panose="020B0604020202020204" pitchFamily="34" charset="0"/>
                <a:cs typeface="Arial" panose="020B0604020202020204" pitchFamily="34" charset="0"/>
              </a:rPr>
              <a:t>cuatro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VLAN</a:t>
            </a:r>
            <a:r>
              <a:rPr sz="1600" b="1" spc="-1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sz="1600" spc="-5" dirty="0">
                <a:latin typeface="Arial" panose="020B0604020202020204" pitchFamily="34" charset="0"/>
                <a:cs typeface="Arial" panose="020B0604020202020204" pitchFamily="34" charset="0"/>
              </a:rPr>
              <a:t>Native,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21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MX" sz="1600" spc="-21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Us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4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MX" sz="1600" spc="-5" dirty="0">
                <a:latin typeface="Arial" panose="020B0604020202020204" pitchFamily="34" charset="0"/>
                <a:cs typeface="Arial" panose="020B0604020202020204" pitchFamily="34" charset="0"/>
              </a:rPr>
              <a:t> y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S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er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vice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s)</a:t>
            </a:r>
          </a:p>
          <a:p>
            <a:pPr marL="469900" marR="6350" indent="-457200">
              <a:lnSpc>
                <a:spcPts val="2500"/>
              </a:lnSpc>
              <a:buFont typeface="+mj-lt"/>
              <a:buAutoNum type="arabicPeriod"/>
              <a:tabLst>
                <a:tab pos="314960" algn="l"/>
              </a:tabLst>
            </a:pPr>
            <a:r>
              <a:rPr lang="es-MX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Configurar</a:t>
            </a:r>
            <a:r>
              <a:rPr lang="es-MX" sz="1600" spc="9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1600" spc="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</a:t>
            </a:r>
            <a:r>
              <a:rPr lang="es-MX" sz="1600" spc="9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VLAN1</a:t>
            </a:r>
            <a:r>
              <a:rPr lang="es-MX" sz="1600" b="1" spc="25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16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 los switches </a:t>
            </a:r>
            <a:r>
              <a:rPr lang="es-MX" sz="1600" b="1" spc="-5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SCompany</a:t>
            </a:r>
            <a:r>
              <a:rPr lang="es-MX" sz="16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MX" sz="1600" b="1" spc="-5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SEste</a:t>
            </a:r>
            <a:r>
              <a:rPr lang="es-MX" sz="16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 </a:t>
            </a:r>
            <a:r>
              <a:rPr lang="es-MX" sz="1600" b="1" spc="-5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SOeste</a:t>
            </a:r>
            <a:r>
              <a:rPr lang="es-MX" sz="16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 el</a:t>
            </a:r>
            <a:r>
              <a:rPr lang="es-MX" sz="1600" spc="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default </a:t>
            </a:r>
            <a:r>
              <a:rPr lang="es-MX" sz="1600" b="1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Gateway</a:t>
            </a:r>
            <a:r>
              <a:rPr lang="es-MX" sz="16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69900" marR="6350" indent="-457200" algn="just">
              <a:lnSpc>
                <a:spcPts val="2500"/>
              </a:lnSpc>
              <a:buFont typeface="+mj-lt"/>
              <a:buAutoNum type="arabicPeriod"/>
              <a:tabLst>
                <a:tab pos="314960" algn="l"/>
              </a:tabLst>
            </a:pP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Deb</a:t>
            </a:r>
            <a:r>
              <a:rPr lang="es-ES" sz="16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mos</a:t>
            </a:r>
            <a:r>
              <a:rPr lang="es-ES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spc="-3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1600" spc="-5" dirty="0">
                <a:latin typeface="Arial" panose="020B0604020202020204" pitchFamily="34" charset="0"/>
                <a:cs typeface="Arial" panose="020B0604020202020204" pitchFamily="34" charset="0"/>
              </a:rPr>
              <a:t>onec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sz="1600" spc="-10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lang="es-ES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es-ES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spc="-5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1600" spc="-15" dirty="0">
                <a:latin typeface="Arial" panose="020B0604020202020204" pitchFamily="34" charset="0"/>
                <a:cs typeface="Arial" panose="020B0604020202020204" pitchFamily="34" charset="0"/>
              </a:rPr>
              <a:t>ed</a:t>
            </a:r>
            <a:r>
              <a:rPr lang="es-ES"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lang="es-ES" sz="1600" spc="-3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lang="es-ES"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s-ES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es-ES" sz="1600" spc="1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vicios</a:t>
            </a:r>
            <a:r>
              <a:rPr lang="es-ES"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ES"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ES" sz="1600" spc="-3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1600" spc="-35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net. Para interconectar la red local con el proveedor de servicios es necesario instalar una </a:t>
            </a:r>
            <a:r>
              <a:rPr lang="es-ES"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ruta por default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0439E7-051A-49D7-BFD6-237A56112EE4}"/>
              </a:ext>
            </a:extLst>
          </p:cNvPr>
          <p:cNvSpPr txBox="1">
            <a:spLocks noChangeArrowheads="1"/>
          </p:cNvSpPr>
          <p:nvPr/>
        </p:nvSpPr>
        <p:spPr>
          <a:xfrm>
            <a:off x="874240" y="49427"/>
            <a:ext cx="10443519" cy="941173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Restricciones y consideraciones del cliente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1026A3C0-BBC9-7922-EBF1-D395E490E45F}"/>
              </a:ext>
            </a:extLst>
          </p:cNvPr>
          <p:cNvSpPr txBox="1"/>
          <p:nvPr/>
        </p:nvSpPr>
        <p:spPr>
          <a:xfrm>
            <a:off x="863943" y="2957677"/>
            <a:ext cx="3276600" cy="1569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6350" indent="-457200">
              <a:lnSpc>
                <a:spcPts val="2500"/>
              </a:lnSpc>
              <a:buFont typeface="+mj-lt"/>
              <a:buAutoNum type="arabicPeriod" startAt="5"/>
              <a:tabLst>
                <a:tab pos="314960" algn="l"/>
              </a:tabLst>
            </a:pP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Debemos configurar rutas estáticas en el </a:t>
            </a:r>
            <a:r>
              <a:rPr lang="es-ES"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ISP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 para que se pueda conectar con la red local.</a:t>
            </a:r>
          </a:p>
          <a:p>
            <a:pPr marL="469900" marR="6350" indent="-457200">
              <a:lnSpc>
                <a:spcPts val="2500"/>
              </a:lnSpc>
              <a:buFont typeface="+mj-lt"/>
              <a:buAutoNum type="arabicPeriod" startAt="5"/>
              <a:tabLst>
                <a:tab pos="314960" algn="l"/>
              </a:tabLst>
            </a:pPr>
            <a:r>
              <a:rPr lang="es-MX" sz="1600" spc="-50" noProof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MX" sz="1600" spc="-15" noProof="1"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s-MX" sz="1600" noProof="1">
                <a:latin typeface="Arial" panose="020B0604020202020204" pitchFamily="34" charset="0"/>
                <a:cs typeface="Arial" panose="020B0604020202020204" pitchFamily="34" charset="0"/>
              </a:rPr>
              <a:t>li</a:t>
            </a:r>
            <a:r>
              <a:rPr lang="es-MX" sz="1600" spc="-40" noProof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s-MX" sz="1600" spc="-10" noProof="1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sz="16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pru</a:t>
            </a:r>
            <a:r>
              <a:rPr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b="1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3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onectivida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ne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esar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5000" y="267440"/>
            <a:ext cx="8077200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MX" sz="3200" b="1" spc="-25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Subneteo con máscaras de longitud variable </a:t>
            </a:r>
            <a:r>
              <a:rPr lang="es-MX" sz="2000" spc="-25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(VLSM)</a:t>
            </a:r>
            <a:endParaRPr sz="2000" dirty="0">
              <a:solidFill>
                <a:schemeClr val="accent4">
                  <a:lumMod val="50000"/>
                </a:schemeClr>
              </a:solidFill>
              <a:latin typeface="Calibri"/>
              <a:cs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EF5B48-9283-3FB1-AEA0-33B024D5E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701987"/>
              </p:ext>
            </p:extLst>
          </p:nvPr>
        </p:nvGraphicFramePr>
        <p:xfrm>
          <a:off x="952500" y="2057400"/>
          <a:ext cx="10325101" cy="350348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223716">
                  <a:extLst>
                    <a:ext uri="{9D8B030D-6E8A-4147-A177-3AD203B41FA5}">
                      <a16:colId xmlns:a16="http://schemas.microsoft.com/office/drawing/2014/main" val="3793059946"/>
                    </a:ext>
                  </a:extLst>
                </a:gridCol>
                <a:gridCol w="643132">
                  <a:extLst>
                    <a:ext uri="{9D8B030D-6E8A-4147-A177-3AD203B41FA5}">
                      <a16:colId xmlns:a16="http://schemas.microsoft.com/office/drawing/2014/main" val="170422774"/>
                    </a:ext>
                  </a:extLst>
                </a:gridCol>
                <a:gridCol w="962995">
                  <a:extLst>
                    <a:ext uri="{9D8B030D-6E8A-4147-A177-3AD203B41FA5}">
                      <a16:colId xmlns:a16="http://schemas.microsoft.com/office/drawing/2014/main" val="1522839865"/>
                    </a:ext>
                  </a:extLst>
                </a:gridCol>
                <a:gridCol w="1223716">
                  <a:extLst>
                    <a:ext uri="{9D8B030D-6E8A-4147-A177-3AD203B41FA5}">
                      <a16:colId xmlns:a16="http://schemas.microsoft.com/office/drawing/2014/main" val="2260089691"/>
                    </a:ext>
                  </a:extLst>
                </a:gridCol>
                <a:gridCol w="2065020">
                  <a:extLst>
                    <a:ext uri="{9D8B030D-6E8A-4147-A177-3AD203B41FA5}">
                      <a16:colId xmlns:a16="http://schemas.microsoft.com/office/drawing/2014/main" val="1473716125"/>
                    </a:ext>
                  </a:extLst>
                </a:gridCol>
                <a:gridCol w="2217985">
                  <a:extLst>
                    <a:ext uri="{9D8B030D-6E8A-4147-A177-3AD203B41FA5}">
                      <a16:colId xmlns:a16="http://schemas.microsoft.com/office/drawing/2014/main" val="3483025210"/>
                    </a:ext>
                  </a:extLst>
                </a:gridCol>
                <a:gridCol w="1988537">
                  <a:extLst>
                    <a:ext uri="{9D8B030D-6E8A-4147-A177-3AD203B41FA5}">
                      <a16:colId xmlns:a16="http://schemas.microsoft.com/office/drawing/2014/main" val="1341946690"/>
                    </a:ext>
                  </a:extLst>
                </a:gridCol>
              </a:tblGrid>
              <a:tr h="710947">
                <a:tc>
                  <a:txBody>
                    <a:bodyPr/>
                    <a:lstStyle/>
                    <a:p>
                      <a:pPr marL="1905"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Segmento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VLAN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IPs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Orden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Dirección de subred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Máscara</a:t>
                      </a:r>
                      <a:r>
                        <a:rPr lang="es-MX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</a:t>
                      </a:r>
                      <a:r>
                        <a:rPr lang="es-MX" sz="1400" spc="11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subred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Prefijo de red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146183"/>
                  </a:ext>
                </a:extLst>
              </a:tr>
              <a:tr h="694473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Managers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100" b="1" spc="-5">
                          <a:solidFill>
                            <a:srgbClr val="2C3A45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100" b="1" spc="-5">
                          <a:solidFill>
                            <a:srgbClr val="2C3A45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marR="0" lvl="0" indent="0" algn="ctr" defTabSz="91440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211505"/>
                  </a:ext>
                </a:extLst>
              </a:tr>
              <a:tr h="6993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Users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100" b="1" spc="-5">
                          <a:solidFill>
                            <a:srgbClr val="2C3A45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100" b="1" spc="-5">
                          <a:solidFill>
                            <a:srgbClr val="2C3A45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120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419246"/>
                  </a:ext>
                </a:extLst>
              </a:tr>
              <a:tr h="6993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Services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100" b="1" spc="-5">
                          <a:solidFill>
                            <a:srgbClr val="2C3A45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100" b="1" spc="-5">
                          <a:solidFill>
                            <a:srgbClr val="2C3A45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975503"/>
                  </a:ext>
                </a:extLst>
              </a:tr>
              <a:tr h="6993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Native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100" b="1" spc="-5">
                          <a:solidFill>
                            <a:srgbClr val="2C3A45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MX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marR="0" lvl="0" indent="0" algn="ctr" defTabSz="91440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marR="0" lvl="0" indent="0" algn="ctr" defTabSz="91440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marR="0" lvl="0" indent="0" algn="ctr" defTabSz="91440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203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A6B97F3-F57D-B769-EF0F-C237FC9EDF3B}"/>
              </a:ext>
            </a:extLst>
          </p:cNvPr>
          <p:cNvSpPr txBox="1"/>
          <p:nvPr/>
        </p:nvSpPr>
        <p:spPr>
          <a:xfrm>
            <a:off x="921608" y="1297114"/>
            <a:ext cx="3323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Dirección de red: </a:t>
            </a:r>
            <a:r>
              <a:rPr lang="es-MX" b="1" dirty="0"/>
              <a:t>192.168.1.0 /24</a:t>
            </a:r>
          </a:p>
        </p:txBody>
      </p:sp>
    </p:spTree>
    <p:extLst>
      <p:ext uri="{BB962C8B-B14F-4D97-AF65-F5344CB8AC3E}">
        <p14:creationId xmlns:p14="http://schemas.microsoft.com/office/powerpoint/2010/main" val="1392632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3200" y="326195"/>
            <a:ext cx="601122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</a:t>
            </a:r>
            <a:r>
              <a:rPr lang="es-ES" sz="3200" b="1" spc="-25" dirty="0" err="1">
                <a:latin typeface="Calibri"/>
                <a:cs typeface="Calibri"/>
              </a:rPr>
              <a:t>VLANs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9" name="7 CuadroTexto">
            <a:extLst>
              <a:ext uri="{FF2B5EF4-FFF2-40B4-BE49-F238E27FC236}">
                <a16:creationId xmlns:a16="http://schemas.microsoft.com/office/drawing/2014/main" id="{134ED542-4C7D-4B50-8C07-A5B19B10A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593"/>
            <a:ext cx="10820400" cy="416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Tenemos tres subredes asociadas con las </a:t>
            </a:r>
            <a:r>
              <a:rPr lang="es-ES_tradnl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VLANs 10, 20 y 30</a:t>
            </a:r>
            <a:r>
              <a:rPr lang="es-ES_tradnl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s-MX" sz="1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4565B0-66DB-CEEC-D4E6-F5F697386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76400"/>
            <a:ext cx="9156823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66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76600" y="160126"/>
            <a:ext cx="51644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VLANs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Ruteador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" name="7 CuadroTexto">
            <a:extLst>
              <a:ext uri="{FF2B5EF4-FFF2-40B4-BE49-F238E27FC236}">
                <a16:creationId xmlns:a16="http://schemas.microsoft.com/office/drawing/2014/main" id="{134ED542-4C7D-4B50-8C07-A5B19B10A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990600"/>
            <a:ext cx="10820400" cy="74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VLANs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son redes virtuales que permiten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segmentar el tráfico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y tener distintos dominios de broadcast en una misma interface del router, con el uso de las subinterfaces. </a:t>
            </a:r>
            <a:endParaRPr lang="es-MX" sz="15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7 CuadroTexto">
            <a:extLst>
              <a:ext uri="{FF2B5EF4-FFF2-40B4-BE49-F238E27FC236}">
                <a16:creationId xmlns:a16="http://schemas.microsoft.com/office/drawing/2014/main" id="{38E0D603-2C5E-46E8-85CD-52C2F196B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460" y="1829802"/>
            <a:ext cx="4536490" cy="4089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El definir subinterfaces en el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RFrontera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 implica que la interface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g0/0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 recibe peticiones de la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vlan 10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vlan 20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vlan 30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_tradnl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Las subinterfaces se definen con la interface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g0/0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y se le concatena la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subinteface asociada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con la vlan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g0/0.10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El protocolo de encapsulamiento debe incluir el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id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de la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 vlan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dirección IP de la subinterface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 va a ser la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última dirección IP válida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 de la subred o bloque.</a:t>
            </a:r>
            <a:endParaRPr lang="es-MX" sz="15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0FF2611-1ED3-4786-87DA-8B97BDD6D4E8}"/>
              </a:ext>
            </a:extLst>
          </p:cNvPr>
          <p:cNvSpPr/>
          <p:nvPr/>
        </p:nvSpPr>
        <p:spPr>
          <a:xfrm>
            <a:off x="5133794" y="5233564"/>
            <a:ext cx="1600200" cy="5048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VLAN 1: Native</a:t>
            </a:r>
          </a:p>
          <a:p>
            <a:pPr algn="ctr"/>
            <a:r>
              <a:rPr lang="es-ES" sz="1200" b="1" dirty="0">
                <a:solidFill>
                  <a:schemeClr val="tx1"/>
                </a:solidFill>
              </a:rPr>
              <a:t>192.168.1.152 /29</a:t>
            </a:r>
            <a:endParaRPr lang="es-MX" sz="1200" b="1" dirty="0">
              <a:solidFill>
                <a:schemeClr val="tx1"/>
              </a:solidFill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7646E0FB-7123-46AC-A020-B0A72B7A742A}"/>
              </a:ext>
            </a:extLst>
          </p:cNvPr>
          <p:cNvSpPr/>
          <p:nvPr/>
        </p:nvSpPr>
        <p:spPr>
          <a:xfrm>
            <a:off x="6822830" y="5233566"/>
            <a:ext cx="1600200" cy="504807"/>
          </a:xfrm>
          <a:prstGeom prst="roundRect">
            <a:avLst/>
          </a:prstGeom>
          <a:solidFill>
            <a:srgbClr val="83E93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VLAN 10: Managers</a:t>
            </a:r>
          </a:p>
          <a:p>
            <a:pPr algn="ctr"/>
            <a:r>
              <a:rPr lang="es-ES" sz="1200" b="1" dirty="0">
                <a:solidFill>
                  <a:schemeClr val="tx1"/>
                </a:solidFill>
              </a:rPr>
              <a:t>192.168.1.128 /28</a:t>
            </a:r>
            <a:endParaRPr lang="es-MX" sz="1200" b="1" dirty="0">
              <a:solidFill>
                <a:schemeClr val="tx1"/>
              </a:solidFill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8EA805EE-8667-4E41-9C93-A92AA57345F0}"/>
              </a:ext>
            </a:extLst>
          </p:cNvPr>
          <p:cNvSpPr/>
          <p:nvPr/>
        </p:nvSpPr>
        <p:spPr>
          <a:xfrm>
            <a:off x="10285340" y="5228811"/>
            <a:ext cx="1600200" cy="504807"/>
          </a:xfrm>
          <a:prstGeom prst="roundRect">
            <a:avLst/>
          </a:prstGeom>
          <a:solidFill>
            <a:srgbClr val="A647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bg1"/>
                </a:solidFill>
              </a:rPr>
              <a:t>VLAN 30: Services</a:t>
            </a:r>
          </a:p>
          <a:p>
            <a:pPr algn="ctr"/>
            <a:r>
              <a:rPr lang="es-ES" sz="1200" b="1" dirty="0">
                <a:solidFill>
                  <a:schemeClr val="bg1"/>
                </a:solidFill>
              </a:rPr>
              <a:t>192.168.1.144 /29</a:t>
            </a:r>
            <a:endParaRPr lang="es-MX" sz="1200" b="1" dirty="0">
              <a:solidFill>
                <a:schemeClr val="bg1"/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8C57497-126C-4137-A1FF-E5303A262B69}"/>
              </a:ext>
            </a:extLst>
          </p:cNvPr>
          <p:cNvSpPr/>
          <p:nvPr/>
        </p:nvSpPr>
        <p:spPr>
          <a:xfrm>
            <a:off x="8554085" y="5233565"/>
            <a:ext cx="1600200" cy="504807"/>
          </a:xfrm>
          <a:prstGeom prst="roundRect">
            <a:avLst/>
          </a:prstGeom>
          <a:solidFill>
            <a:srgbClr val="FBFB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VLAN 20: Users</a:t>
            </a:r>
          </a:p>
          <a:p>
            <a:pPr algn="ctr"/>
            <a:r>
              <a:rPr lang="es-ES" sz="1200" b="1" dirty="0">
                <a:solidFill>
                  <a:schemeClr val="tx1"/>
                </a:solidFill>
              </a:rPr>
              <a:t>192.168.1.0 /25</a:t>
            </a:r>
            <a:endParaRPr lang="es-MX" sz="12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7C3F30-5546-D30E-0AB9-D4BC26D95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783" y="1676400"/>
            <a:ext cx="6828817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82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7 CuadroTexto">
            <a:extLst>
              <a:ext uri="{FF2B5EF4-FFF2-40B4-BE49-F238E27FC236}">
                <a16:creationId xmlns:a16="http://schemas.microsoft.com/office/drawing/2014/main" id="{134ED542-4C7D-4B50-8C07-A5B19B10A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82264"/>
            <a:ext cx="10591800" cy="3857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Comandos para el Router</a:t>
            </a:r>
          </a:p>
          <a:p>
            <a:pPr>
              <a:lnSpc>
                <a:spcPct val="150000"/>
              </a:lnSpc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! Sección para crear las subinterfaces asociadas a cada VLAN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 g0/0.VID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encapsulation  dot1q  VID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ip add  DirIP  Msk</a:t>
            </a:r>
          </a:p>
          <a:p>
            <a:pPr>
              <a:lnSpc>
                <a:spcPct val="150000"/>
              </a:lnSpc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! Hay que levantar todas las subinterfaces (lógicas). Si levanto la interfaz física se levantan todas las subinterfaces.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 g0/0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no shut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s-MX" sz="1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6910A5E-3570-A45A-7F70-649DCA3C68F3}"/>
              </a:ext>
            </a:extLst>
          </p:cNvPr>
          <p:cNvSpPr txBox="1"/>
          <p:nvPr/>
        </p:nvSpPr>
        <p:spPr>
          <a:xfrm>
            <a:off x="3276600" y="160126"/>
            <a:ext cx="51644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VLANs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Ruteador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126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7 CuadroTexto">
            <a:extLst>
              <a:ext uri="{FF2B5EF4-FFF2-40B4-BE49-F238E27FC236}">
                <a16:creationId xmlns:a16="http://schemas.microsoft.com/office/drawing/2014/main" id="{134ED542-4C7D-4B50-8C07-A5B19B10A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54668"/>
            <a:ext cx="9448800" cy="1677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Pasos para configurar las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VLANs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en el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Crear la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base de datos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de las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VLANs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Asignar los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puertos de acceso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del switch a la VLAN correspondiente.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Definir el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puerto troncal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(puerto por el que va a salir el tráfico de las distintas VLANs). </a:t>
            </a:r>
            <a:endParaRPr lang="es-MX" sz="1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B4E578D-7BAF-4681-BF75-AC5FE3AD8971}"/>
              </a:ext>
            </a:extLst>
          </p:cNvPr>
          <p:cNvSpPr txBox="1"/>
          <p:nvPr/>
        </p:nvSpPr>
        <p:spPr>
          <a:xfrm>
            <a:off x="834271" y="2923903"/>
            <a:ext cx="8382000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Las subredes y los puertos del switch han sido divididos de la siguiente forma:</a:t>
            </a:r>
            <a:endParaRPr lang="es-ES" sz="16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967D43-4562-4C9A-BFA7-1485C888EFE6}"/>
              </a:ext>
            </a:extLst>
          </p:cNvPr>
          <p:cNvSpPr txBox="1"/>
          <p:nvPr/>
        </p:nvSpPr>
        <p:spPr>
          <a:xfrm>
            <a:off x="829558" y="5703332"/>
            <a:ext cx="612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vlan 1 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que es la</a:t>
            </a:r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nativa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, está creada siempre por default.</a:t>
            </a:r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lang="es-MX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5DA73BA-9C18-4089-BD14-C3684A905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396203"/>
              </p:ext>
            </p:extLst>
          </p:nvPr>
        </p:nvGraphicFramePr>
        <p:xfrm>
          <a:off x="952499" y="3630221"/>
          <a:ext cx="8610601" cy="182276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477293">
                  <a:extLst>
                    <a:ext uri="{9D8B030D-6E8A-4147-A177-3AD203B41FA5}">
                      <a16:colId xmlns:a16="http://schemas.microsoft.com/office/drawing/2014/main" val="3615906484"/>
                    </a:ext>
                  </a:extLst>
                </a:gridCol>
                <a:gridCol w="885544">
                  <a:extLst>
                    <a:ext uri="{9D8B030D-6E8A-4147-A177-3AD203B41FA5}">
                      <a16:colId xmlns:a16="http://schemas.microsoft.com/office/drawing/2014/main" val="56571631"/>
                    </a:ext>
                  </a:extLst>
                </a:gridCol>
                <a:gridCol w="1790064">
                  <a:extLst>
                    <a:ext uri="{9D8B030D-6E8A-4147-A177-3AD203B41FA5}">
                      <a16:colId xmlns:a16="http://schemas.microsoft.com/office/drawing/2014/main" val="1977572645"/>
                    </a:ext>
                  </a:extLst>
                </a:gridCol>
                <a:gridCol w="2125237">
                  <a:extLst>
                    <a:ext uri="{9D8B030D-6E8A-4147-A177-3AD203B41FA5}">
                      <a16:colId xmlns:a16="http://schemas.microsoft.com/office/drawing/2014/main" val="912248757"/>
                    </a:ext>
                  </a:extLst>
                </a:gridCol>
                <a:gridCol w="2332463">
                  <a:extLst>
                    <a:ext uri="{9D8B030D-6E8A-4147-A177-3AD203B41FA5}">
                      <a16:colId xmlns:a16="http://schemas.microsoft.com/office/drawing/2014/main" val="445826148"/>
                    </a:ext>
                  </a:extLst>
                </a:gridCol>
              </a:tblGrid>
              <a:tr h="369886">
                <a:tc>
                  <a:txBody>
                    <a:bodyPr/>
                    <a:lstStyle/>
                    <a:p>
                      <a:pPr marL="1905"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Segmento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VLAN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Puertos</a:t>
                      </a:r>
                      <a:r>
                        <a:rPr lang="es-MX" sz="1400" spc="12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asignados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Dirección de subred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Máscara</a:t>
                      </a:r>
                      <a:r>
                        <a:rPr lang="es-MX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</a:t>
                      </a:r>
                      <a:r>
                        <a:rPr lang="es-MX" sz="1400" spc="11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subred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1022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Managers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F0/2-6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192.168.1.128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255.255.255.240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077248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Users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F0/7-19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192.168.1.0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255.255.255.128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31252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Services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F0/20-24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192.168.1.144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255.255.255.248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322335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Native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 aplica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marR="0" lvl="0" indent="0" algn="ctr" defTabSz="91440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192.168.1.152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255.255.255.248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639124"/>
                  </a:ext>
                </a:extLst>
              </a:tr>
            </a:tbl>
          </a:graphicData>
        </a:graphic>
      </p:graphicFrame>
      <p:sp>
        <p:nvSpPr>
          <p:cNvPr id="3" name="object 2">
            <a:extLst>
              <a:ext uri="{FF2B5EF4-FFF2-40B4-BE49-F238E27FC236}">
                <a16:creationId xmlns:a16="http://schemas.microsoft.com/office/drawing/2014/main" id="{971A254D-C5FF-A9A5-062C-50421163077C}"/>
              </a:ext>
            </a:extLst>
          </p:cNvPr>
          <p:cNvSpPr txBox="1"/>
          <p:nvPr/>
        </p:nvSpPr>
        <p:spPr>
          <a:xfrm>
            <a:off x="3276600" y="160126"/>
            <a:ext cx="51644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VLANs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Switch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564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3772" y="381000"/>
            <a:ext cx="51644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VLANs 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Comandos para el Switch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7 CuadroTexto">
            <a:extLst>
              <a:ext uri="{FF2B5EF4-FFF2-40B4-BE49-F238E27FC236}">
                <a16:creationId xmlns:a16="http://schemas.microsoft.com/office/drawing/2014/main" id="{6003FC0E-25B6-447D-86B1-50C83DB3D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564602"/>
            <a:ext cx="6248400" cy="3447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Creación de las VLANs con nombre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vlan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VID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name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NombreVLAN-asociadaVID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exit</a:t>
            </a:r>
          </a:p>
          <a:p>
            <a:pPr>
              <a:lnSpc>
                <a:spcPct val="150000"/>
              </a:lnSpc>
            </a:pP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Asignación de los </a:t>
            </a:r>
            <a:r>
              <a:rPr lang="es-ES" sz="1600" b="1" u="sng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puertos de acceso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cada VLAN  VID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interface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Nombre_Interfaz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switchport mode 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switchport access vlan 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VID</a:t>
            </a:r>
            <a:endParaRPr lang="es-MX" sz="1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7 CuadroTexto">
            <a:extLst>
              <a:ext uri="{FF2B5EF4-FFF2-40B4-BE49-F238E27FC236}">
                <a16:creationId xmlns:a16="http://schemas.microsoft.com/office/drawing/2014/main" id="{7588CF2B-42DE-4476-B511-687DB7E19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3488205"/>
            <a:ext cx="3810000" cy="1524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Definición del </a:t>
            </a:r>
            <a:r>
              <a:rPr lang="es-ES" sz="1600" b="1" u="sng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puerto troncal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interface 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Nombre_Interfaz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switchport mode 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trunk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no shut</a:t>
            </a:r>
            <a:endParaRPr lang="es-MX" sz="1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18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7800" y="-76200"/>
            <a:ext cx="8892480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rutas por default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D99F20F-671A-41D1-8D5A-1D575E79056A}"/>
              </a:ext>
            </a:extLst>
          </p:cNvPr>
          <p:cNvSpPr txBox="1"/>
          <p:nvPr/>
        </p:nvSpPr>
        <p:spPr>
          <a:xfrm>
            <a:off x="228600" y="914400"/>
            <a:ext cx="11201400" cy="2047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la IP de la interface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s0/0/1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RFrontera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se requiere configurar un protocolo de ruteo, el ruteador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RFrontera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está configurado para trabajar como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router on stick 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(una sola interfaz física se encarga de enrutar los paquetes de varias VLANs). Solamente de</a:t>
            </a:r>
            <a:r>
              <a:rPr lang="es-E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bemos saber cómo el tráfico interno va a salir al exterior.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ES" sz="1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s-E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stablecer una</a:t>
            </a:r>
            <a:r>
              <a:rPr lang="es-ES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ruta por default </a:t>
            </a:r>
            <a:r>
              <a:rPr lang="es-E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 se encargue de sacar el tráfico a Internet. </a:t>
            </a:r>
            <a:endParaRPr lang="es-ES_tradnl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FEB6DB2-BC53-41ED-8E85-70CA00123834}"/>
              </a:ext>
            </a:extLst>
          </p:cNvPr>
          <p:cNvSpPr txBox="1"/>
          <p:nvPr/>
        </p:nvSpPr>
        <p:spPr>
          <a:xfrm>
            <a:off x="647700" y="3006141"/>
            <a:ext cx="3810000" cy="3437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Cuando definimos </a:t>
            </a:r>
            <a:r>
              <a:rPr lang="es-ES" sz="14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nuestra interface de salida (s0/0/1) </a:t>
            </a: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tenemos una</a:t>
            </a:r>
            <a:r>
              <a:rPr lang="es-ES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ruta por default directamente conectada</a:t>
            </a:r>
            <a:endParaRPr lang="es-MX" sz="14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 utilizamos la </a:t>
            </a:r>
            <a:r>
              <a:rPr lang="es-ES" sz="14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dirección IP del siguiente router</a:t>
            </a: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tenemos una </a:t>
            </a:r>
            <a:r>
              <a:rPr lang="es-ES" sz="1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ruta por default recursiva. </a:t>
            </a:r>
            <a:endParaRPr lang="es-MX" sz="14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 concatenamos </a:t>
            </a:r>
            <a:r>
              <a:rPr lang="es-ES" sz="14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 interface de salida de nuestro router y la IP del siguiente router</a:t>
            </a: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tenemos una </a:t>
            </a:r>
            <a:r>
              <a:rPr lang="es-ES" sz="1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ruta por default completamente conectada</a:t>
            </a:r>
            <a:r>
              <a:rPr lang="es-ES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s-ES_tradnl" sz="1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6F994E-0F35-44F5-A9CB-1E1130672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311" y="3089896"/>
            <a:ext cx="6597989" cy="327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278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7800" y="0"/>
            <a:ext cx="8892480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rutas estáticas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D99F20F-671A-41D1-8D5A-1D575E79056A}"/>
              </a:ext>
            </a:extLst>
          </p:cNvPr>
          <p:cNvSpPr txBox="1"/>
          <p:nvPr/>
        </p:nvSpPr>
        <p:spPr>
          <a:xfrm>
            <a:off x="838200" y="1219200"/>
            <a:ext cx="11201400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en el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ISP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las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rutas estáticas 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necesarias para conectar el tráfico de Internet con la red local.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36F73B-FC93-81EC-414C-255EAB61D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905000"/>
            <a:ext cx="830150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871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7 CuadroTexto"/>
          <p:cNvSpPr txBox="1">
            <a:spLocks noChangeArrowheads="1"/>
          </p:cNvSpPr>
          <p:nvPr/>
        </p:nvSpPr>
        <p:spPr bwMode="auto">
          <a:xfrm>
            <a:off x="685800" y="914400"/>
            <a:ext cx="10591800" cy="2444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lnSpc>
                <a:spcPts val="25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la conectividad interna:</a:t>
            </a:r>
          </a:p>
          <a:p>
            <a:pPr marL="719138" lvl="1" indent="-273050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Conexión entre dispositivos que pertenecen a la misma VLAN.</a:t>
            </a:r>
          </a:p>
          <a:p>
            <a:pPr marL="719138" lvl="1" indent="-273050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Conexión entre dispositivos que pertenecen a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VLANs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distintas (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interconexión entre 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VLANs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ts val="25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la conectividad hacia el exterior (servidor CNN).</a:t>
            </a:r>
          </a:p>
          <a:p>
            <a:pPr marL="342900" indent="-342900">
              <a:lnSpc>
                <a:spcPts val="25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la conectividad por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telnet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servidor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CNN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hacia todas las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los switches. </a:t>
            </a:r>
          </a:p>
          <a:p>
            <a:pPr marL="342900" indent="-342900">
              <a:lnSpc>
                <a:spcPts val="25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la conectividad por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servidor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CNN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hacia el 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ServerLocal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524000" y="76200"/>
            <a:ext cx="8892480" cy="8382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Pruebas de conectividad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F6BCE3-CFFE-1F56-44EF-7E4988D52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497" y="3348234"/>
            <a:ext cx="6858000" cy="339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85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4888</TotalTime>
  <Words>857</Words>
  <Application>Microsoft Office PowerPoint</Application>
  <PresentationFormat>Panorámica</PresentationFormat>
  <Paragraphs>130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Dom Casual</vt:lpstr>
      <vt:lpstr>Symbol</vt:lpstr>
      <vt:lpstr>Office Theme</vt:lpstr>
      <vt:lpstr>TC 3003B  Redes de área amplia</vt:lpstr>
      <vt:lpstr>Caso “Pisos y más”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José Oscar Hernández Pérez</dc:creator>
  <cp:lastModifiedBy>Lizethe Pérez Fuertes</cp:lastModifiedBy>
  <cp:revision>106</cp:revision>
  <cp:lastPrinted>2023-11-21T15:56:19Z</cp:lastPrinted>
  <dcterms:created xsi:type="dcterms:W3CDTF">2021-02-01T12:33:05Z</dcterms:created>
  <dcterms:modified xsi:type="dcterms:W3CDTF">2026-03-25T14:36:53Z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2020-11-04T00:00:00Z</vt:filetime>
  </property>
  <property fmtid="{D5CDD505-2E9C-101B-9397-08002B2CF9AE}" pid="3" name="LastSaved">
    <vt:filetime>2021-02-01T00:00:00Z</vt:filetime>
  </property>
</Properties>
</file>