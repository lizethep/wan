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461" r:id="rId3"/>
    <p:sldId id="303" r:id="rId4"/>
    <p:sldId id="277" r:id="rId5"/>
    <p:sldId id="261" r:id="rId6"/>
    <p:sldId id="275" r:id="rId7"/>
    <p:sldId id="462" r:id="rId8"/>
    <p:sldId id="278" r:id="rId9"/>
    <p:sldId id="270" r:id="rId10"/>
    <p:sldId id="279" r:id="rId11"/>
    <p:sldId id="281" r:id="rId12"/>
    <p:sldId id="282" r:id="rId13"/>
    <p:sldId id="304" r:id="rId14"/>
    <p:sldId id="463" r:id="rId15"/>
    <p:sldId id="464" r:id="rId16"/>
    <p:sldId id="305" r:id="rId17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11609-77FB-4981-9021-30B75AC5B797}" v="1" dt="2026-03-23T19:29:53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19" autoAdjust="0"/>
  </p:normalViewPr>
  <p:slideViewPr>
    <p:cSldViewPr>
      <p:cViewPr varScale="1">
        <p:scale>
          <a:sx n="71" d="100"/>
          <a:sy n="71" d="100"/>
        </p:scale>
        <p:origin x="113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3-23T19:29:53.127" v="0" actId="20577"/>
      <pc:docMkLst>
        <pc:docMk/>
      </pc:docMkLst>
      <pc:sldChg chg="modSp">
        <pc:chgData name="Lizethe Pérez Fuertes" userId="4ae9ef87-2a7d-42f8-8dfa-0a501a9e2ff4" providerId="ADAL" clId="{FDDD45CB-1330-4033-A842-3D2746AFF7C7}" dt="2026-03-23T19:29:53.127" v="0" actId="20577"/>
        <pc:sldMkLst>
          <pc:docMk/>
          <pc:sldMk cId="1515272197" sldId="304"/>
        </pc:sldMkLst>
        <pc:spChg chg="mod">
          <ac:chgData name="Lizethe Pérez Fuertes" userId="4ae9ef87-2a7d-42f8-8dfa-0a501a9e2ff4" providerId="ADAL" clId="{FDDD45CB-1330-4033-A842-3D2746AFF7C7}" dt="2026-03-23T19:29:53.127" v="0" actId="20577"/>
          <ac:spMkLst>
            <pc:docMk/>
            <pc:sldMk cId="1515272197" sldId="304"/>
            <ac:spMk id="7" creationId="{C762E2C6-F53E-DB20-39B8-7C4D866D052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98361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54867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7235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616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9905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7670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07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23/03/2026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5616" y="2276872"/>
            <a:ext cx="6512768" cy="7920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Direccionamiento IPv4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0B08534-A09F-1500-A8A9-F7AE711BF2D0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pic>
        <p:nvPicPr>
          <p:cNvPr id="9" name="Imagen 8" descr="Imagen que contiene dibujo, pelota, azul&#10;&#10;Descripción generada automáticamente">
            <a:extLst>
              <a:ext uri="{FF2B5EF4-FFF2-40B4-BE49-F238E27FC236}">
                <a16:creationId xmlns:a16="http://schemas.microsoft.com/office/drawing/2014/main" id="{5C61F4C1-661C-2AEA-16FD-8FFBD7469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494" y="3140968"/>
            <a:ext cx="4572000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50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132856"/>
            <a:ext cx="5472608" cy="2340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8159" y="54868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  <a:p>
            <a:pPr>
              <a:defRPr/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  <a:endParaRPr lang="es-ES_tradnl" sz="2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A9D2FF2-E471-4BB3-B671-8A4A1EA4B551}"/>
              </a:ext>
            </a:extLst>
          </p:cNvPr>
          <p:cNvGraphicFramePr>
            <a:graphicFrameLocks noGrp="1"/>
          </p:cNvGraphicFramePr>
          <p:nvPr/>
        </p:nvGraphicFramePr>
        <p:xfrm>
          <a:off x="6265437" y="2167718"/>
          <a:ext cx="1834955" cy="562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562865">
                <a:tc>
                  <a:txBody>
                    <a:bodyPr/>
                    <a:lstStyle/>
                    <a:p>
                      <a:pPr marL="85725" marR="78105" indent="3175" algn="ctr">
                        <a:lnSpc>
                          <a:spcPts val="2300"/>
                        </a:lnSpc>
                      </a:pPr>
                      <a:r>
                        <a:rPr lang="es-ES" sz="1600" b="1" dirty="0">
                          <a:solidFill>
                            <a:srgbClr val="FF0000"/>
                          </a:solidFill>
                          <a:latin typeface="+mn-lt"/>
                          <a:cs typeface="Times New Roman"/>
                        </a:rPr>
                        <a:t>Máscara de subred</a:t>
                      </a:r>
                      <a:endParaRPr sz="1600" dirty="0">
                        <a:solidFill>
                          <a:srgbClr val="FF000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571001"/>
                  </a:ext>
                </a:extLst>
              </a:tr>
            </a:tbl>
          </a:graphicData>
        </a:graphic>
      </p:graphicFrame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5B1688EE-BCE1-428A-8728-936AF6573562}"/>
              </a:ext>
            </a:extLst>
          </p:cNvPr>
          <p:cNvGraphicFramePr>
            <a:graphicFrameLocks noGrp="1"/>
          </p:cNvGraphicFramePr>
          <p:nvPr/>
        </p:nvGraphicFramePr>
        <p:xfrm>
          <a:off x="6265436" y="2990988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255.0.0.0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498E4EA1-2253-4C58-ABE8-F54C87665BE0}"/>
              </a:ext>
            </a:extLst>
          </p:cNvPr>
          <p:cNvGraphicFramePr>
            <a:graphicFrameLocks noGrp="1"/>
          </p:cNvGraphicFramePr>
          <p:nvPr/>
        </p:nvGraphicFramePr>
        <p:xfrm>
          <a:off x="6264604" y="3482435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255.255.0.0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CC60CB33-F1CE-4345-9AAD-DDFBD5B9E30E}"/>
              </a:ext>
            </a:extLst>
          </p:cNvPr>
          <p:cNvGraphicFramePr>
            <a:graphicFrameLocks noGrp="1"/>
          </p:cNvGraphicFramePr>
          <p:nvPr/>
        </p:nvGraphicFramePr>
        <p:xfrm>
          <a:off x="6265437" y="4065144"/>
          <a:ext cx="1834955" cy="3339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4955">
                  <a:extLst>
                    <a:ext uri="{9D8B030D-6E8A-4147-A177-3AD203B41FA5}">
                      <a16:colId xmlns:a16="http://schemas.microsoft.com/office/drawing/2014/main" val="891007143"/>
                    </a:ext>
                  </a:extLst>
                </a:gridCol>
              </a:tblGrid>
              <a:tr h="333961">
                <a:tc>
                  <a:txBody>
                    <a:bodyPr/>
                    <a:lstStyle/>
                    <a:p>
                      <a:pPr marL="358775" indent="0" algn="l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+mn-lt"/>
                          <a:cs typeface="Times New Roman"/>
                        </a:rPr>
                        <a:t>255.255.255.0</a:t>
                      </a:r>
                      <a:endParaRPr sz="16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31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523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3417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5D6007-616A-4287-B29E-A3D2168D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420888"/>
            <a:ext cx="3248025" cy="2524125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3C7349E8-C914-42B8-9483-F3A528EFC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85" y="1761474"/>
            <a:ext cx="3096344" cy="43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Bytes para Network</a:t>
            </a:r>
            <a:endParaRPr lang="es-MX" altLang="es-MX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AC801020-40F2-45B1-84D8-D7B2F0614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1214" y="1760772"/>
            <a:ext cx="4991265" cy="433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Rango de cada clase en binario</a:t>
            </a:r>
            <a:endParaRPr lang="es-MX" altLang="es-MX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6" name="Tabla 13">
            <a:extLst>
              <a:ext uri="{FF2B5EF4-FFF2-40B4-BE49-F238E27FC236}">
                <a16:creationId xmlns:a16="http://schemas.microsoft.com/office/drawing/2014/main" id="{8B1FBD4D-C81A-432F-92E6-26ECB9640382}"/>
              </a:ext>
            </a:extLst>
          </p:cNvPr>
          <p:cNvGraphicFramePr>
            <a:graphicFrameLocks noGrp="1"/>
          </p:cNvGraphicFramePr>
          <p:nvPr/>
        </p:nvGraphicFramePr>
        <p:xfrm>
          <a:off x="4427984" y="2539950"/>
          <a:ext cx="403244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836254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37304507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763344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860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B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70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95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2400" b="1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s-MX" sz="2400" b="1" i="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1110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410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0000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b="1" i="0" dirty="0">
                          <a:solidFill>
                            <a:srgbClr val="FF0000"/>
                          </a:solidFill>
                        </a:rPr>
                        <a:t>1111</a:t>
                      </a:r>
                      <a:r>
                        <a:rPr lang="es-ES" sz="24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1111</a:t>
                      </a:r>
                      <a:endParaRPr lang="es-MX" sz="2400" b="1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240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9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26794" y="1410126"/>
            <a:ext cx="567372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cs typeface="Times New Roman"/>
              </a:rPr>
              <a:t>Cinco</a:t>
            </a:r>
            <a:r>
              <a:rPr sz="2400" b="1" spc="10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clases</a:t>
            </a:r>
            <a:r>
              <a:rPr sz="2400" b="1" spc="-10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di</a:t>
            </a:r>
            <a:r>
              <a:rPr sz="2400" b="1" spc="-10" dirty="0">
                <a:cs typeface="Times New Roman"/>
              </a:rPr>
              <a:t>s</a:t>
            </a:r>
            <a:r>
              <a:rPr sz="2400" b="1" spc="-15" dirty="0">
                <a:cs typeface="Times New Roman"/>
              </a:rPr>
              <a:t>eñadas</a:t>
            </a:r>
            <a:r>
              <a:rPr sz="2400" b="1" spc="-10" dirty="0">
                <a:cs typeface="Times New Roman"/>
              </a:rPr>
              <a:t> :</a:t>
            </a:r>
            <a:r>
              <a:rPr sz="2400" b="1" spc="-14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A,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B,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C,</a:t>
            </a:r>
            <a:r>
              <a:rPr sz="2400" b="1" spc="-5" dirty="0">
                <a:cs typeface="Times New Roman"/>
              </a:rPr>
              <a:t> </a:t>
            </a:r>
            <a:r>
              <a:rPr sz="2400" b="1" spc="-15" dirty="0">
                <a:cs typeface="Times New Roman"/>
              </a:rPr>
              <a:t>D,</a:t>
            </a:r>
            <a:r>
              <a:rPr sz="2400" b="1" spc="15" dirty="0">
                <a:cs typeface="Times New Roman"/>
              </a:rPr>
              <a:t> </a:t>
            </a:r>
            <a:r>
              <a:rPr sz="2400" b="1" spc="-20" dirty="0">
                <a:cs typeface="Times New Roman"/>
              </a:rPr>
              <a:t>E</a:t>
            </a:r>
            <a:endParaRPr sz="2400" dirty="0"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2432" y="1380004"/>
            <a:ext cx="457200" cy="46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256141" y="5041654"/>
            <a:ext cx="1773718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ctr">
              <a:lnSpc>
                <a:spcPct val="100000"/>
              </a:lnSpc>
            </a:pPr>
            <a:r>
              <a:rPr sz="2000" b="1" dirty="0">
                <a:cs typeface="Times New Roman"/>
              </a:rPr>
              <a:t>Mult</a:t>
            </a:r>
            <a:r>
              <a:rPr sz="2000" b="1" spc="5" dirty="0">
                <a:cs typeface="Times New Roman"/>
              </a:rPr>
              <a:t>i</a:t>
            </a:r>
            <a:r>
              <a:rPr sz="2000" b="1" dirty="0">
                <a:cs typeface="Times New Roman"/>
              </a:rPr>
              <a:t>cast</a:t>
            </a:r>
            <a:endParaRPr sz="2000" dirty="0"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"/>
              </a:spcBef>
            </a:pPr>
            <a:endParaRPr sz="2000" dirty="0"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dirty="0">
                <a:cs typeface="Times New Roman"/>
              </a:rPr>
              <a:t>I</a:t>
            </a:r>
            <a:r>
              <a:rPr sz="2000" b="1" spc="-10" dirty="0">
                <a:cs typeface="Times New Roman"/>
              </a:rPr>
              <a:t>n</a:t>
            </a:r>
            <a:r>
              <a:rPr sz="2000" b="1" dirty="0">
                <a:cs typeface="Times New Roman"/>
              </a:rPr>
              <a:t>vestiga</a:t>
            </a:r>
            <a:r>
              <a:rPr sz="2000" b="1" spc="5" dirty="0">
                <a:cs typeface="Times New Roman"/>
              </a:rPr>
              <a:t>c</a:t>
            </a:r>
            <a:r>
              <a:rPr sz="2000" b="1" dirty="0">
                <a:cs typeface="Times New Roman"/>
              </a:rPr>
              <a:t>ión</a:t>
            </a:r>
            <a:endParaRPr sz="2000" dirty="0"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916582"/>
              </p:ext>
            </p:extLst>
          </p:nvPr>
        </p:nvGraphicFramePr>
        <p:xfrm>
          <a:off x="2190650" y="2111481"/>
          <a:ext cx="5679579" cy="40538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3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2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1465"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Clase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4615" marR="88900" indent="-4445" algn="ctr">
                        <a:lnSpc>
                          <a:spcPct val="957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Bytes rese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vados p</a:t>
                      </a:r>
                      <a:r>
                        <a:rPr sz="2000" b="1" spc="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o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spc="-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l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</a:t>
                      </a:r>
                      <a:r>
                        <a:rPr sz="2000" b="1" spc="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l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ase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marR="92710" algn="ctr">
                        <a:lnSpc>
                          <a:spcPct val="957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Bytes</a:t>
                      </a:r>
                      <a:r>
                        <a:rPr sz="2000" b="1" spc="-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pa</a:t>
                      </a:r>
                      <a:r>
                        <a:rPr sz="2000" b="1" spc="-10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a identificar Ho</a:t>
                      </a:r>
                      <a:r>
                        <a:rPr sz="2000" b="1" spc="-15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s</a:t>
                      </a:r>
                      <a:r>
                        <a:rPr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ts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78105" indent="3175" algn="ctr">
                        <a:lnSpc>
                          <a:spcPts val="2300"/>
                        </a:lnSpc>
                      </a:pPr>
                      <a:r>
                        <a:rPr lang="es-ES" sz="2000" b="1" dirty="0">
                          <a:solidFill>
                            <a:srgbClr val="0070C0"/>
                          </a:solidFill>
                          <a:latin typeface="+mn-lt"/>
                          <a:cs typeface="Times New Roman"/>
                        </a:rPr>
                        <a:t>Máscara de clase (subred)</a:t>
                      </a:r>
                      <a:endParaRPr sz="2000" dirty="0">
                        <a:solidFill>
                          <a:srgbClr val="0070C0"/>
                        </a:solidFill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A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1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255.0.0.0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B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5445">
                        <a:lnSpc>
                          <a:spcPct val="100000"/>
                        </a:lnSpc>
                      </a:pPr>
                      <a:r>
                        <a:rPr lang="es-ES" sz="2000" b="1" spc="-5" dirty="0">
                          <a:latin typeface="+mn-lt"/>
                          <a:cs typeface="Times New Roman"/>
                        </a:rPr>
                        <a:t>255.255.0.0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C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3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1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255.255.255.0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D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4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No tiene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46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E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Times New Roman"/>
                        </a:rPr>
                        <a:t>4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1">
                      <a:solidFill>
                        <a:srgbClr val="000000"/>
                      </a:solidFill>
                      <a:prstDash val="solid"/>
                    </a:lnL>
                    <a:lnR w="7350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0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Times New Roman"/>
                        </a:rPr>
                        <a:t>No tiene</a:t>
                      </a:r>
                      <a:endParaRPr lang="es-ES"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7350">
                      <a:solidFill>
                        <a:srgbClr val="000000"/>
                      </a:solidFill>
                      <a:prstDash val="solid"/>
                    </a:lnL>
                    <a:lnR w="7351">
                      <a:solidFill>
                        <a:srgbClr val="000000"/>
                      </a:solidFill>
                      <a:prstDash val="solid"/>
                    </a:lnR>
                    <a:lnT w="7357">
                      <a:solidFill>
                        <a:srgbClr val="000000"/>
                      </a:solidFill>
                      <a:prstDash val="solid"/>
                    </a:lnT>
                    <a:lnB w="7357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A5E448B3-6A4D-424B-8A7A-7BB678DFA6C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15 CuadroTexto"/>
          <p:cNvSpPr txBox="1">
            <a:spLocks noChangeArrowheads="1"/>
          </p:cNvSpPr>
          <p:nvPr/>
        </p:nvSpPr>
        <p:spPr bwMode="auto">
          <a:xfrm>
            <a:off x="2771800" y="1115452"/>
            <a:ext cx="389825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</a:p>
        </p:txBody>
      </p:sp>
      <p:pic>
        <p:nvPicPr>
          <p:cNvPr id="32772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60848"/>
            <a:ext cx="7858125" cy="349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72008" y="23110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</p:spTree>
    <p:extLst>
      <p:ext uri="{BB962C8B-B14F-4D97-AF65-F5344CB8AC3E}">
        <p14:creationId xmlns:p14="http://schemas.microsoft.com/office/powerpoint/2010/main" val="250374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4016" y="44624"/>
            <a:ext cx="8783961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6623" y="1002958"/>
            <a:ext cx="1719114" cy="427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 D</a:t>
            </a:r>
            <a:endParaRPr lang="es-MX" altLang="es-MX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5602" name="Picture 2" descr="Las direcciones de clase 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2871217"/>
            <a:ext cx="23812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67544" y="1565639"/>
            <a:ext cx="8208912" cy="7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Estas direcciones IP están reservadas para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multicast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 (multidifusión). Los datos de la multidifusión no están destinados para un host en particular.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61895" y="2367161"/>
            <a:ext cx="846608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primeros cuatro bits del primer octeto se establecen 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1110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dando una serie de: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42802" y="3374305"/>
            <a:ext cx="8111692" cy="102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resto de los bits se utilizan para identificar el grupo de computadoras al que el mensaje del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multicast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está dirigido.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El rango de direcciones IP va de 224.0.0.0 a 239.255.255.255 y no tienen máscara de subred. 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395536" y="4996314"/>
            <a:ext cx="8280921" cy="1374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Estas direcciones IP están reservada para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fines experimentales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355600" marR="0" lvl="0" indent="-355600" algn="just" eaLnBrk="0" fontAlgn="base" hangingPunct="0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Los primeros cuatro bits del primer octeto se establecen 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1111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, por lo que las direcciones IP van de 240.0.0.0 a 255.255.255.254 y tampoco tienen máscara de subred. </a:t>
            </a: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395537" y="4509120"/>
            <a:ext cx="1719114" cy="427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eaLnBrk="0" fontAlgn="base" hangingPunct="0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MX" altLang="es-MX" sz="1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Clase E</a:t>
            </a:r>
            <a:endParaRPr lang="es-MX" altLang="es-MX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90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8193087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DD0A43D-112C-4A45-8BC3-78D94F341CEF}"/>
              </a:ext>
            </a:extLst>
          </p:cNvPr>
          <p:cNvSpPr txBox="1">
            <a:spLocks noChangeArrowheads="1"/>
          </p:cNvSpPr>
          <p:nvPr/>
        </p:nvSpPr>
        <p:spPr>
          <a:xfrm>
            <a:off x="100525" y="3417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Direccionamiento IPv4</a:t>
            </a:r>
          </a:p>
          <a:p>
            <a:pPr>
              <a:defRPr/>
            </a:pP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Clases de redes</a:t>
            </a:r>
            <a:endParaRPr lang="es-ES_tradnl" sz="20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807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35695" y="1543858"/>
            <a:ext cx="583264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1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perten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b="1" spc="-4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400" b="1" spc="-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3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red?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27906" y="2614021"/>
          <a:ext cx="4848225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ección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IPv4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Clase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172. 16. 0. 0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225. 255. 254. 245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A5025F5-7064-40D8-BCFF-4572274632F8}"/>
              </a:ext>
            </a:extLst>
          </p:cNvPr>
          <p:cNvSpPr txBox="1">
            <a:spLocks noChangeArrowheads="1"/>
          </p:cNvSpPr>
          <p:nvPr/>
        </p:nvSpPr>
        <p:spPr>
          <a:xfrm>
            <a:off x="144016" y="197768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6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 de clase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F4536-84F0-4343-B7F8-DCAA1B7A2EED}"/>
              </a:ext>
            </a:extLst>
          </p:cNvPr>
          <p:cNvSpPr txBox="1"/>
          <p:nvPr/>
        </p:nvSpPr>
        <p:spPr>
          <a:xfrm>
            <a:off x="2267743" y="5688720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primer byte nos dice la clase a la que pertenece.</a:t>
            </a:r>
            <a:endParaRPr lang="es-MX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226098"/>
            <a:ext cx="762254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Direcciones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 b</a:t>
            </a: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roadcast</a:t>
            </a:r>
            <a:endParaRPr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38" y="1242329"/>
            <a:ext cx="762254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spc="-5" dirty="0">
                <a:cs typeface="Times New Roman"/>
              </a:rPr>
              <a:t>L</a:t>
            </a:r>
            <a:r>
              <a:rPr sz="2000" dirty="0">
                <a:cs typeface="Times New Roman"/>
              </a:rPr>
              <a:t>a </a:t>
            </a:r>
            <a:r>
              <a:rPr sz="2000" spc="-20" dirty="0">
                <a:cs typeface="Times New Roman"/>
              </a:rPr>
              <a:t> 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irec</a:t>
            </a:r>
            <a:r>
              <a:rPr sz="2000" b="1" spc="-10" dirty="0">
                <a:cs typeface="Times New Roman"/>
              </a:rPr>
              <a:t>c</a:t>
            </a:r>
            <a:r>
              <a:rPr sz="2000" b="1" dirty="0">
                <a:cs typeface="Times New Roman"/>
              </a:rPr>
              <a:t>i</a:t>
            </a:r>
            <a:r>
              <a:rPr sz="2000" b="1" spc="-10" dirty="0">
                <a:cs typeface="Times New Roman"/>
              </a:rPr>
              <a:t>ó</a:t>
            </a:r>
            <a:r>
              <a:rPr sz="2000" b="1" dirty="0">
                <a:cs typeface="Times New Roman"/>
              </a:rPr>
              <a:t>n </a:t>
            </a:r>
            <a:r>
              <a:rPr sz="2000" b="1" spc="-25" dirty="0">
                <a:cs typeface="Times New Roman"/>
              </a:rPr>
              <a:t> </a:t>
            </a:r>
            <a:r>
              <a:rPr sz="2000" b="1" dirty="0">
                <a:cs typeface="Times New Roman"/>
              </a:rPr>
              <a:t>broa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cast </a:t>
            </a:r>
            <a:r>
              <a:rPr sz="2000" b="1" spc="-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</a:t>
            </a:r>
            <a:r>
              <a:rPr sz="2000" spc="-1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irec</a:t>
            </a:r>
            <a:r>
              <a:rPr sz="2000" spc="-10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ión 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IPv4 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for</a:t>
            </a:r>
            <a:r>
              <a:rPr sz="2000" spc="-25" dirty="0">
                <a:cs typeface="Times New Roman"/>
              </a:rPr>
              <a:t>m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al </a:t>
            </a:r>
            <a:r>
              <a:rPr sz="2000" dirty="0">
                <a:cs typeface="Times New Roman"/>
              </a:rPr>
              <a:t>cop</a:t>
            </a:r>
            <a:r>
              <a:rPr sz="2000" spc="-10" dirty="0">
                <a:cs typeface="Times New Roman"/>
              </a:rPr>
              <a:t>i</a:t>
            </a:r>
            <a:r>
              <a:rPr sz="2000" dirty="0">
                <a:cs typeface="Times New Roman"/>
              </a:rPr>
              <a:t>a</a:t>
            </a:r>
            <a:r>
              <a:rPr sz="2000" spc="-95" dirty="0">
                <a:cs typeface="Times New Roman"/>
              </a:rPr>
              <a:t>r</a:t>
            </a:r>
            <a:r>
              <a:rPr sz="2000" dirty="0">
                <a:cs typeface="Times New Roman"/>
              </a:rPr>
              <a:t>, de</a:t>
            </a:r>
            <a:r>
              <a:rPr sz="2000" spc="-15" dirty="0">
                <a:cs typeface="Times New Roman"/>
              </a:rPr>
              <a:t>p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ndiendo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lase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q</a:t>
            </a:r>
            <a:r>
              <a:rPr sz="2000" spc="-15" dirty="0">
                <a:cs typeface="Times New Roman"/>
              </a:rPr>
              <a:t>u</a:t>
            </a:r>
            <a:r>
              <a:rPr sz="2000" dirty="0">
                <a:cs typeface="Times New Roman"/>
              </a:rPr>
              <a:t>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perten</a:t>
            </a:r>
            <a:r>
              <a:rPr sz="2000" spc="-1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ce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direc</a:t>
            </a:r>
            <a:r>
              <a:rPr sz="2000" spc="-15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ión I</a:t>
            </a:r>
            <a:r>
              <a:rPr sz="2000" spc="-280" dirty="0">
                <a:cs typeface="Times New Roman"/>
              </a:rPr>
              <a:t>P</a:t>
            </a:r>
            <a:r>
              <a:rPr sz="2000" dirty="0">
                <a:cs typeface="Times New Roman"/>
              </a:rPr>
              <a:t>, los</a:t>
            </a:r>
            <a:r>
              <a:rPr sz="2000" spc="6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valores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65" dirty="0"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Bytes</a:t>
            </a:r>
            <a:r>
              <a:rPr sz="2000" b="1" spc="6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de</a:t>
            </a:r>
            <a:r>
              <a:rPr sz="2000" b="1" spc="7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reser</a:t>
            </a:r>
            <a:r>
              <a:rPr sz="2000" b="1" spc="-10" dirty="0">
                <a:highlight>
                  <a:srgbClr val="FFFF00"/>
                </a:highlight>
                <a:cs typeface="Times New Roman"/>
              </a:rPr>
              <a:t>v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a</a:t>
            </a:r>
            <a:r>
              <a:rPr sz="2000" b="1" spc="75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dirty="0">
                <a:cs typeface="Times New Roman"/>
              </a:rPr>
              <a:t>y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s</a:t>
            </a:r>
            <a:r>
              <a:rPr sz="2000" dirty="0">
                <a:cs typeface="Times New Roman"/>
              </a:rPr>
              <a:t>ignar</a:t>
            </a:r>
            <a:r>
              <a:rPr sz="2000" spc="7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l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v</a:t>
            </a:r>
            <a:r>
              <a:rPr sz="2000" dirty="0">
                <a:cs typeface="Times New Roman"/>
              </a:rPr>
              <a:t>alor</a:t>
            </a:r>
            <a:r>
              <a:rPr sz="2000" spc="75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7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255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 los</a:t>
            </a:r>
            <a:r>
              <a:rPr sz="2000" spc="-5" dirty="0">
                <a:cs typeface="Times New Roman"/>
              </a:rPr>
              <a:t> </a:t>
            </a:r>
            <a:r>
              <a:rPr lang="es-ES" sz="2000" spc="-5" dirty="0">
                <a:cs typeface="Times New Roman"/>
              </a:rPr>
              <a:t>b</a:t>
            </a:r>
            <a:r>
              <a:rPr sz="2000" dirty="0" err="1">
                <a:cs typeface="Times New Roman"/>
              </a:rPr>
              <a:t>ytes</a:t>
            </a:r>
            <a:r>
              <a:rPr sz="2000" dirty="0">
                <a:cs typeface="Times New Roman"/>
              </a:rPr>
              <a:t> que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encuen</a:t>
            </a:r>
            <a:r>
              <a:rPr sz="2000" spc="5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ran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derecha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s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v</a:t>
            </a:r>
            <a:r>
              <a:rPr sz="2000" spc="-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66820"/>
              </p:ext>
            </p:extLst>
          </p:nvPr>
        </p:nvGraphicFramePr>
        <p:xfrm>
          <a:off x="1524000" y="2948019"/>
          <a:ext cx="6096000" cy="22208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58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ón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lang="es-ES"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Red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lang="es-ES"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ección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de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lang="es-ES"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b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oadcast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129. 10. 0. 0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1" dirty="0">
                          <a:highlight>
                            <a:srgbClr val="FFFF00"/>
                          </a:highlight>
                          <a:latin typeface="+mn-lt"/>
                          <a:cs typeface="Times New Roman"/>
                        </a:rPr>
                        <a:t>129.10</a:t>
                      </a:r>
                      <a:r>
                        <a:rPr lang="es-ES" sz="1800" dirty="0">
                          <a:latin typeface="+mn-lt"/>
                          <a:cs typeface="Times New Roman"/>
                        </a:rPr>
                        <a:t>.255.255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68. 0.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>
                          <a:highlight>
                            <a:srgbClr val="FFFF00"/>
                          </a:highlight>
                          <a:latin typeface="+mn-lt"/>
                          <a:cs typeface="Times New Roman"/>
                        </a:rPr>
                        <a:t>68</a:t>
                      </a:r>
                      <a:r>
                        <a:rPr lang="es-MX" sz="1800" b="1" dirty="0">
                          <a:latin typeface="+mn-lt"/>
                          <a:cs typeface="Times New Roman"/>
                        </a:rPr>
                        <a:t>. 255.</a:t>
                      </a:r>
                      <a:r>
                        <a:rPr lang="es-MX" sz="1800" b="1" spc="-5" dirty="0">
                          <a:latin typeface="+mn-lt"/>
                          <a:cs typeface="Times New Roman"/>
                        </a:rPr>
                        <a:t> 255</a:t>
                      </a:r>
                      <a:r>
                        <a:rPr lang="es-MX" sz="1800" b="1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lang="es-MX" sz="1800" b="1" spc="-5" dirty="0">
                          <a:latin typeface="+mn-lt"/>
                          <a:cs typeface="Times New Roman"/>
                        </a:rPr>
                        <a:t> 255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195.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79.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9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130. 0. 0. 0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221.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102CBEE-F02E-4957-B590-6BC6FD09D189}"/>
              </a:ext>
            </a:extLst>
          </p:cNvPr>
          <p:cNvSpPr/>
          <p:nvPr/>
        </p:nvSpPr>
        <p:spPr>
          <a:xfrm>
            <a:off x="1269940" y="5543130"/>
            <a:ext cx="76225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s-ES" b="1" spc="-5" dirty="0">
                <a:cs typeface="Times New Roman"/>
              </a:rPr>
              <a:t>NOTA: </a:t>
            </a:r>
            <a:r>
              <a:rPr lang="es-ES" spc="-5" dirty="0">
                <a:cs typeface="Times New Roman"/>
              </a:rPr>
              <a:t>Identificar el valor de la red o clase (los bits de reserva se copian)</a:t>
            </a:r>
            <a:endParaRPr lang="es-E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52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15 CuadroTexto"/>
          <p:cNvSpPr txBox="1">
            <a:spLocks noChangeArrowheads="1"/>
          </p:cNvSpPr>
          <p:nvPr/>
        </p:nvSpPr>
        <p:spPr bwMode="auto">
          <a:xfrm>
            <a:off x="683568" y="867449"/>
            <a:ext cx="5000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Direccionamiento IP v4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89756" y="-90607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Subnetting</a:t>
            </a:r>
          </a:p>
        </p:txBody>
      </p:sp>
      <p:sp>
        <p:nvSpPr>
          <p:cNvPr id="36" name="4 Rectángulo">
            <a:extLst>
              <a:ext uri="{FF2B5EF4-FFF2-40B4-BE49-F238E27FC236}">
                <a16:creationId xmlns:a16="http://schemas.microsoft.com/office/drawing/2014/main" id="{3C1F06FA-9F7D-4F63-AB8C-96B0AC0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237337"/>
            <a:ext cx="7775575" cy="421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La longitud de los campos varia dependiendo de la clase de la dirección IP.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4324925-7DAE-4F66-9D8F-1541F1F78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686599"/>
            <a:ext cx="4781550" cy="64770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BF7B074-237E-42ED-8269-6B8F3F75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167" y="3478081"/>
            <a:ext cx="5286375" cy="2724150"/>
          </a:xfrm>
          <a:prstGeom prst="rect">
            <a:avLst/>
          </a:prstGeom>
        </p:spPr>
      </p:pic>
      <p:sp>
        <p:nvSpPr>
          <p:cNvPr id="8" name="4 Rectángulo">
            <a:extLst>
              <a:ext uri="{FF2B5EF4-FFF2-40B4-BE49-F238E27FC236}">
                <a16:creationId xmlns:a16="http://schemas.microsoft.com/office/drawing/2014/main" id="{98AD5CE1-E8BF-44E3-9819-F86643C6B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6" y="2381119"/>
            <a:ext cx="7775575" cy="837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cs typeface="Arial" pitchFamily="34" charset="0"/>
              </a:rPr>
              <a:t>Direccionamiento IP con subnetting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Algunos bits son prestados del campo Host Id.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27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/>
      <p:bldP spid="36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72008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Subnetting</a:t>
            </a:r>
          </a:p>
        </p:txBody>
      </p:sp>
      <p:sp>
        <p:nvSpPr>
          <p:cNvPr id="36" name="4 Rectángulo">
            <a:extLst>
              <a:ext uri="{FF2B5EF4-FFF2-40B4-BE49-F238E27FC236}">
                <a16:creationId xmlns:a16="http://schemas.microsoft.com/office/drawing/2014/main" id="{3C1F06FA-9F7D-4F63-AB8C-96B0AC072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" y="1062935"/>
            <a:ext cx="7775575" cy="423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El número máximos de bits que pueden ser prestados es la longitud del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cs typeface="Arial" pitchFamily="34" charset="0"/>
              </a:rPr>
              <a:t>Host Id – 2.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1E66C7A-034B-45AC-90B9-CFF902DAA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628800"/>
            <a:ext cx="5381625" cy="933450"/>
          </a:xfrm>
          <a:prstGeom prst="rect">
            <a:avLst/>
          </a:prstGeom>
        </p:spPr>
      </p:pic>
      <p:graphicFrame>
        <p:nvGraphicFramePr>
          <p:cNvPr id="6" name="Tabla 8">
            <a:extLst>
              <a:ext uri="{FF2B5EF4-FFF2-40B4-BE49-F238E27FC236}">
                <a16:creationId xmlns:a16="http://schemas.microsoft.com/office/drawing/2014/main" id="{442DB166-B095-4495-8DB9-09B3CF83F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20343"/>
              </p:ext>
            </p:extLst>
          </p:nvPr>
        </p:nvGraphicFramePr>
        <p:xfrm>
          <a:off x="1403647" y="5517232"/>
          <a:ext cx="6336704" cy="75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3071">
                  <a:extLst>
                    <a:ext uri="{9D8B030D-6E8A-4147-A177-3AD203B41FA5}">
                      <a16:colId xmlns:a16="http://schemas.microsoft.com/office/drawing/2014/main" val="1735613308"/>
                    </a:ext>
                  </a:extLst>
                </a:gridCol>
                <a:gridCol w="769245">
                  <a:extLst>
                    <a:ext uri="{9D8B030D-6E8A-4147-A177-3AD203B41FA5}">
                      <a16:colId xmlns:a16="http://schemas.microsoft.com/office/drawing/2014/main" val="224069557"/>
                    </a:ext>
                  </a:extLst>
                </a:gridCol>
                <a:gridCol w="835609">
                  <a:extLst>
                    <a:ext uri="{9D8B030D-6E8A-4147-A177-3AD203B41FA5}">
                      <a16:colId xmlns:a16="http://schemas.microsoft.com/office/drawing/2014/main" val="1489629109"/>
                    </a:ext>
                  </a:extLst>
                </a:gridCol>
                <a:gridCol w="703879">
                  <a:extLst>
                    <a:ext uri="{9D8B030D-6E8A-4147-A177-3AD203B41FA5}">
                      <a16:colId xmlns:a16="http://schemas.microsoft.com/office/drawing/2014/main" val="3276910922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1738843321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1993986288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3290462947"/>
                    </a:ext>
                  </a:extLst>
                </a:gridCol>
                <a:gridCol w="833725">
                  <a:extLst>
                    <a:ext uri="{9D8B030D-6E8A-4147-A177-3AD203B41FA5}">
                      <a16:colId xmlns:a16="http://schemas.microsoft.com/office/drawing/2014/main" val="559978083"/>
                    </a:ext>
                  </a:extLst>
                </a:gridCol>
              </a:tblGrid>
              <a:tr h="38692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7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6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5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3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2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1</a:t>
                      </a:r>
                      <a:endParaRPr lang="es-MX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2</a:t>
                      </a:r>
                      <a:r>
                        <a:rPr lang="es-ES" baseline="30000" dirty="0"/>
                        <a:t>0</a:t>
                      </a:r>
                      <a:endParaRPr lang="es-MX" baseline="30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590927"/>
                  </a:ext>
                </a:extLst>
              </a:tr>
              <a:tr h="262244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128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32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16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913627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3FC69D47-150E-4F2E-830B-F426EFA99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737" y="2700474"/>
            <a:ext cx="45815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4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12" y="298106"/>
            <a:ext cx="822960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IP y prefijo de 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340" y="1423642"/>
            <a:ext cx="7844100" cy="44980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esque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subneteo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pref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jo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red 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sz="2000" spc="-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ero en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ero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cua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ucho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igual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</a:t>
            </a:r>
            <a:r>
              <a:rPr sz="2000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ación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alio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del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esque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 ut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ado</a:t>
            </a:r>
          </a:p>
          <a:p>
            <a:pPr marL="231902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 algn="just">
              <a:lnSpc>
                <a:spcPct val="150000"/>
              </a:lnSpc>
            </a:pP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ijo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dica</a:t>
            </a:r>
            <a:r>
              <a:rPr sz="200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posi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ión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2000" b="1" spc="-1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6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Crít</a:t>
            </a:r>
            <a:r>
              <a:rPr sz="20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sz="2000" b="1" spc="7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2000" b="1" spc="-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sz="2000" spc="7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Este</a:t>
            </a:r>
            <a:r>
              <a:rPr sz="2000" spc="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te nos 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inf</a:t>
            </a:r>
            <a:r>
              <a:rPr sz="2000" spc="-15"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spc="-15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2000" spc="5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ón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sz="2000" spc="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lc</a:t>
            </a:r>
            <a:r>
              <a:rPr sz="2000" spc="-20" dirty="0" err="1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 err="1">
                <a:latin typeface="Arial" panose="020B0604020202020204" pitchFamily="34" charset="0"/>
                <a:cs typeface="Arial" panose="020B0604020202020204" pitchFamily="34" charset="0"/>
              </a:rPr>
              <a:t>lar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00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des</a:t>
            </a:r>
            <a:r>
              <a:rPr sz="20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laza</a:t>
            </a:r>
            <a:r>
              <a:rPr sz="2000" b="1" spc="-20" dirty="0" err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iento</a:t>
            </a:r>
            <a:r>
              <a:rPr sz="2000" b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entre subredes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per</a:t>
            </a:r>
            <a:r>
              <a:rPr sz="2000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ite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nstr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ir</a:t>
            </a:r>
            <a:r>
              <a:rPr sz="2000" spc="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2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ásca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2000" b="1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sub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eto</a:t>
            </a:r>
            <a:r>
              <a:rPr sz="2000" spc="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sz="2000" spc="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000" spc="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5" dirty="0">
                <a:latin typeface="Arial" panose="020B0604020202020204" pitchFamily="34" charset="0"/>
                <a:cs typeface="Arial" panose="020B0604020202020204" pitchFamily="34" charset="0"/>
              </a:rPr>
              <a:t>da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infor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ac</a:t>
            </a:r>
            <a:r>
              <a:rPr sz="2000" spc="5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ón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nú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sz="2000" b="1" spc="-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sz="2000" b="1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its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se </a:t>
            </a:r>
            <a:r>
              <a:rPr sz="2000" spc="-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5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sz="2000" spc="-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il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zado </a:t>
            </a:r>
            <a:r>
              <a:rPr sz="2000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ra crear</a:t>
            </a:r>
            <a:r>
              <a:rPr sz="2000" b="1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subre</a:t>
            </a:r>
            <a:r>
              <a:rPr sz="2000" b="1" spc="-10" dirty="0" err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sz="2000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y,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sz="2000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consecue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ia,</a:t>
            </a:r>
            <a:r>
              <a:rPr sz="2000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sz="2000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nú</a:t>
            </a:r>
            <a:r>
              <a:rPr sz="2000" b="1" spc="-2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ero</a:t>
            </a:r>
            <a:r>
              <a:rPr sz="2000" b="1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2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  <a:r>
              <a:rPr sz="2000" b="1" spc="2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2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sec</a:t>
            </a:r>
            <a:r>
              <a:rPr sz="2000" b="1" spc="5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ión</a:t>
            </a:r>
            <a:r>
              <a:rPr sz="2000" b="1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b="1" dirty="0">
                <a:latin typeface="Arial" panose="020B0604020202020204" pitchFamily="34" charset="0"/>
                <a:cs typeface="Arial" panose="020B0604020202020204" pitchFamily="34" charset="0"/>
              </a:rPr>
              <a:t>hosts</a:t>
            </a: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226098"/>
            <a:ext cx="822960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Subredes y máscaras de </a:t>
            </a:r>
            <a:r>
              <a:rPr lang="es-ES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576" y="1124744"/>
            <a:ext cx="7653536" cy="17543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máscara de subred 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en notación punto decimal?</a:t>
            </a:r>
          </a:p>
          <a:p>
            <a:pPr marL="12700" marR="5080" algn="just">
              <a:lnSpc>
                <a:spcPct val="150000"/>
              </a:lnSpc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tabLst>
                <a:tab pos="4553585" algn="l"/>
              </a:tabLst>
            </a:pP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8A57D8-F061-44AE-9714-330402935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0" y="4119523"/>
            <a:ext cx="4051741" cy="223224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762E2C6-F53E-DB20-39B8-7C4D866D0524}"/>
              </a:ext>
            </a:extLst>
          </p:cNvPr>
          <p:cNvSpPr txBox="1"/>
          <p:nvPr/>
        </p:nvSpPr>
        <p:spPr>
          <a:xfrm>
            <a:off x="679448" y="3189531"/>
            <a:ext cx="7805791" cy="72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2000" b="1" dirty="0">
                <a:solidFill>
                  <a:srgbClr val="FF0000"/>
                </a:solidFill>
              </a:rPr>
              <a:t>Máscara de subred en binario</a:t>
            </a:r>
            <a:r>
              <a:rPr lang="es-ES" sz="2000" b="1">
                <a:solidFill>
                  <a:srgbClr val="FF0000"/>
                </a:solidFill>
              </a:rPr>
              <a:t>: 11111111.11111111.11111100.00000000</a:t>
            </a:r>
            <a:endParaRPr lang="es-ES" sz="2000" b="1" dirty="0">
              <a:solidFill>
                <a:srgbClr val="FF0000"/>
              </a:solidFill>
            </a:endParaRPr>
          </a:p>
          <a:p>
            <a:pPr algn="just">
              <a:lnSpc>
                <a:spcPts val="2500"/>
              </a:lnSpc>
            </a:pPr>
            <a:r>
              <a:rPr lang="es-ES" sz="2000" b="1" dirty="0">
                <a:solidFill>
                  <a:srgbClr val="FF0000"/>
                </a:solidFill>
              </a:rPr>
              <a:t>Máscara de subred en decimal : 255.255.252.0</a:t>
            </a:r>
            <a:endParaRPr lang="es-MX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27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504" y="332656"/>
            <a:ext cx="7797552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de subred</a:t>
            </a:r>
            <a:endParaRPr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8D5DE06-DEF8-4E6C-91D6-2A5C898AB193}"/>
              </a:ext>
            </a:extLst>
          </p:cNvPr>
          <p:cNvSpPr txBox="1"/>
          <p:nvPr/>
        </p:nvSpPr>
        <p:spPr>
          <a:xfrm>
            <a:off x="739452" y="1453961"/>
            <a:ext cx="7937004" cy="1254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dirección de subred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</a:t>
            </a:r>
            <a:r>
              <a:rPr lang="es-MX"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EF0549-B703-A39B-A5D3-28A9D1519B73}"/>
              </a:ext>
            </a:extLst>
          </p:cNvPr>
          <p:cNvSpPr txBox="1"/>
          <p:nvPr/>
        </p:nvSpPr>
        <p:spPr>
          <a:xfrm>
            <a:off x="649678" y="3573194"/>
            <a:ext cx="7992888" cy="179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endParaRPr lang="es-E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Dirección IPv4:            10.25.96.2           0001010. 00011001. 01100000. 00000010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Máscara de subred: 255.255.252.0       1111111. 11111111. 11111100. 00000000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                                   ---------------------    ----------------------------------------------------------</a:t>
            </a:r>
          </a:p>
          <a:p>
            <a:pPr algn="just">
              <a:lnSpc>
                <a:spcPts val="2500"/>
              </a:lnSpc>
            </a:pPr>
            <a:r>
              <a:rPr lang="es-ES" b="1" dirty="0"/>
              <a:t>Dirección de subred:   10.25.96.0          0001010. 00011001. 01100000. 00000000</a:t>
            </a:r>
          </a:p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endParaRPr lang="es-MX" dirty="0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975D76A2-3D27-80A5-D26B-F3B88B1E6718}"/>
              </a:ext>
            </a:extLst>
          </p:cNvPr>
          <p:cNvSpPr txBox="1"/>
          <p:nvPr/>
        </p:nvSpPr>
        <p:spPr>
          <a:xfrm>
            <a:off x="705562" y="3099783"/>
            <a:ext cx="746895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7470" algn="just">
              <a:lnSpc>
                <a:spcPct val="100000"/>
              </a:lnSpc>
              <a:spcBef>
                <a:spcPts val="1475"/>
              </a:spcBef>
            </a:pPr>
            <a:r>
              <a:rPr lang="es-ES" b="1" dirty="0">
                <a:solidFill>
                  <a:srgbClr val="FF0000"/>
                </a:solidFill>
                <a:cs typeface="Times New Roman"/>
              </a:rPr>
              <a:t>Dirección de subred: </a:t>
            </a:r>
            <a:r>
              <a:rPr lang="es-ES" dirty="0">
                <a:solidFill>
                  <a:srgbClr val="FF0000"/>
                </a:solidFill>
                <a:cs typeface="Times New Roman"/>
              </a:rPr>
              <a:t>Realizar un </a:t>
            </a:r>
            <a:r>
              <a:rPr lang="es-ES" b="1" dirty="0">
                <a:solidFill>
                  <a:srgbClr val="FF0000"/>
                </a:solidFill>
                <a:cs typeface="Times New Roman"/>
              </a:rPr>
              <a:t>and</a:t>
            </a:r>
            <a:r>
              <a:rPr lang="es-ES" dirty="0">
                <a:solidFill>
                  <a:srgbClr val="FF0000"/>
                </a:solidFill>
                <a:cs typeface="Times New Roman"/>
              </a:rPr>
              <a:t> binario entre la IP y la máscara de subred.</a:t>
            </a:r>
            <a:endParaRPr dirty="0">
              <a:solidFill>
                <a:srgbClr val="FF000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8720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12" y="298106"/>
            <a:ext cx="7776864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Dirección de broadcast de una </a:t>
            </a:r>
            <a:r>
              <a:rPr lang="es-ES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ed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8D5DE06-DEF8-4E6C-91D6-2A5C898AB193}"/>
              </a:ext>
            </a:extLst>
          </p:cNvPr>
          <p:cNvSpPr txBox="1"/>
          <p:nvPr/>
        </p:nvSpPr>
        <p:spPr>
          <a:xfrm>
            <a:off x="576229" y="1267030"/>
            <a:ext cx="7867510" cy="103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tabLst>
                <a:tab pos="4553585" algn="l"/>
              </a:tabLst>
            </a:pP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¿Qué tendrías que hacer para encontrar la </a:t>
            </a:r>
            <a:r>
              <a:rPr lang="es-ES" sz="2000" b="1" spc="-5" dirty="0">
                <a:latin typeface="Arial" panose="020B0604020202020204" pitchFamily="34" charset="0"/>
                <a:cs typeface="Arial" panose="020B0604020202020204" pitchFamily="34" charset="0"/>
              </a:rPr>
              <a:t>dirección de broadcast</a:t>
            </a:r>
            <a:r>
              <a:rPr lang="es-ES" sz="2000" spc="-5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MX"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MX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/</a:t>
            </a:r>
            <a:r>
              <a:rPr lang="es-MX"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B4948F-9B79-DCD0-7ABC-D58D168C43CA}"/>
              </a:ext>
            </a:extLst>
          </p:cNvPr>
          <p:cNvSpPr txBox="1"/>
          <p:nvPr/>
        </p:nvSpPr>
        <p:spPr>
          <a:xfrm>
            <a:off x="827584" y="4561212"/>
            <a:ext cx="5722250" cy="167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Byte crítico: </a:t>
            </a:r>
            <a:r>
              <a:rPr lang="es-ES" b="1" dirty="0"/>
              <a:t>255.255.</a:t>
            </a:r>
            <a:r>
              <a:rPr lang="es-ES" b="1" dirty="0">
                <a:solidFill>
                  <a:srgbClr val="FF0000"/>
                </a:solidFill>
              </a:rPr>
              <a:t>252</a:t>
            </a:r>
            <a:r>
              <a:rPr lang="es-ES" b="1" dirty="0"/>
              <a:t>.0      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Desplazamiento en el byte crítico: </a:t>
            </a:r>
            <a:r>
              <a:rPr lang="es-ES" b="1" dirty="0"/>
              <a:t>256</a:t>
            </a:r>
            <a:r>
              <a:rPr lang="es-ES" b="1" dirty="0">
                <a:solidFill>
                  <a:srgbClr val="FF0000"/>
                </a:solidFill>
              </a:rPr>
              <a:t> </a:t>
            </a:r>
            <a:r>
              <a:rPr lang="es-ES" b="1" dirty="0"/>
              <a:t>– 252 = </a:t>
            </a:r>
            <a:r>
              <a:rPr lang="es-ES" b="1" dirty="0">
                <a:solidFill>
                  <a:srgbClr val="FF0000"/>
                </a:solidFill>
              </a:rPr>
              <a:t>4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Dirección de subred:                      10. 25. 96. 0 </a:t>
            </a:r>
          </a:p>
          <a:p>
            <a:pPr algn="just">
              <a:lnSpc>
                <a:spcPts val="2500"/>
              </a:lnSpc>
            </a:pPr>
            <a:r>
              <a:rPr lang="es-ES" b="1" dirty="0"/>
              <a:t>Dirección de broadcast:  </a:t>
            </a:r>
            <a:r>
              <a:rPr lang="es-ES" b="1" dirty="0">
                <a:highlight>
                  <a:srgbClr val="FFFF00"/>
                </a:highlight>
              </a:rPr>
              <a:t>10. 25</a:t>
            </a:r>
            <a:r>
              <a:rPr lang="es-ES" b="1" dirty="0"/>
              <a:t>. </a:t>
            </a:r>
            <a:r>
              <a:rPr lang="es-ES" b="1" dirty="0">
                <a:highlight>
                  <a:srgbClr val="00FFFF"/>
                </a:highlight>
              </a:rPr>
              <a:t>96 + 3</a:t>
            </a:r>
            <a:r>
              <a:rPr lang="es-ES" b="1" dirty="0"/>
              <a:t>. </a:t>
            </a:r>
            <a:r>
              <a:rPr lang="es-ES" b="1" dirty="0">
                <a:highlight>
                  <a:srgbClr val="00FF00"/>
                </a:highlight>
              </a:rPr>
              <a:t>255</a:t>
            </a:r>
          </a:p>
          <a:p>
            <a:pPr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8F9924F-393E-0FBA-E921-4BCC01A7DF4D}"/>
              </a:ext>
            </a:extLst>
          </p:cNvPr>
          <p:cNvSpPr txBox="1"/>
          <p:nvPr/>
        </p:nvSpPr>
        <p:spPr>
          <a:xfrm>
            <a:off x="574450" y="2625965"/>
            <a:ext cx="8229600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77470" algn="just">
              <a:lnSpc>
                <a:spcPct val="100000"/>
              </a:lnSpc>
              <a:spcBef>
                <a:spcPts val="1475"/>
              </a:spcBef>
            </a:pPr>
            <a:r>
              <a:rPr lang="es-ES" b="1" dirty="0">
                <a:solidFill>
                  <a:srgbClr val="FF0000"/>
                </a:solidFill>
                <a:cs typeface="Times New Roman"/>
              </a:rPr>
              <a:t>Dirección de broadcast: </a:t>
            </a:r>
          </a:p>
          <a:p>
            <a:pPr marL="355600" marR="7747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FFFF00"/>
                </a:highlight>
                <a:cs typeface="Times New Roman"/>
              </a:rPr>
              <a:t>Los valores a la izquierda del </a:t>
            </a:r>
            <a:r>
              <a:rPr lang="es-ES" b="1" dirty="0">
                <a:highlight>
                  <a:srgbClr val="FFFF00"/>
                </a:highlight>
                <a:cs typeface="Times New Roman"/>
              </a:rPr>
              <a:t>byte crítico </a:t>
            </a:r>
            <a:r>
              <a:rPr lang="es-ES" dirty="0">
                <a:highlight>
                  <a:srgbClr val="FFFF00"/>
                </a:highlight>
                <a:cs typeface="Times New Roman"/>
              </a:rPr>
              <a:t>no cambian. </a:t>
            </a:r>
          </a:p>
          <a:p>
            <a:pPr marL="355600" marR="77470" indent="-342900" algn="just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00FFFF"/>
                </a:highlight>
                <a:cs typeface="Times New Roman"/>
              </a:rPr>
              <a:t>Al byte crítico le corresponde el </a:t>
            </a:r>
            <a:r>
              <a:rPr lang="es-ES" b="1" dirty="0">
                <a:highlight>
                  <a:srgbClr val="00FFFF"/>
                </a:highlight>
                <a:cs typeface="Times New Roman"/>
              </a:rPr>
              <a:t>valor inicial del byte crítico +</a:t>
            </a:r>
            <a:r>
              <a:rPr lang="es-ES" dirty="0">
                <a:highlight>
                  <a:srgbClr val="00FFFF"/>
                </a:highlight>
                <a:cs typeface="Times New Roman"/>
              </a:rPr>
              <a:t> (</a:t>
            </a:r>
            <a:r>
              <a:rPr lang="es-ES" b="1" dirty="0">
                <a:highlight>
                  <a:srgbClr val="00FFFF"/>
                </a:highlight>
                <a:cs typeface="Times New Roman"/>
              </a:rPr>
              <a:t>desplazamiento – 1)</a:t>
            </a:r>
          </a:p>
          <a:p>
            <a:pPr marL="355600" marR="7747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dirty="0">
                <a:highlight>
                  <a:srgbClr val="00FF00"/>
                </a:highlight>
                <a:cs typeface="Times New Roman"/>
              </a:rPr>
              <a:t>Todo lo que se encuentre a la derecha del byte crítico le corresponde el valor numérico de </a:t>
            </a:r>
            <a:r>
              <a:rPr lang="es-ES" b="1" dirty="0">
                <a:highlight>
                  <a:srgbClr val="00FF00"/>
                </a:highlight>
                <a:cs typeface="Times New Roman"/>
              </a:rPr>
              <a:t>255</a:t>
            </a:r>
            <a:r>
              <a:rPr lang="es-ES" dirty="0">
                <a:highlight>
                  <a:srgbClr val="00FF00"/>
                </a:highlight>
                <a:cs typeface="Times New Roman"/>
              </a:rPr>
              <a:t>. </a:t>
            </a:r>
            <a:endParaRPr dirty="0">
              <a:highlight>
                <a:srgbClr val="00FFFF"/>
              </a:highlight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492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0040" y="1268760"/>
            <a:ext cx="8388424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dirty="0">
                <a:cs typeface="Times New Roman"/>
              </a:rPr>
              <a:t>Con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base </a:t>
            </a:r>
            <a:r>
              <a:rPr sz="2000" spc="114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formación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10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IP </a:t>
            </a:r>
            <a:r>
              <a:rPr sz="2000" spc="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y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el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pre</a:t>
            </a:r>
            <a:r>
              <a:rPr sz="2000" spc="-15" dirty="0">
                <a:cs typeface="Times New Roman"/>
              </a:rPr>
              <a:t>f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j</a:t>
            </a:r>
            <a:r>
              <a:rPr sz="2000" dirty="0">
                <a:cs typeface="Times New Roman"/>
              </a:rPr>
              <a:t>o </a:t>
            </a:r>
            <a:r>
              <a:rPr sz="2000" spc="11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red, determine</a:t>
            </a:r>
            <a:r>
              <a:rPr sz="2000" spc="-2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-20" dirty="0">
                <a:cs typeface="Times New Roman"/>
              </a:rPr>
              <a:t>m</a:t>
            </a:r>
            <a:r>
              <a:rPr lang="es-ES" sz="2000" spc="-20" dirty="0">
                <a:cs typeface="Times New Roman"/>
              </a:rPr>
              <a:t>á</a:t>
            </a:r>
            <a:r>
              <a:rPr sz="2000" dirty="0">
                <a:cs typeface="Times New Roman"/>
              </a:rPr>
              <a:t>sc</a:t>
            </a:r>
            <a:r>
              <a:rPr sz="2000" spc="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r</a:t>
            </a:r>
            <a:r>
              <a:rPr lang="es-ES" sz="2000" dirty="0">
                <a:cs typeface="Times New Roman"/>
              </a:rPr>
              <a:t>a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subre</a:t>
            </a:r>
            <a:r>
              <a:rPr sz="2000" spc="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094404"/>
              </p:ext>
            </p:extLst>
          </p:nvPr>
        </p:nvGraphicFramePr>
        <p:xfrm>
          <a:off x="179512" y="2218089"/>
          <a:ext cx="5328592" cy="29481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9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545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sz="2400" b="1" spc="-13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/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p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ef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jo </a:t>
                      </a:r>
                      <a:r>
                        <a:rPr sz="2400" b="1" spc="-5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Máscara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de sub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761489" algn="l"/>
                          <a:tab pos="1998345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135. 21. 0. 0	/	19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+mn-lt"/>
                          <a:cs typeface="Times New Roman"/>
                        </a:rPr>
                        <a:t>255.255.1110 0000.0</a:t>
                      </a:r>
                      <a:endParaRPr lang="es-ES" sz="2000" dirty="0">
                        <a:latin typeface="+mn-lt"/>
                        <a:cs typeface="Times New Roman"/>
                      </a:endParaRPr>
                    </a:p>
                    <a:p>
                      <a:pPr algn="ctr"/>
                      <a:r>
                        <a:rPr lang="es-ES" sz="2000" dirty="0">
                          <a:latin typeface="+mn-lt"/>
                          <a:cs typeface="Times New Roman"/>
                        </a:rPr>
                        <a:t>255.255.224.0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304290" algn="l"/>
                          <a:tab pos="15405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1. 0. 0. 0	/	26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608455" algn="l"/>
                          <a:tab pos="1844675" algn="l"/>
                        </a:tabLst>
                      </a:pPr>
                      <a:r>
                        <a:rPr sz="2400" spc="-5" dirty="0">
                          <a:latin typeface="+mn-lt"/>
                          <a:cs typeface="Times New Roman"/>
                        </a:rPr>
                        <a:t>145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0	/	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22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456690" algn="l"/>
                          <a:tab pos="16929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10. 0. 0. 0	/	13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421923F-0621-4DC4-B128-DCFD643E555F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10798"/>
            <a:ext cx="8676456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Máscaras de subred</a:t>
            </a:r>
            <a:endParaRPr lang="es-ES_tradnl" sz="2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465F33-5440-454B-B705-93ED42C6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31" y="2188164"/>
            <a:ext cx="3596178" cy="198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930</Words>
  <Application>Microsoft Office PowerPoint</Application>
  <PresentationFormat>Presentación en pantalla (4:3)</PresentationFormat>
  <Paragraphs>155</Paragraphs>
  <Slides>16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Arial</vt:lpstr>
      <vt:lpstr>Calibri</vt:lpstr>
      <vt:lpstr>Dom Casual</vt:lpstr>
      <vt:lpstr>Times New Roman</vt:lpstr>
      <vt:lpstr>ZapfHumnst BT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Direcciones de broadcast</vt:lpstr>
      <vt:lpstr>Presentación de PowerPoint</vt:lpstr>
      <vt:lpstr>Presentación de PowerPoint</vt:lpstr>
      <vt:lpstr>Dirección IP y prefijo de red</vt:lpstr>
      <vt:lpstr>Subredes y máscaras de subred</vt:lpstr>
      <vt:lpstr>Dirección de subred</vt:lpstr>
      <vt:lpstr>Dirección de broadcast de una subred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152</cp:revision>
  <dcterms:created xsi:type="dcterms:W3CDTF">2013-06-11T22:32:36Z</dcterms:created>
  <dcterms:modified xsi:type="dcterms:W3CDTF">2026-03-23T19:30:02Z</dcterms:modified>
</cp:coreProperties>
</file>