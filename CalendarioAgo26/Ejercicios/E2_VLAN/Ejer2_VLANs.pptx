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54" r:id="rId2"/>
    <p:sldId id="259" r:id="rId3"/>
    <p:sldId id="359" r:id="rId4"/>
    <p:sldId id="261" r:id="rId5"/>
    <p:sldId id="360" r:id="rId6"/>
    <p:sldId id="357" r:id="rId7"/>
    <p:sldId id="340" r:id="rId8"/>
    <p:sldId id="342" r:id="rId9"/>
    <p:sldId id="347" r:id="rId10"/>
    <p:sldId id="353" r:id="rId11"/>
    <p:sldId id="350" r:id="rId12"/>
    <p:sldId id="356" r:id="rId13"/>
    <p:sldId id="351" r:id="rId14"/>
  </p:sldIdLst>
  <p:sldSz cx="12192000" cy="6858000"/>
  <p:notesSz cx="9296400" cy="7010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79"/>
    <a:srgbClr val="A647D1"/>
    <a:srgbClr val="83E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40" autoAdjust="0"/>
  </p:normalViewPr>
  <p:slideViewPr>
    <p:cSldViewPr>
      <p:cViewPr varScale="1">
        <p:scale>
          <a:sx n="69" d="100"/>
          <a:sy n="69" d="100"/>
        </p:scale>
        <p:origin x="46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9-23T23:56:28.667" v="178" actId="6549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9-23T23:56:28.667" v="178" actId="6549"/>
        <pc:sldMkLst>
          <pc:docMk/>
          <pc:sldMk cId="0" sldId="261"/>
        </pc:sldMkLst>
        <pc:spChg chg="mod">
          <ac:chgData name="Lizethe Pérez Fuertes" userId="4ae9ef87-2a7d-42f8-8dfa-0a501a9e2ff4" providerId="ADAL" clId="{FDDD45CB-1330-4033-A842-3D2746AFF7C7}" dt="2026-09-23T23:56:28.667" v="178" actId="6549"/>
          <ac:spMkLst>
            <pc:docMk/>
            <pc:sldMk cId="0" sldId="26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43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6430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s-MX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15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3908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63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425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4724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4374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6169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85489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157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3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2984" y="257556"/>
            <a:ext cx="11681460" cy="6307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23/09/2026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2919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55399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4308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23/09/2026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22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4438" y="827024"/>
            <a:ext cx="518312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7272" y="2393823"/>
            <a:ext cx="9617455" cy="214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33400"/>
            <a:ext cx="7342584" cy="1470025"/>
          </a:xfrm>
        </p:spPr>
        <p:txBody>
          <a:bodyPr rtlCol="0">
            <a:normAutofit/>
          </a:bodyPr>
          <a:lstStyle/>
          <a:p>
            <a:pPr algn="l">
              <a:defRPr/>
            </a:pP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b="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2106612"/>
            <a:ext cx="7848600" cy="900137"/>
          </a:xfrm>
        </p:spPr>
        <p:txBody>
          <a:bodyPr rtlCol="0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Ejercicio 2: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VLANs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, rutas estáticas y por default</a:t>
            </a:r>
          </a:p>
          <a:p>
            <a:pPr>
              <a:spcAft>
                <a:spcPts val="60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4BFC986-6D54-472C-AD54-15826305B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544" y="3093460"/>
            <a:ext cx="2808312" cy="332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287269" y="1432011"/>
            <a:ext cx="9617455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pc="-20" dirty="0"/>
              <a:t>Nu</a:t>
            </a:r>
            <a:r>
              <a:rPr spc="-5" dirty="0"/>
              <a:t>e</a:t>
            </a:r>
            <a:r>
              <a:rPr spc="-55" dirty="0"/>
              <a:t>s</a:t>
            </a:r>
            <a:r>
              <a:rPr spc="-10" dirty="0"/>
              <a:t>t</a:t>
            </a:r>
            <a:r>
              <a:rPr spc="-65" dirty="0"/>
              <a:t>r</a:t>
            </a:r>
            <a:r>
              <a:rPr spc="-15" dirty="0"/>
              <a:t>o</a:t>
            </a:r>
            <a:r>
              <a:rPr spc="175" dirty="0"/>
              <a:t> </a:t>
            </a:r>
            <a:r>
              <a:rPr spc="-50" dirty="0"/>
              <a:t>r</a:t>
            </a:r>
            <a:r>
              <a:rPr spc="-25" dirty="0"/>
              <a:t>e</a:t>
            </a:r>
            <a:r>
              <a:rPr spc="-35" dirty="0"/>
              <a:t>t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15" dirty="0"/>
              <a:t>el</a:t>
            </a:r>
            <a:r>
              <a:rPr spc="165" dirty="0"/>
              <a:t> </a:t>
            </a:r>
            <a:r>
              <a:rPr spc="-20" dirty="0"/>
              <a:t>dí</a:t>
            </a:r>
            <a:r>
              <a:rPr spc="-15" dirty="0"/>
              <a:t>a</a:t>
            </a:r>
            <a:r>
              <a:rPr spc="17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75" dirty="0"/>
              <a:t> </a:t>
            </a:r>
            <a:r>
              <a:rPr spc="-20" dirty="0"/>
              <a:t>h</a:t>
            </a:r>
            <a:r>
              <a:rPr spc="-30" dirty="0"/>
              <a:t>o</a:t>
            </a:r>
            <a:r>
              <a:rPr spc="-15" dirty="0"/>
              <a:t>y</a:t>
            </a:r>
            <a:r>
              <a:rPr spc="165" dirty="0"/>
              <a:t> </a:t>
            </a:r>
            <a:r>
              <a:rPr spc="-15" dirty="0"/>
              <a:t>es</a:t>
            </a:r>
            <a:r>
              <a:rPr spc="165" dirty="0"/>
              <a:t> </a:t>
            </a:r>
            <a:r>
              <a:rPr spc="-10" dirty="0"/>
              <a:t>t</a:t>
            </a:r>
            <a:r>
              <a:rPr spc="-75" dirty="0"/>
              <a:t>r</a:t>
            </a:r>
            <a:r>
              <a:rPr spc="-15" dirty="0"/>
              <a:t>abajar</a:t>
            </a:r>
            <a:r>
              <a:rPr spc="175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80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175" dirty="0"/>
              <a:t> </a:t>
            </a:r>
            <a:r>
              <a:rPr spc="-20" dirty="0"/>
              <a:t>diseñ</a:t>
            </a:r>
            <a:r>
              <a:rPr spc="-15" dirty="0"/>
              <a:t>o</a:t>
            </a:r>
            <a:r>
              <a:rPr spc="185" dirty="0"/>
              <a:t> </a:t>
            </a:r>
            <a:r>
              <a:rPr spc="-15" dirty="0"/>
              <a:t>fí</a:t>
            </a:r>
            <a:r>
              <a:rPr spc="-25" dirty="0"/>
              <a:t>s</a:t>
            </a:r>
            <a:r>
              <a:rPr spc="-10" dirty="0"/>
              <a:t>i</a:t>
            </a:r>
            <a:r>
              <a:rPr spc="-40" dirty="0"/>
              <a:t>c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80" dirty="0"/>
              <a:t> </a:t>
            </a:r>
            <a:r>
              <a:rPr spc="-50" dirty="0"/>
              <a:t>r</a:t>
            </a:r>
            <a:r>
              <a:rPr spc="-15" dirty="0"/>
              <a:t>ed en</a:t>
            </a:r>
            <a:r>
              <a:rPr dirty="0"/>
              <a:t> </a:t>
            </a:r>
            <a:r>
              <a:rPr spc="-35" dirty="0"/>
              <a:t> </a:t>
            </a:r>
            <a:r>
              <a:rPr b="1" spc="-65" dirty="0">
                <a:latin typeface="Calibri"/>
                <a:cs typeface="Calibri"/>
              </a:rPr>
              <a:t>P</a:t>
            </a:r>
            <a:r>
              <a:rPr b="1" spc="-15" dirty="0">
                <a:latin typeface="Calibri"/>
                <a:cs typeface="Calibri"/>
              </a:rPr>
              <a:t>a</a:t>
            </a:r>
            <a:r>
              <a:rPr b="1" spc="-10" dirty="0">
                <a:latin typeface="Calibri"/>
                <a:cs typeface="Calibri"/>
              </a:rPr>
              <a:t>c</a:t>
            </a:r>
            <a:r>
              <a:rPr b="1" spc="-75" dirty="0">
                <a:latin typeface="Calibri"/>
                <a:cs typeface="Calibri"/>
              </a:rPr>
              <a:t>k</a:t>
            </a:r>
            <a:r>
              <a:rPr b="1" spc="-4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t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65" dirty="0">
                <a:latin typeface="Calibri"/>
                <a:cs typeface="Calibri"/>
              </a:rPr>
              <a:t>T</a:t>
            </a:r>
            <a:r>
              <a:rPr b="1" spc="-60" dirty="0">
                <a:latin typeface="Calibri"/>
                <a:cs typeface="Calibri"/>
              </a:rPr>
              <a:t>r</a:t>
            </a:r>
            <a:r>
              <a:rPr b="1" spc="-15" dirty="0">
                <a:latin typeface="Calibri"/>
                <a:cs typeface="Calibri"/>
              </a:rPr>
              <a:t>ac</a:t>
            </a:r>
            <a:r>
              <a:rPr b="1" spc="-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r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spc="-15" dirty="0"/>
              <a:t>y</a:t>
            </a:r>
            <a:r>
              <a:rPr dirty="0"/>
              <a:t> </a:t>
            </a:r>
            <a:r>
              <a:rPr spc="-25" dirty="0"/>
              <a:t> </a:t>
            </a:r>
            <a:r>
              <a:rPr spc="-50" dirty="0"/>
              <a:t>r</a:t>
            </a:r>
            <a:r>
              <a:rPr spc="-15" dirty="0"/>
              <a:t>eal</a:t>
            </a:r>
            <a:r>
              <a:rPr spc="-25" dirty="0"/>
              <a:t>i</a:t>
            </a:r>
            <a:r>
              <a:rPr spc="-65" dirty="0"/>
              <a:t>z</a:t>
            </a:r>
            <a:r>
              <a:rPr spc="-15" dirty="0"/>
              <a:t>ar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dirty="0"/>
              <a:t> </a:t>
            </a:r>
            <a:r>
              <a:rPr spc="-40" dirty="0"/>
              <a:t> </a:t>
            </a:r>
            <a:r>
              <a:rPr spc="-20" dirty="0"/>
              <a:t>p</a:t>
            </a:r>
            <a:r>
              <a:rPr spc="-55" dirty="0"/>
              <a:t>r</a:t>
            </a:r>
            <a:r>
              <a:rPr spc="-20" dirty="0"/>
              <a:t>og</a:t>
            </a:r>
            <a:r>
              <a:rPr spc="-70" dirty="0"/>
              <a:t>r</a:t>
            </a:r>
            <a:r>
              <a:rPr spc="-20" dirty="0"/>
              <a:t>ama</a:t>
            </a:r>
            <a:r>
              <a:rPr spc="-5" dirty="0"/>
              <a:t>c</a:t>
            </a:r>
            <a:r>
              <a:rPr spc="-15" dirty="0"/>
              <a:t>ión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los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eq</a:t>
            </a:r>
            <a:r>
              <a:rPr spc="-5" dirty="0"/>
              <a:t>u</a:t>
            </a:r>
            <a:r>
              <a:rPr spc="-10" dirty="0"/>
              <a:t>i</a:t>
            </a:r>
            <a:r>
              <a:rPr spc="-30" dirty="0"/>
              <a:t>p</a:t>
            </a:r>
            <a:r>
              <a:rPr spc="-5" dirty="0"/>
              <a:t>o</a:t>
            </a:r>
            <a:r>
              <a:rPr spc="-15" dirty="0"/>
              <a:t>s</a:t>
            </a:r>
            <a:r>
              <a:rPr dirty="0"/>
              <a:t> </a:t>
            </a:r>
            <a:r>
              <a:rPr spc="-15" dirty="0"/>
              <a:t> </a:t>
            </a:r>
            <a:r>
              <a:rPr spc="-20" dirty="0"/>
              <a:t>de</a:t>
            </a:r>
            <a:r>
              <a:rPr spc="-15" dirty="0"/>
              <a:t> </a:t>
            </a:r>
            <a:r>
              <a:rPr lang="es-MX" spc="-10" dirty="0"/>
              <a:t>i</a:t>
            </a:r>
            <a:r>
              <a:rPr lang="es-MX" spc="-55" dirty="0"/>
              <a:t>n</a:t>
            </a:r>
            <a:r>
              <a:rPr lang="es-MX" spc="-35" dirty="0"/>
              <a:t>t</a:t>
            </a:r>
            <a:r>
              <a:rPr lang="es-MX" spc="-15" dirty="0"/>
              <a:t>e</a:t>
            </a:r>
            <a:r>
              <a:rPr lang="es-MX" spc="-50" dirty="0"/>
              <a:t>r</a:t>
            </a:r>
            <a:r>
              <a:rPr lang="es-MX" spc="-35" dirty="0"/>
              <a:t>c</a:t>
            </a:r>
            <a:r>
              <a:rPr lang="es-MX" spc="-20" dirty="0"/>
              <a:t>on</a:t>
            </a:r>
            <a:r>
              <a:rPr lang="es-MX" spc="-65" dirty="0"/>
              <a:t>e</a:t>
            </a:r>
            <a:r>
              <a:rPr lang="es-MX" spc="-5" dirty="0"/>
              <a:t>x</a:t>
            </a:r>
            <a:r>
              <a:rPr lang="es-MX" spc="-15" dirty="0"/>
              <a:t>ión</a:t>
            </a:r>
            <a:r>
              <a:rPr lang="es-ES" spc="-15" dirty="0"/>
              <a:t>,</a:t>
            </a:r>
            <a:r>
              <a:rPr dirty="0"/>
              <a:t> </a:t>
            </a:r>
            <a:r>
              <a:rPr lang="es-ES" spc="-15" dirty="0">
                <a:latin typeface="Calibri"/>
                <a:cs typeface="Calibri"/>
              </a:rPr>
              <a:t>la configuración de </a:t>
            </a:r>
            <a:r>
              <a:rPr lang="es-ES" b="1" spc="-15" dirty="0">
                <a:latin typeface="Calibri"/>
                <a:cs typeface="Calibri"/>
              </a:rPr>
              <a:t>VLANs</a:t>
            </a:r>
            <a:r>
              <a:rPr lang="es-ES" spc="-15" dirty="0">
                <a:latin typeface="Calibri"/>
                <a:cs typeface="Calibri"/>
              </a:rPr>
              <a:t>,</a:t>
            </a:r>
            <a:r>
              <a:rPr lang="es-ES" b="1" spc="-15" dirty="0">
                <a:latin typeface="Calibri"/>
                <a:cs typeface="Calibri"/>
              </a:rPr>
              <a:t> rutas estáticas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lang="es-ES" spc="-10" dirty="0">
                <a:latin typeface="Calibri"/>
                <a:cs typeface="Calibri"/>
              </a:rPr>
              <a:t>y una </a:t>
            </a:r>
            <a:r>
              <a:rPr lang="es-ES" b="1" spc="-10" dirty="0">
                <a:latin typeface="Calibri"/>
                <a:cs typeface="Calibri"/>
              </a:rPr>
              <a:t>ruta por default </a:t>
            </a:r>
            <a:r>
              <a:rPr spc="-20" dirty="0"/>
              <a:t>pa</a:t>
            </a:r>
            <a:r>
              <a:rPr spc="-75" dirty="0"/>
              <a:t>r</a:t>
            </a:r>
            <a:r>
              <a:rPr spc="-15" dirty="0"/>
              <a:t>a</a:t>
            </a:r>
            <a:r>
              <a:rPr spc="130" dirty="0"/>
              <a:t> </a:t>
            </a:r>
            <a:r>
              <a:rPr spc="-15" dirty="0"/>
              <a:t>log</a:t>
            </a:r>
            <a:r>
              <a:rPr spc="-80" dirty="0"/>
              <a:t>r</a:t>
            </a:r>
            <a:r>
              <a:rPr spc="-15" dirty="0"/>
              <a:t>ar</a:t>
            </a:r>
            <a:r>
              <a:rPr spc="11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35" dirty="0" err="1"/>
              <a:t>c</a:t>
            </a:r>
            <a:r>
              <a:rPr spc="-20" dirty="0" err="1"/>
              <a:t>onectivid</a:t>
            </a:r>
            <a:r>
              <a:rPr spc="-5" dirty="0" err="1"/>
              <a:t>a</a:t>
            </a:r>
            <a:r>
              <a:rPr spc="-15" dirty="0" err="1"/>
              <a:t>d</a:t>
            </a:r>
            <a:r>
              <a:rPr spc="12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lang="es-ES" spc="-15" dirty="0"/>
              <a:t>l</a:t>
            </a:r>
            <a:r>
              <a:rPr spc="114" dirty="0"/>
              <a:t> </a:t>
            </a:r>
            <a:r>
              <a:rPr spc="-15" dirty="0" err="1"/>
              <a:t>e</a:t>
            </a:r>
            <a:r>
              <a:rPr spc="-10" dirty="0" err="1"/>
              <a:t>s</a:t>
            </a:r>
            <a:r>
              <a:rPr spc="-20" dirty="0" err="1"/>
              <a:t>paci</a:t>
            </a:r>
            <a:r>
              <a:rPr spc="-15" dirty="0" err="1"/>
              <a:t>o</a:t>
            </a:r>
            <a:r>
              <a:rPr lang="es-ES" spc="-15" dirty="0"/>
              <a:t> de trabajo de la compañía </a:t>
            </a:r>
            <a:r>
              <a:rPr lang="es-ES" b="1" spc="-15" dirty="0"/>
              <a:t>“Pisos y más”</a:t>
            </a:r>
            <a:r>
              <a:rPr b="1" spc="120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2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50" dirty="0"/>
              <a:t>r</a:t>
            </a:r>
            <a:r>
              <a:rPr spc="-15" dirty="0"/>
              <a:t>ed</a:t>
            </a:r>
            <a:r>
              <a:rPr spc="-10" dirty="0"/>
              <a:t> I</a:t>
            </a:r>
            <a:r>
              <a:rPr spc="-45" dirty="0"/>
              <a:t>n</a:t>
            </a:r>
            <a:r>
              <a:rPr spc="-35" dirty="0"/>
              <a:t>t</a:t>
            </a:r>
            <a:r>
              <a:rPr spc="-15" dirty="0"/>
              <a:t>ern</a:t>
            </a:r>
            <a:r>
              <a:rPr spc="-40" dirty="0"/>
              <a:t>e</a:t>
            </a:r>
            <a:r>
              <a:rPr spc="-10" dirty="0"/>
              <a:t>t</a:t>
            </a:r>
            <a:r>
              <a:rPr dirty="0"/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477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25" dirty="0">
                <a:solidFill>
                  <a:schemeClr val="accent4">
                    <a:lumMod val="50000"/>
                  </a:schemeClr>
                </a:solidFill>
              </a:rPr>
              <a:t>Cas</a:t>
            </a:r>
            <a:r>
              <a:rPr spc="-20" dirty="0">
                <a:solidFill>
                  <a:schemeClr val="accent4">
                    <a:lumMod val="50000"/>
                  </a:schemeClr>
                </a:solidFill>
              </a:rPr>
              <a:t>o</a:t>
            </a:r>
            <a:r>
              <a:rPr spc="5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ES" spc="5" dirty="0">
                <a:solidFill>
                  <a:schemeClr val="accent4">
                    <a:lumMod val="50000"/>
                  </a:schemeClr>
                </a:solidFill>
              </a:rPr>
              <a:t>“Pisos y más”</a:t>
            </a:r>
            <a:endParaRPr spc="-2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Imagen 4" descr="Una captura de pantalla de un celular con la imagen de un videojuego&#10;&#10;Descripción generada automáticamente con confianza baja">
            <a:extLst>
              <a:ext uri="{FF2B5EF4-FFF2-40B4-BE49-F238E27FC236}">
                <a16:creationId xmlns:a16="http://schemas.microsoft.com/office/drawing/2014/main" id="{0DF0B658-8BDF-4311-A02B-6133152272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124" y="3886200"/>
            <a:ext cx="31496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2800" y="304800"/>
            <a:ext cx="51644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b="1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Cas</a:t>
            </a:r>
            <a:r>
              <a:rPr sz="3200" b="1" spc="-20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o</a:t>
            </a:r>
            <a:r>
              <a:rPr sz="3200" b="1" spc="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s-ES" sz="3200" b="1" spc="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“Pisos y más”</a:t>
            </a:r>
            <a:endParaRPr sz="3200" dirty="0">
              <a:solidFill>
                <a:schemeClr val="accent4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9ACC14-B20F-41D2-2826-EA29782D6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35" y="1142681"/>
            <a:ext cx="9707330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6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FC6379E-F626-E267-F18F-E661604B9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205" y="2957677"/>
            <a:ext cx="7256376" cy="341811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74240" y="990600"/>
            <a:ext cx="10453817" cy="196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  <a:spcAft>
                <a:spcPts val="600"/>
              </a:spcAf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Debemo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eali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dis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ñ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bas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tri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qu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5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ablecidas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cli</a:t>
            </a:r>
            <a:r>
              <a:rPr lang="es-MX" sz="1600" spc="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spc="-2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MX" sz="1600" spc="-3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spc="-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500"/>
              </a:lnSpc>
              <a:buFont typeface="+mj-lt"/>
              <a:buAutoNum type="arabicPeriod"/>
              <a:tabLst>
                <a:tab pos="311150" algn="l"/>
                <a:tab pos="2332038" algn="l"/>
              </a:tabLst>
            </a:pPr>
            <a:r>
              <a:rPr lang="es-MX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MX"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utili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ar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VL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500"/>
              </a:lnSpc>
              <a:buFont typeface="+mj-lt"/>
              <a:buAutoNum type="arabicPeriod"/>
              <a:tabLst>
                <a:tab pos="311785" algn="l"/>
              </a:tabLst>
            </a:pPr>
            <a:r>
              <a:rPr lang="es-MX" sz="1600" spc="-20" noProof="1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MX" sz="1600" spc="-10" noProof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noProof="1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 err="1">
                <a:latin typeface="Arial" panose="020B0604020202020204" pitchFamily="34" charset="0"/>
                <a:cs typeface="Arial" panose="020B0604020202020204" pitchFamily="34" charset="0"/>
              </a:rPr>
              <a:t>utili</a:t>
            </a:r>
            <a:r>
              <a:rPr sz="1600" spc="-3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spc="-10" dirty="0" err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spc="-10" dirty="0">
                <a:latin typeface="Arial" panose="020B0604020202020204" pitchFamily="34" charset="0"/>
                <a:cs typeface="Arial" panose="020B0604020202020204" pitchFamily="34" charset="0"/>
              </a:rPr>
              <a:t>cuatro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VLAN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1600" spc="-5">
                <a:latin typeface="Arial" panose="020B0604020202020204" pitchFamily="34" charset="0"/>
                <a:cs typeface="Arial" panose="020B0604020202020204" pitchFamily="34" charset="0"/>
              </a:rPr>
              <a:t>Gestion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 y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vice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</a:p>
          <a:p>
            <a:pPr marL="469900" marR="6350" indent="-457200">
              <a:lnSpc>
                <a:spcPts val="25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MX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Configurar</a:t>
            </a:r>
            <a:r>
              <a:rPr lang="es-MX" sz="1600" spc="9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</a:t>
            </a:r>
            <a:r>
              <a:rPr lang="es-MX" sz="1600" spc="9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 99</a:t>
            </a:r>
            <a:r>
              <a:rPr lang="es-MX" sz="1600" b="1" spc="2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los switches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SCompany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SEste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MX" sz="1600" b="1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SOeste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el</a:t>
            </a:r>
            <a:r>
              <a:rPr lang="es-MX" sz="16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</a:t>
            </a:r>
            <a:r>
              <a:rPr lang="es-MX" sz="1600" b="1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Gateway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69900" marR="6350" indent="-457200" algn="just">
              <a:lnSpc>
                <a:spcPts val="25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3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spc="-5" dirty="0">
                <a:latin typeface="Arial" panose="020B0604020202020204" pitchFamily="34" charset="0"/>
                <a:cs typeface="Arial" panose="020B0604020202020204" pitchFamily="34" charset="0"/>
              </a:rPr>
              <a:t>onec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5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lang="es-ES" sz="1600" spc="-3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s-ES" sz="1600" spc="1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vicios</a:t>
            </a:r>
            <a:r>
              <a:rPr lang="es-ES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1600" spc="-3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spc="-3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net. Para interconectar la red local con el proveedor de servicios es necesario instalar una </a:t>
            </a:r>
            <a:r>
              <a:rPr lang="es-ES"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ruta por default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439E7-051A-49D7-BFD6-237A56112EE4}"/>
              </a:ext>
            </a:extLst>
          </p:cNvPr>
          <p:cNvSpPr txBox="1">
            <a:spLocks noChangeArrowheads="1"/>
          </p:cNvSpPr>
          <p:nvPr/>
        </p:nvSpPr>
        <p:spPr>
          <a:xfrm>
            <a:off x="874240" y="49427"/>
            <a:ext cx="10443519" cy="941173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Restricciones y consideraciones del cliente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026A3C0-BBC9-7922-EBF1-D395E490E45F}"/>
              </a:ext>
            </a:extLst>
          </p:cNvPr>
          <p:cNvSpPr txBox="1"/>
          <p:nvPr/>
        </p:nvSpPr>
        <p:spPr>
          <a:xfrm>
            <a:off x="863943" y="2957677"/>
            <a:ext cx="3276600" cy="1569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6350" indent="-457200">
              <a:lnSpc>
                <a:spcPts val="2500"/>
              </a:lnSpc>
              <a:buFont typeface="+mj-lt"/>
              <a:buAutoNum type="arabicPeriod" startAt="5"/>
              <a:tabLst>
                <a:tab pos="31496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Debemos configurar rutas estáticas en el </a:t>
            </a:r>
            <a:r>
              <a:rPr lang="es-ES"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 para que se pueda conectar con la red local.</a:t>
            </a:r>
          </a:p>
          <a:p>
            <a:pPr marL="469900" marR="6350" indent="-457200">
              <a:lnSpc>
                <a:spcPts val="2500"/>
              </a:lnSpc>
              <a:buFont typeface="+mj-lt"/>
              <a:buAutoNum type="arabicPeriod" startAt="5"/>
              <a:tabLst>
                <a:tab pos="314960" algn="l"/>
              </a:tabLst>
            </a:pPr>
            <a:r>
              <a:rPr lang="es-MX" sz="1600" spc="-50" noProof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1600" spc="-15" noProof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s-MX" sz="1600" noProof="1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lang="es-MX" sz="1600" spc="-40" noProof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MX" sz="1600" spc="-10" noProof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pru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3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onectivida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esar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267440"/>
            <a:ext cx="8077200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MX" sz="3200" b="1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Subneteo con máscaras de longitud variable </a:t>
            </a:r>
            <a:r>
              <a:rPr lang="es-MX" sz="2000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(VLSM)</a:t>
            </a:r>
            <a:endParaRPr sz="2000" dirty="0">
              <a:solidFill>
                <a:schemeClr val="accent4">
                  <a:lumMod val="50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EF5B48-9283-3FB1-AEA0-33B024D5E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18669"/>
              </p:ext>
            </p:extLst>
          </p:nvPr>
        </p:nvGraphicFramePr>
        <p:xfrm>
          <a:off x="952500" y="2057400"/>
          <a:ext cx="10325101" cy="350348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23716">
                  <a:extLst>
                    <a:ext uri="{9D8B030D-6E8A-4147-A177-3AD203B41FA5}">
                      <a16:colId xmlns:a16="http://schemas.microsoft.com/office/drawing/2014/main" val="3793059946"/>
                    </a:ext>
                  </a:extLst>
                </a:gridCol>
                <a:gridCol w="643132">
                  <a:extLst>
                    <a:ext uri="{9D8B030D-6E8A-4147-A177-3AD203B41FA5}">
                      <a16:colId xmlns:a16="http://schemas.microsoft.com/office/drawing/2014/main" val="170422774"/>
                    </a:ext>
                  </a:extLst>
                </a:gridCol>
                <a:gridCol w="962995">
                  <a:extLst>
                    <a:ext uri="{9D8B030D-6E8A-4147-A177-3AD203B41FA5}">
                      <a16:colId xmlns:a16="http://schemas.microsoft.com/office/drawing/2014/main" val="1522839865"/>
                    </a:ext>
                  </a:extLst>
                </a:gridCol>
                <a:gridCol w="1223716">
                  <a:extLst>
                    <a:ext uri="{9D8B030D-6E8A-4147-A177-3AD203B41FA5}">
                      <a16:colId xmlns:a16="http://schemas.microsoft.com/office/drawing/2014/main" val="2260089691"/>
                    </a:ext>
                  </a:extLst>
                </a:gridCol>
                <a:gridCol w="2065020">
                  <a:extLst>
                    <a:ext uri="{9D8B030D-6E8A-4147-A177-3AD203B41FA5}">
                      <a16:colId xmlns:a16="http://schemas.microsoft.com/office/drawing/2014/main" val="1473716125"/>
                    </a:ext>
                  </a:extLst>
                </a:gridCol>
                <a:gridCol w="2217985">
                  <a:extLst>
                    <a:ext uri="{9D8B030D-6E8A-4147-A177-3AD203B41FA5}">
                      <a16:colId xmlns:a16="http://schemas.microsoft.com/office/drawing/2014/main" val="3483025210"/>
                    </a:ext>
                  </a:extLst>
                </a:gridCol>
                <a:gridCol w="1988537">
                  <a:extLst>
                    <a:ext uri="{9D8B030D-6E8A-4147-A177-3AD203B41FA5}">
                      <a16:colId xmlns:a16="http://schemas.microsoft.com/office/drawing/2014/main" val="1341946690"/>
                    </a:ext>
                  </a:extLst>
                </a:gridCol>
              </a:tblGrid>
              <a:tr h="710947"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VLAN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 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Máscara</a:t>
                      </a: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</a:t>
                      </a:r>
                      <a:r>
                        <a:rPr lang="es-MX" sz="1400" spc="1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Prefijo de red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146183"/>
                  </a:ext>
                </a:extLst>
              </a:tr>
              <a:tr h="694473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211505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419246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975503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Gestión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203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6B97F3-F57D-B769-EF0F-C237FC9EDF3B}"/>
              </a:ext>
            </a:extLst>
          </p:cNvPr>
          <p:cNvSpPr txBox="1"/>
          <p:nvPr/>
        </p:nvSpPr>
        <p:spPr>
          <a:xfrm>
            <a:off x="921608" y="1297114"/>
            <a:ext cx="3323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Dirección de red: </a:t>
            </a:r>
            <a:r>
              <a:rPr lang="es-MX" b="1" dirty="0"/>
              <a:t>192.168.1.0 /24</a:t>
            </a:r>
          </a:p>
        </p:txBody>
      </p:sp>
    </p:spTree>
    <p:extLst>
      <p:ext uri="{BB962C8B-B14F-4D97-AF65-F5344CB8AC3E}">
        <p14:creationId xmlns:p14="http://schemas.microsoft.com/office/powerpoint/2010/main" val="139263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200" y="326195"/>
            <a:ext cx="601122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</a:t>
            </a:r>
            <a:r>
              <a:rPr lang="es-ES" sz="3200" b="1" spc="-25" dirty="0" err="1">
                <a:latin typeface="Calibri"/>
                <a:cs typeface="Calibri"/>
              </a:rPr>
              <a:t>VLANs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593"/>
            <a:ext cx="10820400" cy="416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Tenemos tres subredes asociadas con las </a:t>
            </a:r>
            <a:r>
              <a:rPr lang="es-ES_tradnl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 10, 20 y 30</a:t>
            </a: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MX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68B18C-95B2-BE80-B022-C11E3DD95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48" y="1556902"/>
            <a:ext cx="9707330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6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EB36242-E63B-7C10-7453-E6C4FED0A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371" y="1713412"/>
            <a:ext cx="6885029" cy="3243193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90600"/>
            <a:ext cx="10820400" cy="74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son redes virtuales que permiten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segmentar el tráfico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tener distintos dominios de broadcast en una misma interface del router, con el uso de las subinterfaces. </a:t>
            </a:r>
            <a:endParaRPr lang="es-MX" sz="15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7 CuadroTexto">
            <a:extLst>
              <a:ext uri="{FF2B5EF4-FFF2-40B4-BE49-F238E27FC236}">
                <a16:creationId xmlns:a16="http://schemas.microsoft.com/office/drawing/2014/main" id="{38E0D603-2C5E-46E8-85CD-52C2F196B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460" y="1829802"/>
            <a:ext cx="4536490" cy="408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El definir subinterfaces en el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implica que la interface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recibe peticiones de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10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20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30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_tradnl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Las subinterfaces se definen con la interface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se le concatena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subinteface asociada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con la vlan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g0/0.10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El protocolo de encapsulamiento debe incluir el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id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de la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 vlan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dirección IP de la subinterface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va a ser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última dirección IP válida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de la subred o bloque.</a:t>
            </a:r>
            <a:endParaRPr lang="es-MX" sz="15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0FF2611-1ED3-4786-87DA-8B97BDD6D4E8}"/>
              </a:ext>
            </a:extLst>
          </p:cNvPr>
          <p:cNvSpPr/>
          <p:nvPr/>
        </p:nvSpPr>
        <p:spPr>
          <a:xfrm>
            <a:off x="9982200" y="5233564"/>
            <a:ext cx="1600200" cy="5048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99: Gestión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192.168.1.152 /29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646E0FB-7123-46AC-A020-B0A72B7A742A}"/>
              </a:ext>
            </a:extLst>
          </p:cNvPr>
          <p:cNvSpPr/>
          <p:nvPr/>
        </p:nvSpPr>
        <p:spPr>
          <a:xfrm>
            <a:off x="4808459" y="5238319"/>
            <a:ext cx="1600200" cy="504807"/>
          </a:xfrm>
          <a:prstGeom prst="roundRect">
            <a:avLst/>
          </a:prstGeom>
          <a:solidFill>
            <a:srgbClr val="83E9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10: Manager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192.168.1.128 /28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EA805EE-8667-4E41-9C93-A92AA57345F0}"/>
              </a:ext>
            </a:extLst>
          </p:cNvPr>
          <p:cNvSpPr/>
          <p:nvPr/>
        </p:nvSpPr>
        <p:spPr>
          <a:xfrm>
            <a:off x="8270969" y="5233564"/>
            <a:ext cx="1600200" cy="504807"/>
          </a:xfrm>
          <a:prstGeom prst="roundRect">
            <a:avLst/>
          </a:prstGeom>
          <a:solidFill>
            <a:srgbClr val="A647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</a:rPr>
              <a:t>VLAN 30: Services</a:t>
            </a:r>
          </a:p>
          <a:p>
            <a:pPr algn="ctr"/>
            <a:r>
              <a:rPr lang="es-ES" sz="1200" b="1" dirty="0">
                <a:solidFill>
                  <a:schemeClr val="bg1"/>
                </a:solidFill>
              </a:rPr>
              <a:t>192.168.1.144 /29</a:t>
            </a:r>
            <a:endParaRPr lang="es-MX" sz="1200" b="1" dirty="0">
              <a:solidFill>
                <a:schemeClr val="bg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8C57497-126C-4137-A1FF-E5303A262B69}"/>
              </a:ext>
            </a:extLst>
          </p:cNvPr>
          <p:cNvSpPr/>
          <p:nvPr/>
        </p:nvSpPr>
        <p:spPr>
          <a:xfrm>
            <a:off x="6539714" y="5238318"/>
            <a:ext cx="1600200" cy="504807"/>
          </a:xfrm>
          <a:prstGeom prst="roundRect">
            <a:avLst/>
          </a:prstGeom>
          <a:solidFill>
            <a:srgbClr val="FBFB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20: Users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192.168.1.0 /25</a:t>
            </a:r>
            <a:endParaRPr lang="es-MX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68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82264"/>
            <a:ext cx="10591800" cy="3857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Comandos para el Router</a:t>
            </a: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Sección para crear las subinterfaces asociadas a cada VLAN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g0/0.VID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encapsulation  dot1q  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ip add  DirIP  Msk</a:t>
            </a:r>
          </a:p>
          <a:p>
            <a:pPr>
              <a:lnSpc>
                <a:spcPct val="150000"/>
              </a:lnSpc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Hay que levantar todas las subinterfaces (lógicas). Si levanto la interfaz física se levantan todas las subinterfaces.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6910A5E-3570-A45A-7F70-649DCA3C68F3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126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54668"/>
            <a:ext cx="9448800" cy="167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Pasos para configurar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Crear la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base de datos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Asignar los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del switch a la VLAN correspondiente.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Definir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(puerto por el que va a salir el tráfico de las distintas VLANs). 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4E578D-7BAF-4681-BF75-AC5FE3AD8971}"/>
              </a:ext>
            </a:extLst>
          </p:cNvPr>
          <p:cNvSpPr txBox="1"/>
          <p:nvPr/>
        </p:nvSpPr>
        <p:spPr>
          <a:xfrm>
            <a:off x="834271" y="2923903"/>
            <a:ext cx="83820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Las subredes y los puertos del switch han sido divididos de la siguiente forma:</a:t>
            </a:r>
            <a:endParaRPr lang="es-ES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967D43-4562-4C9A-BFA7-1485C888EFE6}"/>
              </a:ext>
            </a:extLst>
          </p:cNvPr>
          <p:cNvSpPr txBox="1"/>
          <p:nvPr/>
        </p:nvSpPr>
        <p:spPr>
          <a:xfrm>
            <a:off x="829558" y="5703332"/>
            <a:ext cx="612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vlan 1 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que es la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nativa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está creada siempre por default.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s-MX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5DA73BA-9C18-4089-BD14-C3684A905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116132"/>
              </p:ext>
            </p:extLst>
          </p:nvPr>
        </p:nvGraphicFramePr>
        <p:xfrm>
          <a:off x="952499" y="3630221"/>
          <a:ext cx="8610601" cy="182276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477293">
                  <a:extLst>
                    <a:ext uri="{9D8B030D-6E8A-4147-A177-3AD203B41FA5}">
                      <a16:colId xmlns:a16="http://schemas.microsoft.com/office/drawing/2014/main" val="3615906484"/>
                    </a:ext>
                  </a:extLst>
                </a:gridCol>
                <a:gridCol w="885544">
                  <a:extLst>
                    <a:ext uri="{9D8B030D-6E8A-4147-A177-3AD203B41FA5}">
                      <a16:colId xmlns:a16="http://schemas.microsoft.com/office/drawing/2014/main" val="56571631"/>
                    </a:ext>
                  </a:extLst>
                </a:gridCol>
                <a:gridCol w="1790064">
                  <a:extLst>
                    <a:ext uri="{9D8B030D-6E8A-4147-A177-3AD203B41FA5}">
                      <a16:colId xmlns:a16="http://schemas.microsoft.com/office/drawing/2014/main" val="1977572645"/>
                    </a:ext>
                  </a:extLst>
                </a:gridCol>
                <a:gridCol w="2125237">
                  <a:extLst>
                    <a:ext uri="{9D8B030D-6E8A-4147-A177-3AD203B41FA5}">
                      <a16:colId xmlns:a16="http://schemas.microsoft.com/office/drawing/2014/main" val="912248757"/>
                    </a:ext>
                  </a:extLst>
                </a:gridCol>
                <a:gridCol w="2332463">
                  <a:extLst>
                    <a:ext uri="{9D8B030D-6E8A-4147-A177-3AD203B41FA5}">
                      <a16:colId xmlns:a16="http://schemas.microsoft.com/office/drawing/2014/main" val="445826148"/>
                    </a:ext>
                  </a:extLst>
                </a:gridCol>
              </a:tblGrid>
              <a:tr h="369886"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VLAN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Puertos</a:t>
                      </a:r>
                      <a:r>
                        <a:rPr lang="es-MX" sz="1400" spc="1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asignados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 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Máscara</a:t>
                      </a: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</a:t>
                      </a:r>
                      <a:r>
                        <a:rPr lang="es-MX" sz="1400" spc="1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102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F0/2-6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077248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F0/7-19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31252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F0/20-24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192.168.1.144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322335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Gestión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aplica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192.168.1.152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255.255.255.248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639124"/>
                  </a:ext>
                </a:extLst>
              </a:tr>
            </a:tbl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971A254D-C5FF-A9A5-062C-50421163077C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Switch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56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3772" y="381000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 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Comandos para el Switch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7 CuadroTexto">
            <a:extLst>
              <a:ext uri="{FF2B5EF4-FFF2-40B4-BE49-F238E27FC236}">
                <a16:creationId xmlns:a16="http://schemas.microsoft.com/office/drawing/2014/main" id="{6003FC0E-25B6-447D-86B1-50C83DB3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64602"/>
            <a:ext cx="6248400" cy="344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Creación de las VLANs con nombre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NombreVLAN-asociadaVID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exit</a:t>
            </a:r>
          </a:p>
          <a:p>
            <a:pPr>
              <a:lnSpc>
                <a:spcPct val="150000"/>
              </a:lnSpc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Asignación de los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cada VLAN  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access vlan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7588CF2B-42DE-4476-B511-687DB7E19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488205"/>
            <a:ext cx="3810000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Definición del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trunk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18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7800" y="-7620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por default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99F20F-671A-41D1-8D5A-1D575E79056A}"/>
              </a:ext>
            </a:extLst>
          </p:cNvPr>
          <p:cNvSpPr txBox="1"/>
          <p:nvPr/>
        </p:nvSpPr>
        <p:spPr>
          <a:xfrm>
            <a:off x="228600" y="914400"/>
            <a:ext cx="11201400" cy="2047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la IP de la interface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s0/0/1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requiere configurar un protocolo de ruteo, el ruteador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está configurado para trabajar como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 on stick 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(una sola interfaz física se encarga de enrutar los paquetes de varias VLANs). Solamente de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bemos saber cómo el tráfico interno va a salir al exterior.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stablecer una</a:t>
            </a:r>
            <a:r>
              <a:rPr lang="es-ES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ruta por default 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se encargue de sacar el tráfico a Internet. </a:t>
            </a:r>
            <a:endParaRPr lang="es-ES_tradnl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EB6DB2-BC53-41ED-8E85-70CA00123834}"/>
              </a:ext>
            </a:extLst>
          </p:cNvPr>
          <p:cNvSpPr txBox="1"/>
          <p:nvPr/>
        </p:nvSpPr>
        <p:spPr>
          <a:xfrm>
            <a:off x="647700" y="3006141"/>
            <a:ext cx="3810000" cy="343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Cuando definimos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nuestra interface de salida (s0/0/1) 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tenemos una</a:t>
            </a:r>
            <a:r>
              <a:rPr lang="es-E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directamente conectada</a:t>
            </a:r>
            <a:endParaRPr lang="es-MX" sz="1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utilizamos la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dirección IP del siguiente router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tenemos una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recursiva. </a:t>
            </a:r>
            <a:endParaRPr lang="es-MX" sz="1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concatenamos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interface de salida de nuestro router y la IP del siguiente router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tenemos una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completamente conectada</a:t>
            </a:r>
            <a:r>
              <a:rPr lang="es-E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ES_tradnl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4FCED27-44F7-B5DD-C6C3-C64F6325F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3011756"/>
            <a:ext cx="6880058" cy="324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78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7800" y="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estáticas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99F20F-671A-41D1-8D5A-1D575E79056A}"/>
              </a:ext>
            </a:extLst>
          </p:cNvPr>
          <p:cNvSpPr txBox="1"/>
          <p:nvPr/>
        </p:nvSpPr>
        <p:spPr>
          <a:xfrm>
            <a:off x="838200" y="1219200"/>
            <a:ext cx="112014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en el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las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rutas estáticas 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necesarias para conectar el tráfico de Internet con la red local.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3488BB-D304-3D81-6175-3B157E2EC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8800"/>
            <a:ext cx="9707330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7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685800" y="914400"/>
            <a:ext cx="10591800" cy="244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ts val="25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interna:</a:t>
            </a:r>
          </a:p>
          <a:p>
            <a:pPr marL="719138" lvl="1" indent="-273050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 entre dispositivos que pertenecen a la misma VLAN.</a:t>
            </a:r>
          </a:p>
          <a:p>
            <a:pPr marL="719138" lvl="1" indent="-273050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 entre dispositivos que pertenecen a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distintas (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interconexión entre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hacia el exterior (servidor CNN).</a:t>
            </a: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por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telnet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servidor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hacia todas las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los switches. </a:t>
            </a: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por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servidor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hacia el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ServerLocal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0" y="76200"/>
            <a:ext cx="8892480" cy="8382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Pruebas de conectividad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E173F4-1444-0676-E450-1ED71E4A7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429000"/>
            <a:ext cx="6781800" cy="319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5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4861</TotalTime>
  <Words>858</Words>
  <Application>Microsoft Office PowerPoint</Application>
  <PresentationFormat>Panorámica</PresentationFormat>
  <Paragraphs>131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Dom Casual</vt:lpstr>
      <vt:lpstr>Symbol</vt:lpstr>
      <vt:lpstr>Office Theme</vt:lpstr>
      <vt:lpstr>TC 3003B  Redes de área amplia</vt:lpstr>
      <vt:lpstr>Caso “Pisos y más”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José Oscar Hernández Pérez</dc:creator>
  <cp:lastModifiedBy>Lizethe Pérez Fuertes</cp:lastModifiedBy>
  <cp:revision>106</cp:revision>
  <cp:lastPrinted>2023-11-21T15:56:19Z</cp:lastPrinted>
  <dcterms:created xsi:type="dcterms:W3CDTF">2021-02-01T12:33:05Z</dcterms:created>
  <dcterms:modified xsi:type="dcterms:W3CDTF">2026-09-23T23:56:34Z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2020-11-04T00:00:00Z</vt:filetime>
  </property>
  <property fmtid="{D5CDD505-2E9C-101B-9397-08002B2CF9AE}" pid="3" name="LastSaved">
    <vt:filetime>2021-02-01T00:00:00Z</vt:filetime>
  </property>
</Properties>
</file>